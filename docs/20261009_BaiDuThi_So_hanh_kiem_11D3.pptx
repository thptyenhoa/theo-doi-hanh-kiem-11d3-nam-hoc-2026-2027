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Giới thiệu bài dự thi, tác giả và sản phẩm trong một câu.</a:t>
            </a:r>
          </a:p>
          <a:p/>
          <a:p>
            <a:r>
              <a:t>TRÌNH BÀY</a:t>
            </a:r>
          </a:p>
          <a:p>
            <a:r>
              <a:t>• Kính thưa ban tổ chức, tôi là Nguyễn Thị Thu Thảo, giáo viên chủ nhiệm lớp 11D3, Trường THPT Yên Hòa.</a:t>
            </a:r>
          </a:p>
          <a:p>
            <a:r>
              <a:t>• Sản phẩm dự thi là Sổ theo dõi học sinh: ứng dụng kết nối giáo viên, học sinh và phụ huynh. Giai đoạn đầu, ứng dụng dùng để theo dõi, đánh giá hạnh kiểm và nề nếp học sinh, đang thí điểm tại lớp 11D3: lớp ghi điểm hằng ngày, ứng dụng tự tính xếp loại và báo kịp thời cho phụ huynh.</a:t>
            </a:r>
          </a:p>
          <a:p>
            <a:r>
              <a:t>• Sản phẩm thuộc các chủ đề: quản lý học sinh, kiểm tra đánh giá và ứng dụng AI có trách nhiệm.</a:t>
            </a:r>
          </a:p>
          <a:p>
            <a:r>
              <a:t>• Nhân vật hoạt hình bên phải là hình ảnh cô Thảo dạng 3D do AI tạo, xuất hiện trong ứng dụng để hướng dẫn người dùng.</a:t>
            </a:r>
          </a:p>
          <a:p/>
          <a:p>
            <a:r>
              <a:t>CHUYỂN Ý</a:t>
            </a:r>
          </a:p>
          <a:p>
            <a:r>
              <a:t>Bài trình bày gồm 5 phần, đi từ vấn đề thực tế đến giải pháp và hướng mở rộng.</a:t>
            </a:r>
          </a:p>
          <a:p/>
          <a:p>
            <a:r>
              <a:t>════════</a:t>
            </a:r>
          </a:p>
          <a:p>
            <a:r>
              <a:t>BỘ ẢNH CỦA DECK (tạo cùng một phiên Gemini, dán STYLE vào mọi prompt)</a:t>
            </a:r>
          </a:p>
          <a:p/>
          <a:p>
            <a:r>
              <a:t>STYLE:</a:t>
            </a:r>
          </a:p>
          <a:p>
            <a:r>
              <a:t>cute 3D chibi character render in the same style as the attached reference mascot (soft clay-like Pixar style, big head, glossy eyes, rounded shapes); matte materials with accents of teal #0F766E, #2A9D8F and warm orange #F4A261; soft studio light, gentle contact shadows; plain very light grey #F7F8FA background; generous negative space; strong contrast so it stays clear on a projector; no text, no letters, no numbers, no logos, no watermark</a:t>
            </a:r>
          </a:p>
          <a:p/>
          <a:p>
            <a:r>
              <a:t>ẢNH 01 · 3:4 · slide 3 · Đính kèm 1 ảnh cô Thảo 3D (mascot/chu-nhiem/goc.webp) làm ảnh tham chiếu nhân vật. The 3D chibi female teacher</a:t>
            </a:r>
          </a:p>
          <a:p>
            <a:r>
              <a:t>ẢNH 02 · 4:3 · slide 8 · Đính kèm 1 ảnh cô Thảo 3D (mascot/chu-nhiem/goc.webp) làm ảnh tham chiếu nhân vật. A cheerful 3D chibi Vietnam</a:t>
            </a:r>
          </a:p>
          <a:p>
            <a:r>
              <a:t>ẢNH 03 · 3:4 · slide 18 · Đính kèm 1 ảnh cô Thảo 3D (mascot/chu-nhiem/goc.webp) làm ảnh tham chiếu nhân vật. A warm 3D chibi scene showi</a:t>
            </a:r>
          </a:p>
          <a:p>
            <a:r>
              <a:t>ẢNH 04 · 3:4 · slide 20 · Đính kèm 1 ảnh cô Thảo 3D (mascot/chu-nhiem/goc.webp) làm ảnh tham chiếu nhân vật. A hopeful 3D chibi scene of</a:t>
            </a:r>
          </a:p>
          <a:p>
            <a:r>
              <a:t>ẢNH 05 · 3:4 · slide 21 · Đính kèm 1 ảnh cô Thảo 3D (mascot/chu-nhiem/goc.webp) làm ảnh tham chiếu nhân vật. The 3D chibi female teacher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Cho người nghe thấy mạch trình bày.</a:t>
            </a:r>
          </a:p>
          <a:p/>
          <a:p>
            <a:r>
              <a:t>TRÌNH BÀY</a:t>
            </a:r>
          </a:p>
          <a:p>
            <a:r>
              <a:t>• Phần một nêu tầm quan trọng của lưu trữ, tra cứu thông tin, thực trạng kết nối với phụ huynh và khó khăn của cách làm cũ.</a:t>
            </a:r>
          </a:p>
          <a:p>
            <a:r>
              <a:t>• Phần hai giải thích ứng dụng được tạo ra thế nào và ai sử dụng. Phần ba giới thiệu các chức năng chính bằng ảnh chụp thật.</a:t>
            </a:r>
          </a:p>
          <a:p>
            <a:r>
              <a:t>• Phần bốn so sánh hiệu quả và mời trải nghiệm. Phần năm là hướng mở rộng thành sổ liên lạc điện tử, nguyên tắc bảo vệ dữ liệu cá nhân, kèm mã QR.</a:t>
            </a:r>
          </a:p>
          <a:p/>
          <a:p>
            <a:r>
              <a:t>CHUYỂN Ý</a:t>
            </a:r>
          </a:p>
          <a:p>
            <a:r>
              <a:t>Trước hết, xin nói về tầm quan trọng của việc lưu trữ và tra cứu thông tin học sinh.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Nêu tầm quan trọng của việc lưu trữ và tra cứu thông tin học sinh.</a:t>
            </a:r>
          </a:p>
          <a:p/>
          <a:p>
            <a:r>
              <a:t>TRÌNH BÀY</a:t>
            </a:r>
          </a:p>
          <a:p>
            <a:r>
              <a:t>• Công tác chủ nhiệm dựa rất nhiều vào thông tin: mỗi lần học sinh được khen hay bị nhắc nhở đều là một phần hồ sơ rèn luyện của em.</a:t>
            </a:r>
          </a:p>
          <a:p>
            <a:r>
              <a:t>• Khi cần trao đổi với học sinh, phụ huynh hay nhà trường, giáo viên phải tìm lại được ngay: việc gì, ngày nào, ai ghi.</a:t>
            </a:r>
          </a:p>
          <a:p>
            <a:r>
              <a:t>• Xếp loại hạnh kiểm và báo cáo định kỳ cũng phải dựa trên số liệu rõ ràng, có bằng chứng.</a:t>
            </a:r>
          </a:p>
          <a:p>
            <a:r>
              <a:t>• Nhưng với sổ giấy và các file rời rạc, việc tìm lại một sự việc cũ mất nhiều thời gian và dễ sót.</a:t>
            </a:r>
          </a:p>
          <a:p/>
          <a:p>
            <a:r>
              <a:t>CHUYỂN Ý</a:t>
            </a:r>
          </a:p>
          <a:p>
            <a:r>
              <a:t>Không chỉ lưu trữ, việc kết nối với phụ huynh cũng còn nhiều khoảng trống.</a:t>
            </a:r>
          </a:p>
          <a:p/>
          <a:p>
            <a:r>
              <a:t>────────</a:t>
            </a:r>
          </a:p>
          <a:p>
            <a:r>
              <a:t>ẢNH 01 · 3:4</a:t>
            </a:r>
          </a:p>
          <a:p>
            <a:r>
              <a:t>Cách chèn: bấm biểu tượng ảnh trong khung, hoặc chuột phải vào khung &gt; Change Picture.</a:t>
            </a:r>
          </a:p>
          <a:p/>
          <a:p>
            <a:r>
              <a:t>PROMPT GEMINI (copy nguyên văn):</a:t>
            </a:r>
          </a:p>
          <a:p>
            <a:r>
              <a:t>Đính kèm 1 ảnh cô Thảo 3D (mascot/chu-nhiem/goc.webp) làm ảnh tham chiếu nhân vật. The 3D chibi female teacher with round black glasses and black vest sitting at a desk buried under tall stacks of paper notebooks and scattered folders, searching through them with a magnifying glass and a puzzled face; on the corner of the desk a single tidy tablet glows softly with neatly organised abstract cards; vertical composition.</a:t>
            </a:r>
          </a:p>
          <a:p/>
          <a:p>
            <a:r>
              <a:t>STYLE (giữ nguyên cho mọi ảnh của deck):</a:t>
            </a:r>
          </a:p>
          <a:p>
            <a:r>
              <a:t>cute 3D chibi character render in the same style as the attached reference mascot (soft clay-like Pixar style, big head, glossy eyes, rounded shapes); matte materials with accents of teal #0F766E, #2A9D8F and warm orange #F4A261; soft studio light, gentle contact shadows; plain very light grey #F7F8FA background; generous negative space; strong contrast so it stays clear on a projector; no text, no letters, no numbers, no logos, no watermark</a:t>
            </a:r>
          </a:p>
          <a:p/>
          <a:p>
            <a:r>
              <a:t>Aspect ratio 3:4.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Nêu thực trạng kết nối giữa nhà trường và phụ huynh.</a:t>
            </a:r>
          </a:p>
          <a:p/>
          <a:p>
            <a:r>
              <a:t>TRÌNH BÀY</a:t>
            </a:r>
          </a:p>
          <a:p>
            <a:r>
              <a:t>• Trong một năm học, phụ huynh thường chỉ nắm thông tin của con qua vài buổi họp: họp phụ huynh đầu năm, cuối học kỳ I, cuối năm; cùng các buổi Ban giám hiệu làm việc với Ban đại diện cha mẹ học sinh.</a:t>
            </a:r>
          </a:p>
          <a:p>
            <a:r>
              <a:t>• Giữa các buổi họp là những khoảng trống thông tin kéo dài nhiều tuần, nhiều tháng.</a:t>
            </a:r>
          </a:p>
          <a:p>
            <a:r>
              <a:t>• Thông tin đi qua nhiều tầng nên dễ thiếu, dễ hiểu sai; gia đình biết muộn nên khó phối hợp với nhà trường đúng lúc.</a:t>
            </a:r>
          </a:p>
          <a:p/>
          <a:p>
            <a:r>
              <a:t>LẬP LUẬN</a:t>
            </a:r>
          </a:p>
          <a:p>
            <a:r>
              <a:t>Đây là thực tế phổ biến ở các trường; mốc thời gian chỉ mang tính minh hoạ, mỗi trường có lịch họp riêng.</a:t>
            </a:r>
          </a:p>
          <a:p/>
          <a:p>
            <a:r>
              <a:t>CHUYỂN Ý</a:t>
            </a:r>
          </a:p>
          <a:p>
            <a:r>
              <a:t>Cụ thể, cách làm truyền thống gặp những khó khăn sau.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Nêu 5 khó khăn của cách làm cũ.</a:t>
            </a:r>
          </a:p>
          <a:p/>
          <a:p>
            <a:r>
              <a:t>TRÌNH BÀY</a:t>
            </a:r>
          </a:p>
          <a:p>
            <a:r>
              <a:t>• Trước đây, mỗi tổ ghi điểm vào sổ giấy hoặc một file riêng; giáo viên chủ nhiệm phải gom lại mới tổng hợp được.</a:t>
            </a:r>
          </a:p>
          <a:p>
            <a:r>
              <a:t>• Việc cộng trừ điểm và xếp loại làm bằng tay mất thời gian và dễ sai, nhất là cuối tháng, cuối kỳ.</a:t>
            </a:r>
          </a:p>
          <a:p>
            <a:r>
              <a:t>• Phụ huynh thường chỉ biết tình hình của con khi họp phụ huynh hoặc qua tin nhắn lẻ.</a:t>
            </a:r>
          </a:p>
          <a:p>
            <a:r>
              <a:t>• Giáo viên khó so sánh giữa các tổ, các tuần; số liệu đã xếp loại vẫn có thể bị sửa mà không rõ ai sửa.</a:t>
            </a:r>
          </a:p>
          <a:p/>
          <a:p>
            <a:r>
              <a:t>LẬP LUẬN</a:t>
            </a:r>
          </a:p>
          <a:p>
            <a:r>
              <a:t>Đây là khó khăn chung của công tác chủ nhiệm, không riêng lớp 11D3.</a:t>
            </a:r>
          </a:p>
          <a:p/>
          <a:p>
            <a:r>
              <a:t>CHUYỂN Ý</a:t>
            </a:r>
          </a:p>
          <a:p>
            <a:r>
              <a:t>Từ đó, mục đích của ứng dụng được đặt ra rất rõ.</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Nêu mục đích cốt lõi của ứng dụng.</a:t>
            </a:r>
          </a:p>
          <a:p/>
          <a:p>
            <a:r>
              <a:t>TRÌNH BÀY</a:t>
            </a:r>
          </a:p>
          <a:p>
            <a:r>
              <a:t>• Mục đích của ứng dụng: mỗi lần học sinh được cộng hay bị trừ điểm chỉ cần ghi một lần, và mọi người liên quan đều thấy ngay.</a:t>
            </a:r>
          </a:p>
          <a:p>
            <a:r>
              <a:t>• Từ đó có bốn mục tiêu: ghi một lần, tự tổng hợp, minh bạch và gắn kết với gia đình.</a:t>
            </a:r>
          </a:p>
          <a:p/>
          <a:p>
            <a:r>
              <a:t>CHUYỂN Ý</a:t>
            </a:r>
          </a:p>
          <a:p>
            <a:r>
              <a:t>Vậy ứng dụng được tạo ra như thế nào? Tôi xin giải thích bằng cách đơn giản nhất.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Giải thích dễ hiểu cách ứng dụng được tạo ra, với Claude ở trung tâm.</a:t>
            </a:r>
          </a:p>
          <a:p/>
          <a:p>
            <a:r>
              <a:t>TRÌNH BÀY</a:t>
            </a:r>
          </a:p>
          <a:p>
            <a:r>
              <a:t>• Tôi không viết code. Tôi mô tả bằng tiếng Việt điều lớp cần: màn hình ghi điểm ra sao, điểm tính thế nào, khi nào báo cho phụ huynh.</a:t>
            </a:r>
          </a:p>
          <a:p>
            <a:r>
              <a:t>• Claude, trợ lý AI của công ty Anthropic, đọc mô tả đó và viết code cho từng phần, tự kiểm tra bằng dữ liệu mẫu, rồi đưa tôi dùng thử.</a:t>
            </a:r>
          </a:p>
          <a:p>
            <a:r>
              <a:t>• Ứng dụng gồm 4 phần. Google Sheets là bảng tính trực tuyến của Google, giống Excel, dùng làm nơi lưu dữ liệu. Apps Script là công cụ đi kèm Google Sheets, giúp tự động đọc, ghi dữ liệu và gửi email.</a:t>
            </a:r>
          </a:p>
          <a:p>
            <a:r>
              <a:t>• Trang web là màn hình mọi người nhìn thấy và bấm. GitHub Pages là dịch vụ miễn phí đưa trang web lên mạng, nên chỉ cần mở một đường link, không phải cài đặt.</a:t>
            </a:r>
          </a:p>
          <a:p>
            <a:r>
              <a:t>• Gemini, trợ lý AI của Google, dùng để tạo hình ảnh cô Thảo 3D cho giao diện.</a:t>
            </a:r>
          </a:p>
          <a:p>
            <a:r>
              <a:t>• Cách làm là một vòng lặp: mô tả, Claude viết, tôi dùng thử, góp ý, sửa lại; lặp nhiều lần đến khi ứng dụng dùng tốt trong lớp.</a:t>
            </a:r>
          </a:p>
          <a:p/>
          <a:p>
            <a:r>
              <a:t>LẬP LUẬN</a:t>
            </a:r>
          </a:p>
          <a:p>
            <a:r>
              <a:t>Các dịch vụ đều miễn phí; giáo viên không cần biết lập trình vẫn làm chủ được sản phẩm.</a:t>
            </a:r>
          </a:p>
          <a:p/>
          <a:p>
            <a:r>
              <a:t>CHUYỂN Ý</a:t>
            </a:r>
          </a:p>
          <a:p>
            <a:r>
              <a:t>Trong quá trình đó, vai trò của AI và của giáo viên được phân định rõ.</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Làm rõ vai trò của AI và nguyên tắc dùng AI có trách nhiệm.</a:t>
            </a:r>
          </a:p>
          <a:p/>
          <a:p>
            <a:r>
              <a:t>TRÌNH BÀY</a:t>
            </a:r>
          </a:p>
          <a:p>
            <a:r>
              <a:t>• Tôi là người đặt bài toán: tôi biết lớp cần gì, tôi dùng thử từng bản và quyết định.</a:t>
            </a:r>
          </a:p>
          <a:p>
            <a:r>
              <a:t>• Claude là trợ lý viết code, Gemini là trợ lý tạo hình. Cả hai làm theo yêu cầu và chịu sự kiểm tra của giáo viên.</a:t>
            </a:r>
          </a:p>
          <a:p>
            <a:r>
              <a:t>• Về trách nhiệm: tôi không đưa dữ liệu thật của học sinh cho AI. Ảnh minh hoạ và bản dùng thử đều dùng tên giả. Nhận xét và xếp loại luôn do giáo viên quyết định.</a:t>
            </a:r>
          </a:p>
          <a:p/>
          <a:p>
            <a:r>
              <a:t>LẬP LUẬN</a:t>
            </a:r>
          </a:p>
          <a:p>
            <a:r>
              <a:t>Thể lệ cuộc thi khuyến khích ứng dụng AI có trách nhiệm; đây là điểm sản phẩm thể hiện rõ.</a:t>
            </a:r>
          </a:p>
          <a:p/>
          <a:p>
            <a:r>
              <a:t>CHUYỂN Ý</a:t>
            </a:r>
          </a:p>
          <a:p>
            <a:r>
              <a:t>Tiếp theo là những ai dùng ứng dụng và mỗi người làm gì.</a:t>
            </a:r>
          </a:p>
          <a:p/>
          <a:p>
            <a:r>
              <a:t>────────</a:t>
            </a:r>
          </a:p>
          <a:p>
            <a:r>
              <a:t>ẢNH 02 · 4:3</a:t>
            </a:r>
          </a:p>
          <a:p>
            <a:r>
              <a:t>Cách chèn: bấm biểu tượng ảnh trong khung, hoặc chuột phải vào khung &gt; Change Picture.</a:t>
            </a:r>
          </a:p>
          <a:p/>
          <a:p>
            <a:r>
              <a:t>PROMPT GEMINI (copy nguyên văn):</a:t>
            </a:r>
          </a:p>
          <a:p>
            <a:r>
              <a:t>Đính kèm 1 ảnh cô Thảo 3D (mascot/chu-nhiem/goc.webp) làm ảnh tham chiếu nhân vật. A cheerful 3D chibi Vietnamese female teacher with long brown hair, round black glasses, black vest over a cream blouse, sitting at a desk with an open laptop and pointing at the screen, clearly in charge; beside her two small friendly floating helper robots: a teal robot stacking glowing abstract code blocks, and a coral robot painting a small portrait of the teacher on an easel.</a:t>
            </a:r>
          </a:p>
          <a:p/>
          <a:p>
            <a:r>
              <a:t>STYLE (giữ nguyên cho mọi ảnh của deck):</a:t>
            </a:r>
          </a:p>
          <a:p>
            <a:r>
              <a:t>cute 3D chibi character render in the same style as the attached reference mascot (soft clay-like Pixar style, big head, glossy eyes, rounded shapes); matte materials with accents of teal #0F766E, #2A9D8F and warm orange #F4A261; soft studio light, gentle contact shadows; plain very light grey #F7F8FA background; generous negative space; strong contrast so it stays clear on a projector; no text, no letters, no numbers, no logos, no watermark</a:t>
            </a:r>
          </a:p>
          <a:p/>
          <a:p>
            <a:r>
              <a:t>Aspect ratio 4:3.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Cho thấy ai làm gì trong ứng dụng.</a:t>
            </a:r>
          </a:p>
          <a:p/>
          <a:p>
            <a:r>
              <a:t>TRÌNH BÀY</a:t>
            </a:r>
          </a:p>
          <a:p>
            <a:r>
              <a:t>• Giáo viên chủ nhiệm có toàn quyền: ghi điểm, nhận xét, khoá sổ cuối tháng, xem mọi báo cáo và duyệt phụ huynh.</a:t>
            </a:r>
          </a:p>
          <a:p>
            <a:r>
              <a:t>• Lớp trưởng ghi điểm cả lớp; tổ trưởng chỉ ghi cho tổ mình. Phụ huynh chỉ xem kết quả của con và đọc nhận xét.</a:t>
            </a:r>
          </a:p>
          <a:p>
            <a:r>
              <a:t>• Mọi người đăng nhập bằng email và mã 6 số gửi qua email, không phải nhớ mật khẩu. Ảnh bên phải là bảng phân quyền trong ứng dụng.</a:t>
            </a:r>
          </a:p>
          <a:p/>
          <a:p>
            <a:r>
              <a:t>CHUYỂN Ý</a:t>
            </a:r>
          </a:p>
          <a:p>
            <a:r>
              <a:t>Bốn vai trò này nối với nhau thành một vòng thông tin khép kín.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Tóm tắt luồng thông tin chính của ứng dụng.</a:t>
            </a:r>
          </a:p>
          <a:p/>
          <a:p>
            <a:r>
              <a:t>TRÌNH BÀY</a:t>
            </a:r>
          </a:p>
          <a:p>
            <a:r>
              <a:t>• Bước một: cán bộ lớp ghi nhận trên điện thoại. Bước hai: hệ thống tự tổng hợp điểm và xếp loại, mọi máy thấy ngay.</a:t>
            </a:r>
          </a:p>
          <a:p>
            <a:r>
              <a:t>• Bước ba: giáo viên chủ nhiệm xem lại, nhận xét và khoá sổ cuối tháng. Bước bốn: phụ huynh nhận email và xem kết quả của con.</a:t>
            </a:r>
          </a:p>
          <a:p>
            <a:r>
              <a:t>• Nhờ vậy thông tin đến với gia đình ngay trong ngày.</a:t>
            </a:r>
          </a:p>
          <a:p/>
          <a:p>
            <a:r>
              <a:t>CHUYỂN Ý</a:t>
            </a:r>
          </a:p>
          <a:p>
            <a:r>
              <a:t>Phần ba minh hoạ từng bước này bằng ảnh chụp từ ứng dụng.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Minh hoạ thao tác ghi điểm của cán bộ lớp.</a:t>
            </a:r>
          </a:p>
          <a:p/>
          <a:p>
            <a:r>
              <a:t>TRÌNH BÀY</a:t>
            </a:r>
          </a:p>
          <a:p>
            <a:r>
              <a:t>• Ảnh 1: lớp trưởng mở ứng dụng trên điện thoại, thấy danh sách học sinh theo tổ.</a:t>
            </a:r>
          </a:p>
          <a:p>
            <a:r>
              <a:t>• Ảnh 2: chạm tên một bạn, chọn lỗi như "Đi học muộn" hoặc một điểm cộng. Danh mục do giáo viên chủ nhiệm quy định trước.</a:t>
            </a:r>
          </a:p>
          <a:p>
            <a:r>
              <a:t>• Ảnh 3: bấm lưu, điểm hiện ngay. Nếu mạng yếu, ứng dụng giữ lại và tự gửi khi có mạng.</a:t>
            </a:r>
          </a:p>
          <a:p/>
          <a:p>
            <a:r>
              <a:t>CHUYỂN Ý</a:t>
            </a:r>
          </a:p>
          <a:p>
            <a:r>
              <a:t>Ở phía giáo viên chủ nhiệm, mọi điểm vừa ghi được tổng hợp ngay trên máy tính.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Giới thiệu công cụ của giáo viên chủ nhiệm.</a:t>
            </a:r>
          </a:p>
          <a:p/>
          <a:p>
            <a:r>
              <a:t>TRÌNH BÀY</a:t>
            </a:r>
          </a:p>
          <a:p>
            <a:r>
              <a:t>• Trên máy tính, tôi thấy bảng tổng hợp cả lớp theo tuần, theo tổ.</a:t>
            </a:r>
          </a:p>
          <a:p>
            <a:r>
              <a:t>• Khi rê chuột vào một ô điểm, ứng dụng cho biết điểm đó từ đâu: lỗi gì, ngày nào, ai ghi. Tôi không phải lật sổ.</a:t>
            </a:r>
          </a:p>
          <a:p>
            <a:r>
              <a:t>• Ô tìm kiếm hiểu câu gõ tự nhiên như "tổ 2 vi phạm". Màn hình tự cập nhật khi lớp ghi điểm.</a:t>
            </a:r>
          </a:p>
          <a:p>
            <a:r>
              <a:t>• Cuối tháng, sau khi xếp loại, tôi khoá sổ: không ai sửa được nữa, trừ khi tôi mở lại.</a:t>
            </a:r>
          </a:p>
          <a:p/>
          <a:p>
            <a:r>
              <a:t>CHUYỂN Ý</a:t>
            </a:r>
          </a:p>
          <a:p>
            <a:r>
              <a:t>Từ dữ liệu đó, báo cáo được soạn tự động.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Giới thiệu chức năng báo cáo.</a:t>
            </a:r>
          </a:p>
          <a:p/>
          <a:p>
            <a:r>
              <a:t>TRÌNH BÀY</a:t>
            </a:r>
          </a:p>
          <a:p>
            <a:r>
              <a:t>• Menu Báo cáo tự tính số liệu theo tuần, tháng, học kỳ hoặc cả năm, so sánh với kỳ trước, xếp hạng các tổ, nêu học sinh được tuyên dương và cần nhắc nhở.</a:t>
            </a:r>
          </a:p>
          <a:p>
            <a:r>
              <a:t>• Ứng dụng gợi ý sẵn lời nhận xét chung và phương hướng; giáo viên sửa lại theo ý mình. Báo cáo nào cũng có mục "Nhận xét của cô Thảo".</a:t>
            </a:r>
          </a:p>
          <a:p>
            <a:r>
              <a:t>• Chỉ cần một nút là có PDF báo cáo của lớp, hoặc PDF riêng của một học sinh để gửi phụ huynh.</a:t>
            </a:r>
          </a:p>
          <a:p/>
          <a:p>
            <a:r>
              <a:t>CHUYỂN Ý</a:t>
            </a:r>
          </a:p>
          <a:p>
            <a:r>
              <a:t>Phụ huynh là người được hưởng lợi rõ nhất.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Cho thấy trải nghiệm của phụ huynh.</a:t>
            </a:r>
          </a:p>
          <a:p/>
          <a:p>
            <a:r>
              <a:t>TRÌNH BÀY</a:t>
            </a:r>
          </a:p>
          <a:p>
            <a:r>
              <a:t>• Phụ huynh tự đăng ký email bằng mã 6 số. Giáo viên nhận thông báo trên màn hình và qua email, bấm Duyệt; phụ huynh nhận thư xác nhận kèm file hướng dẫn.</a:t>
            </a:r>
          </a:p>
          <a:p>
            <a:r>
              <a:t>• Từ đó, mỗi lần con được ghi điểm, phụ huynh nhận email kèm lời nhắn của cô, phù hợp với từng trường hợp: khen hay nhắc nhở.</a:t>
            </a:r>
          </a:p>
          <a:p>
            <a:r>
              <a:t>• Phụ huynh mở trang riêng để xem kết quả của con và tải PDF, không phải đợi đến buổi họp.</a:t>
            </a:r>
          </a:p>
          <a:p/>
          <a:p>
            <a:r>
              <a:t>CHUYỂN Ý</a:t>
            </a:r>
          </a:p>
          <a:p>
            <a:r>
              <a:t>Để mọi người dùng được ngay, giao diện được thiết kế thân thiện và có hướng dẫn sẵn.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Cho thấy ứng dụng dễ dùng với cả người không rành công nghệ.</a:t>
            </a:r>
          </a:p>
          <a:p/>
          <a:p>
            <a:r>
              <a:t>TRÌNH BÀY</a:t>
            </a:r>
          </a:p>
          <a:p>
            <a:r>
              <a:t>• Lần đầu mở ứng dụng, cô Thảo 3D hướng dẫn từng bước: chỉ vào từng nút, giải thích ngắn, bấm Tiếp để đi tiếp. Có thể xem lại bất cứ lúc nào bằng nút dấu hỏi.</a:t>
            </a:r>
          </a:p>
          <a:p>
            <a:r>
              <a:t>• Mỗi khi ứng dụng có tính năng mới, người dùng thấy thông báo cập nhật kèm ảnh minh hoạ, không cần ai giải thích.</a:t>
            </a:r>
          </a:p>
          <a:p>
            <a:r>
              <a:t>• Muốn sửa hay xoá một lượt điểm, chỉ cần bấm vào lượt đó. Giao diện đổi được màu và chạy tốt trên cả điện thoại lẫn máy tính.</a:t>
            </a:r>
          </a:p>
          <a:p/>
          <a:p>
            <a:r>
              <a:t>CHUYỂN Ý</a:t>
            </a:r>
          </a:p>
          <a:p>
            <a:r>
              <a:t>Một câu hỏi quan trọng: dữ liệu học sinh có an toàn không?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Trấn an về an toàn dữ liệu học sinh.</a:t>
            </a:r>
          </a:p>
          <a:p/>
          <a:p>
            <a:r>
              <a:t>TRÌNH BÀY</a:t>
            </a:r>
          </a:p>
          <a:p>
            <a:r>
              <a:t>• Không ai phải nhớ mật khẩu: mỗi lần đăng nhập, ứng dụng gửi một mã 6 số tới email đã được giáo viên cấp quyền.</a:t>
            </a:r>
          </a:p>
          <a:p>
            <a:r>
              <a:t>• Quyền theo vai trò được kiểm tra cả trên máy chủ, không chỉ ẩn nút trên màn hình.</a:t>
            </a:r>
          </a:p>
          <a:p>
            <a:r>
              <a:t>• Tháng đã khoá sổ thì không sửa được. Dữ liệu nằm trong Google Sheet và thư mục Drive riêng tư của nhà trường.</a:t>
            </a:r>
          </a:p>
          <a:p>
            <a:r>
              <a:t>• Khi giới thiệu, chụp ảnh hay cho dùng thử, tôi chỉ dùng dữ liệu mẫu.</a:t>
            </a:r>
          </a:p>
          <a:p/>
          <a:p>
            <a:r>
              <a:t>CHUYỂN Ý</a:t>
            </a:r>
          </a:p>
          <a:p>
            <a:r>
              <a:t>Phần bốn: so sánh hiệu quả với cách làm cũ.</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So sánh trực tiếp hai cách làm.</a:t>
            </a:r>
          </a:p>
          <a:p/>
          <a:p>
            <a:r>
              <a:t>TRÌNH BÀY</a:t>
            </a:r>
          </a:p>
          <a:p>
            <a:r>
              <a:t>• Bảng so sánh cách làm truyền thống với ứng dụng theo bảy tiêu chí.</a:t>
            </a:r>
          </a:p>
          <a:p>
            <a:r>
              <a:t>• Khác biệt lớn nhất: ghi một lần, tổng hợp tự động và phụ huynh nhận tin ngay thay vì chờ họp.</a:t>
            </a:r>
          </a:p>
          <a:p>
            <a:r>
              <a:t>• Về chi phí, ứng dụng dùng dịch vụ miễn phí của Google và GitHub nên nhà trường không phải mua phần mềm.</a:t>
            </a:r>
          </a:p>
          <a:p/>
          <a:p>
            <a:r>
              <a:t>CHUYỂN Ý</a:t>
            </a:r>
          </a:p>
          <a:p>
            <a:r>
              <a:t>Lợi ích cụ thể cho từng bên như sau.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Lợi ích theo từng đối tượng.</a:t>
            </a:r>
          </a:p>
          <a:p/>
          <a:p>
            <a:r>
              <a:t>TRÌNH BÀY</a:t>
            </a:r>
          </a:p>
          <a:p>
            <a:r>
              <a:t>• Học sinh biết ngay lý do được cộng hay bị trừ điểm nên tự điều chỉnh sớm.</a:t>
            </a:r>
          </a:p>
          <a:p>
            <a:r>
              <a:t>• Cán bộ lớp rèn kỹ năng số và tinh thần trách nhiệm. Giáo viên bớt việc tính toán, có thêm thời gian cho học sinh.</a:t>
            </a:r>
          </a:p>
          <a:p>
            <a:r>
              <a:t>• Phụ huynh phối hợp với giáo viên sớm hơn. Nhà trường có số liệu rõ ràng và có thể nhân rộng mô hình.</a:t>
            </a:r>
          </a:p>
          <a:p>
            <a:r>
              <a:t>• Việc số hoá cũng giảm in ấn giấy tờ, góp phần bảo vệ môi trường.</a:t>
            </a:r>
          </a:p>
          <a:p/>
          <a:p>
            <a:r>
              <a:t>CHUYỂN Ý</a:t>
            </a:r>
          </a:p>
          <a:p>
            <a:r>
              <a:t>Để thấy rõ hiệu quả, xin mời trải nghiệm ứng dụng ngay.</a:t>
            </a:r>
          </a:p>
          <a:p/>
          <a:p>
            <a:r>
              <a:t>────────</a:t>
            </a:r>
          </a:p>
          <a:p>
            <a:r>
              <a:t>ẢNH 03 · 3:4</a:t>
            </a:r>
          </a:p>
          <a:p>
            <a:r>
              <a:t>Cách chèn: bấm biểu tượng ảnh trong khung, hoặc chuột phải vào khung &gt; Change Picture.</a:t>
            </a:r>
          </a:p>
          <a:p/>
          <a:p>
            <a:r>
              <a:t>PROMPT GEMINI (copy nguyên văn):</a:t>
            </a:r>
          </a:p>
          <a:p>
            <a:r>
              <a:t>Đính kèm 1 ảnh cô Thảo 3D (mascot/chu-nhiem/goc.webp) làm ảnh tham chiếu nhân vật. A warm 3D chibi scene showing a school community connected through one smartphone app: a smiling Vietnamese high-school student in a white shirt, a class monitor holding a phone, the female teacher with round black glasses and black vest giving a thumbs up, and two parents at home looking at a phone together; thin teal connecting lines with small heart and check-mark icons between them; vertical composition.</a:t>
            </a:r>
          </a:p>
          <a:p/>
          <a:p>
            <a:r>
              <a:t>STYLE (giữ nguyên cho mọi ảnh của deck):</a:t>
            </a:r>
          </a:p>
          <a:p>
            <a:r>
              <a:t>cute 3D chibi character render in the same style as the attached reference mascot (soft clay-like Pixar style, big head, glossy eyes, rounded shapes); matte materials with accents of teal #0F766E, #2A9D8F and warm orange #F4A261; soft studio light, gentle contact shadows; plain very light grey #F7F8FA background; generous negative space; strong contrast so it stays clear on a projector; no text, no letters, no numbers, no logos, no watermark</a:t>
            </a:r>
          </a:p>
          <a:p/>
          <a:p>
            <a:r>
              <a:t>Aspect ratio 3:4.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Mời trải nghiệm và giới thiệu 9 việc trong hướng dẫn.</a:t>
            </a:r>
          </a:p>
          <a:p/>
          <a:p>
            <a:r>
              <a:t>TRÌNH BÀY</a:t>
            </a:r>
          </a:p>
          <a:p>
            <a:r>
              <a:t>• Ứng dụng có chế độ "Kiểm tra tính năng ứng dụng": quét mã QR hoặc mở link, bấm thẻ màu cam ở màn đăng nhập. Không cần email, không cần mật khẩu.</a:t>
            </a:r>
          </a:p>
          <a:p>
            <a:r>
              <a:t>• Hệ thống tạo dữ liệu mẫu và cho đổi vai ở thanh phía trên: giáo viên chủ nhiệm, lớp trưởng, tổ trưởng, phụ huynh.</a:t>
            </a:r>
          </a:p>
          <a:p>
            <a:r>
              <a:t>• Hướng dẫn 9 việc đi trọn vòng: lớp trưởng ghi điểm, phụ huynh nhận email và tải PDF, giáo viên nhận xét, xem báo cáo, duyệt phụ huynh rồi khoá sổ tháng.</a:t>
            </a:r>
          </a:p>
          <a:p>
            <a:r>
              <a:t>• Email trong chế độ này là mô phỏng, hiện ở nút Hộp thư; không có thư thật nào được gửi đi.</a:t>
            </a:r>
          </a:p>
          <a:p/>
          <a:p>
            <a:r>
              <a:t>DẪN CHỨNG</a:t>
            </a:r>
          </a:p>
          <a:p>
            <a:r>
              <a:t>Hướng dẫn chi tiết có ảnh: https://thptyenhoa.github.io/Theo-doi-hanh-kiem-11D3-nam-hoc-2026-2027/docs/HD_Trai_nghiem.pdf</a:t>
            </a:r>
          </a:p>
          <a:p/>
          <a:p>
            <a:r>
              <a:t>CHUYỂN Ý</a:t>
            </a:r>
          </a:p>
          <a:p>
            <a:r>
              <a:t>Phần cuối: hướng phát triển trong thời gian tới.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Đề xuất hướng phát triển theo 3 giai đoạn.</a:t>
            </a:r>
          </a:p>
          <a:p/>
          <a:p>
            <a:r>
              <a:t>TRÌNH BÀY</a:t>
            </a:r>
          </a:p>
          <a:p>
            <a:r>
              <a:t>• Học kỳ II: dùng cho nhiều lớp với cùng một mẫu, có bảng tổng hợp toàn trường cho Ban giám hiệu, và để AI gợi ý lời nhận xét cho giáo viên duyệt.</a:t>
            </a:r>
          </a:p>
          <a:p>
            <a:r>
              <a:t>• Năm học tới: cảnh báo sớm học sinh có số lần vi phạm tăng để giáo viên kịp hỗ trợ; học sinh tự đánh giá và nhận huy hiệu; gửi thông báo qua Zalo.</a:t>
            </a:r>
          </a:p>
          <a:p>
            <a:r>
              <a:t>• Lâu dài: kết nối với điểm danh, sổ đầu bài; xây dựng hồ sơ rèn luyện 3 năm; ghi nhận năng lực số và các hoạt động xanh.</a:t>
            </a:r>
          </a:p>
          <a:p>
            <a:r>
              <a:t>• Các hướng này dùng lại nền tảng hiện có nên khả thi về chi phí và thời gian.</a:t>
            </a:r>
          </a:p>
          <a:p/>
          <a:p>
            <a:r>
              <a:t>CHUYỂN Ý</a:t>
            </a:r>
          </a:p>
          <a:p>
            <a:r>
              <a:t>Về lâu dài, ứng dụng có thể trở thành sổ liên lạc điện tử của cả trường.</a:t>
            </a:r>
          </a:p>
          <a:p/>
          <a:p>
            <a:r>
              <a:t>────────</a:t>
            </a:r>
          </a:p>
          <a:p>
            <a:r>
              <a:t>ẢNH 04 · 3:4</a:t>
            </a:r>
          </a:p>
          <a:p>
            <a:r>
              <a:t>Cách chèn: bấm biểu tượng ảnh trong khung, hoặc chuột phải vào khung &gt; Change Picture.</a:t>
            </a:r>
          </a:p>
          <a:p/>
          <a:p>
            <a:r>
              <a:t>PROMPT GEMINI (copy nguyên văn):</a:t>
            </a:r>
          </a:p>
          <a:p>
            <a:r>
              <a:t>Đính kèm 1 ảnh cô Thảo 3D (mascot/chu-nhiem/goc.webp) làm ảnh tham chiếu nhân vật. A hopeful 3D chibi scene of a future school: the same female teacher with round black glasses standing beside a large floating dashboard with colourful abstract bar charts and dots, several small classroom buildings with tiny students, a green tree and a small recycling bin for green activities, and a phone showing a chat bubble icon; vertical composition.</a:t>
            </a:r>
          </a:p>
          <a:p/>
          <a:p>
            <a:r>
              <a:t>STYLE (giữ nguyên cho mọi ảnh của deck):</a:t>
            </a:r>
          </a:p>
          <a:p>
            <a:r>
              <a:t>cute 3D chibi character render in the same style as the attached reference mascot (soft clay-like Pixar style, big head, glossy eyes, rounded shapes); matte materials with accents of teal #0F766E, #2A9D8F and warm orange #F4A261; soft studio light, gentle contact shadows; plain very light grey #F7F8FA background; generous negative space; strong contrast so it stays clear on a projector; no text, no letters, no numbers, no logos, no watermark</a:t>
            </a:r>
          </a:p>
          <a:p/>
          <a:p>
            <a:r>
              <a:t>Aspect ratio 3:4.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Đề xuất mở rộng ứng dụng thành sổ liên lạc điện tử.</a:t>
            </a:r>
          </a:p>
          <a:p/>
          <a:p>
            <a:r>
              <a:t>TRÌNH BÀY</a:t>
            </a:r>
          </a:p>
          <a:p>
            <a:r>
              <a:t>• Hiện tại ứng dụng mới phục vụ việc theo dõi hạnh kiểm. Cùng cách làm này, có thể tích hợp thêm các mảng thông tin khác.</a:t>
            </a:r>
          </a:p>
          <a:p>
            <a:r>
              <a:t>• Học bạ và điểm số từng môn, từng kỳ. Ban giám hiệu theo dõi thi đua của nhiều lớp. Nội quy, quy định thi đua của trường, của lớp.</a:t>
            </a:r>
          </a:p>
          <a:p>
            <a:r>
              <a:t>• Lịch học, lịch thi, các sự kiện và hoạt động ngoại khoá. Thông báo chung từ Ban giám hiệu và giáo viên tới đúng lớp, đúng phụ huynh.</a:t>
            </a:r>
          </a:p>
          <a:p>
            <a:r>
              <a:t>• Tất cả dùng chung một nền tảng đã có, nên chi phí thấp; điều quan trọng là mỗi người chỉ thấy đúng phần thông tin được phép.</a:t>
            </a:r>
          </a:p>
          <a:p/>
          <a:p>
            <a:r>
              <a:t>CHUYỂN Ý</a:t>
            </a:r>
          </a:p>
          <a:p>
            <a:r>
              <a:t>Khi mở rộng như vậy, bảo vệ dữ liệu cá nhân của học sinh là yêu cầu bắt buộc.</a:t>
            </a:r>
          </a:p>
          <a:p/>
          <a:p>
            <a:r>
              <a:t>────────</a:t>
            </a:r>
          </a:p>
          <a:p>
            <a:r>
              <a:t>ẢNH 05 · 3:4</a:t>
            </a:r>
          </a:p>
          <a:p>
            <a:r>
              <a:t>Cách chèn: bấm biểu tượng ảnh trong khung, hoặc chuột phải vào khung &gt; Change Picture.</a:t>
            </a:r>
          </a:p>
          <a:p/>
          <a:p>
            <a:r>
              <a:t>PROMPT GEMINI (copy nguyên văn):</a:t>
            </a:r>
          </a:p>
          <a:p>
            <a:r>
              <a:t>Đính kèm 1 ảnh cô Thảo 3D (mascot/chu-nhiem/goc.webp) làm ảnh tham chiếu nhân vật. The 3D chibi female teacher with round black glasses holding a large friendly smartphone whose screen shows six neat rounded tiles with simple icons (a report card, coins, a rule book, a calendar, a megaphone, a star badge), with small students and parents smiling around her; vertical composition.</a:t>
            </a:r>
          </a:p>
          <a:p/>
          <a:p>
            <a:r>
              <a:t>STYLE (giữ nguyên cho mọi ảnh của deck):</a:t>
            </a:r>
          </a:p>
          <a:p>
            <a:r>
              <a:t>cute 3D chibi character render in the same style as the attached reference mascot (soft clay-like Pixar style, big head, glossy eyes, rounded shapes); matte materials with accents of teal #0F766E, #2A9D8F and warm orange #F4A261; soft studio light, gentle contact shadows; plain very light grey #F7F8FA background; generous negative space; strong contrast so it stays clear on a projector; no text, no letters, no numbers, no logos, no watermark</a:t>
            </a:r>
          </a:p>
          <a:p/>
          <a:p>
            <a:r>
              <a:t>Aspect ratio 3:4.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Nêu nguyên tắc bảo vệ dữ liệu cá nhân và chia sẻ thông tin phù hợp.</a:t>
            </a:r>
          </a:p>
          <a:p/>
          <a:p>
            <a:r>
              <a:t>TRÌNH BÀY</a:t>
            </a:r>
          </a:p>
          <a:p>
            <a:r>
              <a:t>• Thông tin của học sinh là dữ liệu cá nhân, cần được bảo vệ theo Luật Bảo vệ dữ liệu cá nhân năm 2025 và các văn bản hướng dẫn.</a:t>
            </a:r>
          </a:p>
          <a:p>
            <a:r>
              <a:t>• Ứng dụng chỉ thu thập thông tin cần thiết, có sự đồng ý của cha mẹ học sinh; mỗi người chỉ xem đúng phần của mình; dữ liệu nằm trong hệ thống của nhà trường và không đưa cho AI.</a:t>
            </a:r>
          </a:p>
          <a:p>
            <a:r>
              <a:t>• Cách chia sẻ cũng phải khéo léo: lời nhắn gửi phụ huynh ghi nhận cố gắng trước rồi mới nhắc nhở; tin gửi nhóm lớp không nêu tên học sinh vi phạm, điều này ứng dụng đã làm ở nút Tóm tắt gửi phụ huynh.</a:t>
            </a:r>
          </a:p>
          <a:p>
            <a:r>
              <a:t>• Các thông tin nhạy cảm như sức khoẻ, hoàn cảnh gia đình chỉ gửi riêng cho người có trách nhiệm hoặc từng gia đình.</a:t>
            </a:r>
          </a:p>
          <a:p/>
          <a:p>
            <a:r>
              <a:t>DẪN CHỨNG</a:t>
            </a:r>
          </a:p>
          <a:p>
            <a:r>
              <a:t>Luật Bảo vệ dữ liệu cá nhân năm 2025 (có hiệu lực từ 01/01/2026); trước đó là Nghị định 13/2023/NĐ-CP. Đề nghị kiểm tra lại số hiệu văn bản trước khi trình bày.</a:t>
            </a:r>
          </a:p>
          <a:p/>
          <a:p>
            <a:r>
              <a:t>CHUYỂN Ý</a:t>
            </a:r>
          </a:p>
          <a:p>
            <a:r>
              <a:t>Toàn bộ sản phẩm có thể mở qua 3 mã QR sau.</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Cung cấp 3 mã QR.</a:t>
            </a:r>
          </a:p>
          <a:p/>
          <a:p>
            <a:r>
              <a:t>TRÌNH BÀY</a:t>
            </a:r>
          </a:p>
          <a:p>
            <a:r>
              <a:t>• Mã thứ nhất là link ứng dụng: từ màn đăng nhập mở được bản dùng thử, trang phụ huynh, hướng dẫn sử dụng và hướng dẫn trải nghiệm (PDF).</a:t>
            </a:r>
          </a:p>
          <a:p>
            <a:r>
              <a:t>• Mã thứ hai mở thẳng bản dùng thử với dữ liệu mẫu. Mã thứ ba mở trang dành cho phụ huynh, cũng với dữ liệu mẫu.</a:t>
            </a:r>
          </a:p>
          <a:p>
            <a:r>
              <a:t>• Các link trên slide đều bấm được khi trình chiếu.</a:t>
            </a:r>
          </a:p>
          <a:p/>
          <a:p>
            <a:r>
              <a:t>DẪN CHỨNG</a:t>
            </a:r>
          </a:p>
          <a:p>
            <a:r>
              <a:t>Hướng dẫn sử dụng: https://thptyenhoa.github.io/Theo-doi-hanh-kiem-11D3-nam-hoc-2026-2027/docs/HDSD_Day_du.pdf · Hướng dẫn trải nghiệm: https://thptyenhoa.github.io/Theo-doi-hanh-kiem-11D3-nam-hoc-2026-2027/docs/HD_Trai_nghiem.pdf</a:t>
            </a:r>
          </a:p>
          <a:p/>
          <a:p>
            <a:r>
              <a:t>CHUYỂN Ý</a:t>
            </a:r>
          </a:p>
          <a:p>
            <a:r>
              <a:t>Xin cảm ơn.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a:t>
            </a:r>
          </a:p>
          <a:p>
            <a:r>
              <a:t>Kết thúc bài trình bày.</a:t>
            </a:r>
          </a:p>
          <a:p/>
          <a:p>
            <a:r>
              <a:t>TRÌNH BÀY</a:t>
            </a:r>
          </a:p>
          <a:p>
            <a:r>
              <a:t>• Xin cảm ơn ban tổ chức và các thầy cô đã lắng nghe.</a:t>
            </a:r>
          </a:p>
          <a:p>
            <a:r>
              <a:t>• Sổ theo dõi học sinh cho thấy giáo viên, với sự hỗ trợ của AI, có thể tự tạo công cụ giải quyết vấn đề thực tế của lớp mình.</a:t>
            </a:r>
          </a:p>
          <a:p>
            <a:r>
              <a:t>• Rất mong nhận được góp ý để ứng dụng hoàn thiện và nhân rộng.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IMG 03">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
        <p:nvSpPr>
          <p:cNvPr id="200" name="ẢNH 01 · 3:4"/>
          <p:cNvSpPr>
            <a:spLocks noGrp="1"/>
          </p:cNvSpPr>
          <p:nvPr>
            <p:ph type="pic" idx="20" sz="quarter"/>
          </p:nvPr>
        </p:nvSpPr>
        <p:spPr>
          <a:xfrm>
            <a:off x="8595360" y="1234440"/>
            <a:ext cx="3172968" cy="4233672"/>
          </a:xfrm>
          <a:prstGeom prst="roundRect">
            <a:avLst/>
          </a:prstGeom>
          <a:solidFill>
            <a:srgbClr val="F4F7F7"/>
          </a:solidFill>
        </p:spPr>
        <p:txBody>
          <a:bodyPr anchor="ctr"/>
          <a:lstStyle>
            <a:lvl1pPr algn="ctr">
              <a:defRPr sz="1400">
                <a:solidFill>
                  <a:srgbClr val="5F7472"/>
                </a:solidFill>
              </a:defRPr>
            </a:lvl1pPr>
          </a:lstStyle>
          <a:p>
            <a:r>
              <a:rPr lang="vi-VN"/>
              <a:t>ẢNH 01 · 3:4</a:t>
            </a:r>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IMG 08">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
        <p:nvSpPr>
          <p:cNvPr id="200" name="ẢNH 02 · 4:3"/>
          <p:cNvSpPr>
            <a:spLocks noGrp="1"/>
          </p:cNvSpPr>
          <p:nvPr>
            <p:ph type="pic" idx="20" sz="quarter"/>
          </p:nvPr>
        </p:nvSpPr>
        <p:spPr>
          <a:xfrm>
            <a:off x="7498079" y="1234440"/>
            <a:ext cx="4270248" cy="3200400"/>
          </a:xfrm>
          <a:prstGeom prst="roundRect">
            <a:avLst/>
          </a:prstGeom>
          <a:solidFill>
            <a:srgbClr val="F4F7F7"/>
          </a:solidFill>
        </p:spPr>
        <p:txBody>
          <a:bodyPr anchor="ctr"/>
          <a:lstStyle>
            <a:lvl1pPr algn="ctr">
              <a:defRPr sz="1400">
                <a:solidFill>
                  <a:srgbClr val="5F7472"/>
                </a:solidFill>
              </a:defRPr>
            </a:lvl1pPr>
          </a:lstStyle>
          <a:p>
            <a:r>
              <a:rPr lang="vi-VN"/>
              <a:t>ẢNH 02 · 4:3</a:t>
            </a:r>
          </a:p>
        </p:txBody>
      </p:sp>
    </p:spTree>
    <p:extLst>
      <p:ext uri="{BB962C8B-B14F-4D97-AF65-F5344CB8AC3E}">
        <p14:creationId xmlns:p14="http://schemas.microsoft.com/office/powerpoint/2010/main" val="1212999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IMG 18">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
        <p:nvSpPr>
          <p:cNvPr id="200" name="ẢNH 03 · 3:4"/>
          <p:cNvSpPr>
            <a:spLocks noGrp="1"/>
          </p:cNvSpPr>
          <p:nvPr>
            <p:ph type="pic" idx="20" sz="quarter"/>
          </p:nvPr>
        </p:nvSpPr>
        <p:spPr>
          <a:xfrm>
            <a:off x="8595360" y="1234440"/>
            <a:ext cx="3172968" cy="4233672"/>
          </a:xfrm>
          <a:prstGeom prst="roundRect">
            <a:avLst/>
          </a:prstGeom>
          <a:solidFill>
            <a:srgbClr val="F4F7F7"/>
          </a:solidFill>
        </p:spPr>
        <p:txBody>
          <a:bodyPr anchor="ctr"/>
          <a:lstStyle>
            <a:lvl1pPr algn="ctr">
              <a:defRPr sz="1400">
                <a:solidFill>
                  <a:srgbClr val="5F7472"/>
                </a:solidFill>
              </a:defRPr>
            </a:lvl1pPr>
          </a:lstStyle>
          <a:p>
            <a:r>
              <a:rPr lang="vi-VN"/>
              <a:t>ẢNH 03 · 3:4</a:t>
            </a:r>
          </a:p>
        </p:txBody>
      </p:sp>
    </p:spTree>
    <p:extLst>
      <p:ext uri="{BB962C8B-B14F-4D97-AF65-F5344CB8AC3E}">
        <p14:creationId xmlns:p14="http://schemas.microsoft.com/office/powerpoint/2010/main" val="121299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IMG 20">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
        <p:nvSpPr>
          <p:cNvPr id="200" name="ẢNH 04 · 3:4"/>
          <p:cNvSpPr>
            <a:spLocks noGrp="1"/>
          </p:cNvSpPr>
          <p:nvPr>
            <p:ph type="pic" idx="20" sz="quarter"/>
          </p:nvPr>
        </p:nvSpPr>
        <p:spPr>
          <a:xfrm>
            <a:off x="8595360" y="1234440"/>
            <a:ext cx="3172968" cy="4233672"/>
          </a:xfrm>
          <a:prstGeom prst="roundRect">
            <a:avLst/>
          </a:prstGeom>
          <a:solidFill>
            <a:srgbClr val="F4F7F7"/>
          </a:solidFill>
        </p:spPr>
        <p:txBody>
          <a:bodyPr anchor="ctr"/>
          <a:lstStyle>
            <a:lvl1pPr algn="ctr">
              <a:defRPr sz="1400">
                <a:solidFill>
                  <a:srgbClr val="5F7472"/>
                </a:solidFill>
              </a:defRPr>
            </a:lvl1pPr>
          </a:lstStyle>
          <a:p>
            <a:r>
              <a:rPr lang="vi-VN"/>
              <a:t>ẢNH 04 · 3:4</a:t>
            </a:r>
          </a:p>
        </p:txBody>
      </p:sp>
    </p:spTree>
    <p:extLst>
      <p:ext uri="{BB962C8B-B14F-4D97-AF65-F5344CB8AC3E}">
        <p14:creationId xmlns:p14="http://schemas.microsoft.com/office/powerpoint/2010/main" val="1212999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IMG 21">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
        <p:nvSpPr>
          <p:cNvPr id="200" name="ẢNH 05 · 3:4"/>
          <p:cNvSpPr>
            <a:spLocks noGrp="1"/>
          </p:cNvSpPr>
          <p:nvPr>
            <p:ph type="pic" idx="20" sz="quarter"/>
          </p:nvPr>
        </p:nvSpPr>
        <p:spPr>
          <a:xfrm>
            <a:off x="8595360" y="1234440"/>
            <a:ext cx="3172968" cy="4233672"/>
          </a:xfrm>
          <a:prstGeom prst="roundRect">
            <a:avLst/>
          </a:prstGeom>
          <a:solidFill>
            <a:srgbClr val="F4F7F7"/>
          </a:solidFill>
        </p:spPr>
        <p:txBody>
          <a:bodyPr anchor="ctr"/>
          <a:lstStyle>
            <a:lvl1pPr algn="ctr">
              <a:defRPr sz="1400">
                <a:solidFill>
                  <a:srgbClr val="5F7472"/>
                </a:solidFill>
              </a:defRPr>
            </a:lvl1pPr>
          </a:lstStyle>
          <a:p>
            <a:r>
              <a:rPr lang="vi-VN"/>
              <a:t>ẢNH 05 · 3:4</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3"/>
    <p:sldLayoutId id="2147483661" r:id="rId14"/>
    <p:sldLayoutId id="2147483662" r:id="rId15"/>
    <p:sldLayoutId id="2147483663" r:id="rId16"/>
    <p:sldLayoutId id="2147483664" r:id="rId1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5.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4.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22.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png"/><Relationship Id="rId4" Type="http://schemas.openxmlformats.org/officeDocument/2006/relationships/image" Target="../media/image24.png"/><Relationship Id="rId5" Type="http://schemas.openxmlformats.org/officeDocument/2006/relationships/image" Target="../media/image25.jp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3.png"/><Relationship Id="rId4" Type="http://schemas.openxmlformats.org/officeDocument/2006/relationships/image" Target="../media/image26.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11.png"/><Relationship Id="rId5" Type="http://schemas.openxmlformats.org/officeDocument/2006/relationships/image" Target="../media/image29.png"/><Relationship Id="rId6" Type="http://schemas.openxmlformats.org/officeDocument/2006/relationships/image" Target="../media/image7.png"/><Relationship Id="rId7" Type="http://schemas.openxmlformats.org/officeDocument/2006/relationships/image" Target="../media/image21.pn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25.jpg"/><Relationship Id="rId4" Type="http://schemas.openxmlformats.org/officeDocument/2006/relationships/image" Target="../media/image34.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hyperlink" Target="https://thptyenhoa.github.io/Theo-doi-hanh-kiem-11D3-nam-hoc-2026-2027/?demo=1" TargetMode="Externa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hyperlink" Target="https://thptyenhoa.github.io/Theo-doi-hanh-kiem-11D3-nam-hoc-2026-2027/" TargetMode="External"/><Relationship Id="rId4" Type="http://schemas.openxmlformats.org/officeDocument/2006/relationships/image" Target="../media/image40.png"/><Relationship Id="rId5" Type="http://schemas.openxmlformats.org/officeDocument/2006/relationships/hyperlink" Target="https://thptyenhoa.github.io/Theo-doi-hanh-kiem-11D3-nam-hoc-2026-2027/?demo=1" TargetMode="External"/><Relationship Id="rId6" Type="http://schemas.openxmlformats.org/officeDocument/2006/relationships/image" Target="../media/image44.png"/><Relationship Id="rId7" Type="http://schemas.openxmlformats.org/officeDocument/2006/relationships/hyperlink" Target="https://thptyenhoa.github.io/Theo-doi-hanh-kiem-11D3-nam-hoc-2026-2027/phu-huynh.html?demo=1" TargetMode="Externa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hyperlink" Target="https://thptyenhoa.github.io/Theo-doi-hanh-kiem-11D3-nam-hoc-2026-2027/" TargetMode="External"/><Relationship Id="rId4" Type="http://schemas.openxmlformats.org/officeDocument/2006/relationships/image" Target="../media/image45.png"/><Relationship Id="rId5"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F766E"/>
          </a:solidFill>
          <a:ln>
            <a:noFill/>
          </a:ln>
          <a:effectLst/>
        </p:spPr>
        <p:txBody>
          <a:bodyPr rtlCol="0" anchor="ctr"/>
          <a:lstStyle/>
          <a:p>
            <a:pPr algn="ctr"/>
          </a:p>
        </p:txBody>
      </p:sp>
      <p:sp>
        <p:nvSpPr>
          <p:cNvPr id="3" name="TextBox 2"/>
          <p:cNvSpPr txBox="1"/>
          <p:nvPr/>
        </p:nvSpPr>
        <p:spPr>
          <a:xfrm>
            <a:off x="640080" y="566928"/>
            <a:ext cx="6400800" cy="274320"/>
          </a:xfrm>
          <a:prstGeom prst="rect">
            <a:avLst/>
          </a:prstGeom>
          <a:noFill/>
        </p:spPr>
        <p:txBody>
          <a:bodyPr wrap="square" anchor="t" lIns="0" rIns="0" tIns="0" bIns="0">
            <a:spAutoFit/>
          </a:bodyPr>
          <a:lstStyle/>
          <a:p>
            <a:pPr algn="l"/>
            <a:r>
              <a:rPr sz="1200" b="1" i="0">
                <a:solidFill>
                  <a:srgbClr val="2A9D8F"/>
                </a:solidFill>
                <a:latin typeface="Aptos"/>
              </a:rPr>
              <a:t>NHÀ GIÁO SÁNG TẠO VỚI CÔNG NGHỆ SỐ VÀ </a:t>
            </a:r>
            <a:r>
              <a:rPr sz="1200" b="1" i="0">
                <a:solidFill>
                  <a:srgbClr val="C2410C"/>
                </a:solidFill>
                <a:latin typeface="Aptos"/>
              </a:rPr>
              <a:t>AI</a:t>
            </a:r>
            <a:r>
              <a:rPr sz="1200" b="1" i="0">
                <a:solidFill>
                  <a:srgbClr val="2A9D8F"/>
                </a:solidFill>
                <a:latin typeface="Aptos"/>
              </a:rPr>
              <a:t> · 2026</a:t>
            </a:r>
          </a:p>
        </p:txBody>
      </p:sp>
      <p:sp>
        <p:nvSpPr>
          <p:cNvPr id="4" name="TextBox 3"/>
          <p:cNvSpPr txBox="1"/>
          <p:nvPr/>
        </p:nvSpPr>
        <p:spPr>
          <a:xfrm>
            <a:off x="640080" y="1051560"/>
            <a:ext cx="6583680" cy="1188720"/>
          </a:xfrm>
          <a:prstGeom prst="rect">
            <a:avLst/>
          </a:prstGeom>
          <a:noFill/>
        </p:spPr>
        <p:txBody>
          <a:bodyPr wrap="square" anchor="ctr" lIns="0" rIns="0" tIns="0" bIns="0">
            <a:spAutoFit/>
          </a:bodyPr>
          <a:lstStyle/>
          <a:p>
            <a:pPr algn="l"/>
            <a:r>
              <a:rPr sz="4400" b="1" i="0">
                <a:solidFill>
                  <a:srgbClr val="0F4C47"/>
                </a:solidFill>
                <a:latin typeface="Aptos"/>
              </a:rPr>
              <a:t>Sổ theo dõi học sinh</a:t>
            </a:r>
          </a:p>
        </p:txBody>
      </p:sp>
      <p:sp>
        <p:nvSpPr>
          <p:cNvPr id="5" name="TextBox 4"/>
          <p:cNvSpPr txBox="1"/>
          <p:nvPr/>
        </p:nvSpPr>
        <p:spPr>
          <a:xfrm>
            <a:off x="640080" y="2240280"/>
            <a:ext cx="6309360" cy="1371600"/>
          </a:xfrm>
          <a:prstGeom prst="rect">
            <a:avLst/>
          </a:prstGeom>
          <a:noFill/>
        </p:spPr>
        <p:txBody>
          <a:bodyPr wrap="square" anchor="t" lIns="0" rIns="0" tIns="0" bIns="0">
            <a:spAutoFit/>
          </a:bodyPr>
          <a:lstStyle/>
          <a:p>
            <a:pPr algn="l"/>
            <a:r>
              <a:rPr sz="1700" b="0" i="0">
                <a:solidFill>
                  <a:srgbClr val="1F2D2C"/>
                </a:solidFill>
                <a:latin typeface="Aptos"/>
              </a:rPr>
              <a:t>Ứng dụng kết nối giáo viên, học sinh và phụ huynh. </a:t>
            </a:r>
            <a:r>
              <a:rPr sz="1700" b="1" i="0">
                <a:solidFill>
                  <a:srgbClr val="0F4C47"/>
                </a:solidFill>
                <a:latin typeface="Aptos"/>
              </a:rPr>
              <a:t>Giai đoạn đầu: theo dõi, đánh giá hạnh kiểm và nề nếp học sinh</a:t>
            </a:r>
            <a:r>
              <a:rPr sz="1700" b="0" i="0">
                <a:solidFill>
                  <a:srgbClr val="1F2D2C"/>
                </a:solidFill>
                <a:latin typeface="Aptos"/>
              </a:rPr>
              <a:t>, thí điểm tại lớp 11D3.</a:t>
            </a:r>
          </a:p>
        </p:txBody>
      </p:sp>
      <p:sp>
        <p:nvSpPr>
          <p:cNvPr id="6" name="Rounded Rectangle 5"/>
          <p:cNvSpPr/>
          <p:nvPr/>
        </p:nvSpPr>
        <p:spPr>
          <a:xfrm>
            <a:off x="640080" y="3749039"/>
            <a:ext cx="1585237" cy="310896"/>
          </a:xfrm>
          <a:prstGeom prst="roundRect">
            <a:avLst>
              <a:gd name="adj" fmla="val 50000"/>
            </a:avLst>
          </a:prstGeom>
          <a:solidFill>
            <a:srgbClr val="E0F2F1"/>
          </a:solidFill>
          <a:ln>
            <a:noFill/>
          </a:ln>
          <a:effectLst/>
        </p:spPr>
        <p:txBody>
          <a:bodyPr rtlCol="0" anchor="ctr"/>
          <a:lstStyle/>
          <a:p>
            <a:pPr algn="ctr"/>
          </a:p>
        </p:txBody>
      </p:sp>
      <p:sp>
        <p:nvSpPr>
          <p:cNvPr id="7" name="TextBox 6"/>
          <p:cNvSpPr txBox="1"/>
          <p:nvPr/>
        </p:nvSpPr>
        <p:spPr>
          <a:xfrm>
            <a:off x="640080" y="3749039"/>
            <a:ext cx="1585237" cy="310896"/>
          </a:xfrm>
          <a:prstGeom prst="rect">
            <a:avLst/>
          </a:prstGeom>
          <a:noFill/>
        </p:spPr>
        <p:txBody>
          <a:bodyPr wrap="square" anchor="ctr" lIns="0" rIns="0" tIns="0" bIns="0">
            <a:spAutoFit/>
          </a:bodyPr>
          <a:lstStyle/>
          <a:p>
            <a:pPr algn="ctr"/>
            <a:r>
              <a:rPr sz="1200" b="1" i="0">
                <a:solidFill>
                  <a:srgbClr val="0F4C47"/>
                </a:solidFill>
                <a:latin typeface="Aptos"/>
              </a:rPr>
              <a:t>Quản lý học sinh</a:t>
            </a:r>
          </a:p>
        </p:txBody>
      </p:sp>
      <p:sp>
        <p:nvSpPr>
          <p:cNvPr id="8" name="Rounded Rectangle 7"/>
          <p:cNvSpPr/>
          <p:nvPr/>
        </p:nvSpPr>
        <p:spPr>
          <a:xfrm>
            <a:off x="2335045" y="3749039"/>
            <a:ext cx="1754816" cy="310896"/>
          </a:xfrm>
          <a:prstGeom prst="roundRect">
            <a:avLst>
              <a:gd name="adj" fmla="val 50000"/>
            </a:avLst>
          </a:prstGeom>
          <a:solidFill>
            <a:srgbClr val="E0F2F1"/>
          </a:solidFill>
          <a:ln>
            <a:noFill/>
          </a:ln>
          <a:effectLst/>
        </p:spPr>
        <p:txBody>
          <a:bodyPr rtlCol="0" anchor="ctr"/>
          <a:lstStyle/>
          <a:p>
            <a:pPr algn="ctr"/>
          </a:p>
        </p:txBody>
      </p:sp>
      <p:sp>
        <p:nvSpPr>
          <p:cNvPr id="9" name="TextBox 8"/>
          <p:cNvSpPr txBox="1"/>
          <p:nvPr/>
        </p:nvSpPr>
        <p:spPr>
          <a:xfrm>
            <a:off x="2335045" y="3749039"/>
            <a:ext cx="1754816" cy="310896"/>
          </a:xfrm>
          <a:prstGeom prst="rect">
            <a:avLst/>
          </a:prstGeom>
          <a:noFill/>
        </p:spPr>
        <p:txBody>
          <a:bodyPr wrap="square" anchor="ctr" lIns="0" rIns="0" tIns="0" bIns="0">
            <a:spAutoFit/>
          </a:bodyPr>
          <a:lstStyle/>
          <a:p>
            <a:pPr algn="ctr"/>
            <a:r>
              <a:rPr sz="1200" b="1" i="0">
                <a:solidFill>
                  <a:srgbClr val="0F4C47"/>
                </a:solidFill>
                <a:latin typeface="Aptos"/>
              </a:rPr>
              <a:t>Kiểm tra, đánh giá</a:t>
            </a:r>
          </a:p>
        </p:txBody>
      </p:sp>
      <p:sp>
        <p:nvSpPr>
          <p:cNvPr id="10" name="Rounded Rectangle 9"/>
          <p:cNvSpPr/>
          <p:nvPr/>
        </p:nvSpPr>
        <p:spPr>
          <a:xfrm>
            <a:off x="4199589" y="3749039"/>
            <a:ext cx="2433135" cy="310896"/>
          </a:xfrm>
          <a:prstGeom prst="roundRect">
            <a:avLst>
              <a:gd name="adj" fmla="val 50000"/>
            </a:avLst>
          </a:prstGeom>
          <a:solidFill>
            <a:srgbClr val="E0F2F1"/>
          </a:solidFill>
          <a:ln>
            <a:noFill/>
          </a:ln>
          <a:effectLst/>
        </p:spPr>
        <p:txBody>
          <a:bodyPr rtlCol="0" anchor="ctr"/>
          <a:lstStyle/>
          <a:p>
            <a:pPr algn="ctr"/>
          </a:p>
        </p:txBody>
      </p:sp>
      <p:sp>
        <p:nvSpPr>
          <p:cNvPr id="11" name="TextBox 10"/>
          <p:cNvSpPr txBox="1"/>
          <p:nvPr/>
        </p:nvSpPr>
        <p:spPr>
          <a:xfrm>
            <a:off x="4199589" y="3749039"/>
            <a:ext cx="2433135" cy="310896"/>
          </a:xfrm>
          <a:prstGeom prst="rect">
            <a:avLst/>
          </a:prstGeom>
          <a:noFill/>
        </p:spPr>
        <p:txBody>
          <a:bodyPr wrap="square" anchor="ctr" lIns="0" rIns="0" tIns="0" bIns="0">
            <a:spAutoFit/>
          </a:bodyPr>
          <a:lstStyle/>
          <a:p>
            <a:pPr algn="ctr"/>
            <a:r>
              <a:rPr sz="1200" b="1" i="0">
                <a:solidFill>
                  <a:srgbClr val="0F4C47"/>
                </a:solidFill>
                <a:latin typeface="Aptos"/>
              </a:rPr>
              <a:t>Ứng dụng </a:t>
            </a:r>
            <a:r>
              <a:rPr sz="1200" b="1" i="0">
                <a:solidFill>
                  <a:srgbClr val="C2410C"/>
                </a:solidFill>
                <a:latin typeface="Aptos"/>
              </a:rPr>
              <a:t>AI</a:t>
            </a:r>
            <a:r>
              <a:rPr sz="1200" b="1" i="0">
                <a:solidFill>
                  <a:srgbClr val="0F4C47"/>
                </a:solidFill>
                <a:latin typeface="Aptos"/>
              </a:rPr>
              <a:t> có trách nhiệm</a:t>
            </a:r>
          </a:p>
        </p:txBody>
      </p:sp>
      <p:cxnSp>
        <p:nvCxnSpPr>
          <p:cNvPr id="12" name="Connector 11"/>
          <p:cNvCxnSpPr/>
          <p:nvPr/>
        </p:nvCxnSpPr>
        <p:spPr>
          <a:xfrm>
            <a:off x="640080" y="4480560"/>
            <a:ext cx="6126480"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4663440"/>
            <a:ext cx="6217920" cy="1188720"/>
          </a:xfrm>
          <a:prstGeom prst="rect">
            <a:avLst/>
          </a:prstGeom>
          <a:noFill/>
        </p:spPr>
        <p:txBody>
          <a:bodyPr wrap="square" anchor="t" lIns="0" rIns="0" tIns="0" bIns="0">
            <a:spAutoFit/>
          </a:bodyPr>
          <a:lstStyle/>
          <a:p>
            <a:pPr algn="l">
              <a:spcAft>
                <a:spcPts val="400"/>
              </a:spcAft>
            </a:pPr>
            <a:r>
              <a:rPr sz="1300" b="0" i="0">
                <a:solidFill>
                  <a:srgbClr val="5F7472"/>
                </a:solidFill>
                <a:latin typeface="Aptos"/>
              </a:rPr>
              <a:t>Tác giả: </a:t>
            </a:r>
            <a:r>
              <a:rPr sz="1500" b="1" i="0">
                <a:solidFill>
                  <a:srgbClr val="0F4C47"/>
                </a:solidFill>
                <a:latin typeface="Aptos"/>
              </a:rPr>
              <a:t>Nguyễn Thị Thu Thảo</a:t>
            </a:r>
          </a:p>
          <a:p>
            <a:pPr algn="l">
              <a:spcAft>
                <a:spcPts val="400"/>
              </a:spcAft>
            </a:pPr>
            <a:r>
              <a:rPr sz="1300" b="0" i="0">
                <a:solidFill>
                  <a:srgbClr val="1F2D2C"/>
                </a:solidFill>
                <a:latin typeface="Aptos"/>
              </a:rPr>
              <a:t>Giáo viên chủ nhiệm lớp 11D3 · Trường THPT Yên Hòa · Hà Nội</a:t>
            </a:r>
          </a:p>
          <a:p>
            <a:pPr algn="l">
              <a:spcAft>
                <a:spcPts val="400"/>
              </a:spcAft>
            </a:pPr>
            <a:r>
              <a:rPr sz="1300" b="0" i="0">
                <a:solidFill>
                  <a:srgbClr val="5F7472"/>
                </a:solidFill>
                <a:latin typeface="Aptos"/>
              </a:rPr>
              <a:t>Năm học 2026 to 2027</a:t>
            </a:r>
          </a:p>
        </p:txBody>
      </p:sp>
      <p:sp>
        <p:nvSpPr>
          <p:cNvPr id="14" name="Rectangle 13"/>
          <p:cNvSpPr/>
          <p:nvPr/>
        </p:nvSpPr>
        <p:spPr>
          <a:xfrm>
            <a:off x="7406640" y="0"/>
            <a:ext cx="4785055" cy="6858000"/>
          </a:xfrm>
          <a:prstGeom prst="rect">
            <a:avLst/>
          </a:prstGeom>
          <a:solidFill>
            <a:srgbClr val="0F766E"/>
          </a:solidFill>
          <a:ln>
            <a:noFill/>
          </a:ln>
          <a:effectLst/>
        </p:spPr>
        <p:txBody>
          <a:bodyPr rtlCol="0" anchor="ctr"/>
          <a:lstStyle/>
          <a:p>
            <a:pPr algn="ctr"/>
          </a:p>
        </p:txBody>
      </p:sp>
      <p:sp>
        <p:nvSpPr>
          <p:cNvPr id="15" name="Rounded Rectangle 14"/>
          <p:cNvSpPr/>
          <p:nvPr/>
        </p:nvSpPr>
        <p:spPr>
          <a:xfrm>
            <a:off x="7818120" y="822960"/>
            <a:ext cx="3977639" cy="2697480"/>
          </a:xfrm>
          <a:prstGeom prst="roundRect">
            <a:avLst>
              <a:gd name="adj" fmla="val 3000"/>
            </a:avLst>
          </a:prstGeom>
          <a:solidFill>
            <a:srgbClr val="FFFFFF"/>
          </a:solidFill>
          <a:ln>
            <a:noFill/>
          </a:ln>
          <a:effectLst/>
        </p:spPr>
        <p:txBody>
          <a:bodyPr rtlCol="0" anchor="ctr"/>
          <a:lstStyle/>
          <a:p>
            <a:pPr algn="ctr"/>
          </a:p>
        </p:txBody>
      </p:sp>
      <p:pic>
        <p:nvPicPr>
          <p:cNvPr id="16" name="Picture 15" descr="d_bang.png"/>
          <p:cNvPicPr>
            <a:picLocks noChangeAspect="1"/>
          </p:cNvPicPr>
          <p:nvPr/>
        </p:nvPicPr>
        <p:blipFill>
          <a:blip r:embed="rId2"/>
          <a:stretch>
            <a:fillRect/>
          </a:stretch>
        </p:blipFill>
        <p:spPr>
          <a:xfrm>
            <a:off x="7909560" y="985837"/>
            <a:ext cx="3794760" cy="2371725"/>
          </a:xfrm>
          <a:prstGeom prst="rect">
            <a:avLst/>
          </a:prstGeom>
        </p:spPr>
      </p:pic>
      <p:sp>
        <p:nvSpPr>
          <p:cNvPr id="17" name="Rounded Rectangle 16"/>
          <p:cNvSpPr/>
          <p:nvPr/>
        </p:nvSpPr>
        <p:spPr>
          <a:xfrm>
            <a:off x="10433304" y="2615184"/>
            <a:ext cx="1721022" cy="3639312"/>
          </a:xfrm>
          <a:prstGeom prst="roundRect">
            <a:avLst>
              <a:gd name="adj" fmla="val 2000"/>
            </a:avLst>
          </a:prstGeom>
          <a:solidFill>
            <a:srgbClr val="D5E3E2"/>
          </a:solidFill>
          <a:ln>
            <a:noFill/>
          </a:ln>
          <a:effectLst/>
        </p:spPr>
        <p:txBody>
          <a:bodyPr rtlCol="0" anchor="ctr"/>
          <a:lstStyle/>
          <a:p>
            <a:pPr algn="ctr"/>
          </a:p>
        </p:txBody>
      </p:sp>
      <p:pic>
        <p:nvPicPr>
          <p:cNvPr id="18" name="Picture 17" descr="m_ghi.png"/>
          <p:cNvPicPr>
            <a:picLocks noChangeAspect="1"/>
          </p:cNvPicPr>
          <p:nvPr/>
        </p:nvPicPr>
        <p:blipFill>
          <a:blip r:embed="rId3"/>
          <a:stretch>
            <a:fillRect/>
          </a:stretch>
        </p:blipFill>
        <p:spPr>
          <a:xfrm>
            <a:off x="10469880" y="2651760"/>
            <a:ext cx="1647870" cy="3566160"/>
          </a:xfrm>
          <a:prstGeom prst="rect">
            <a:avLst/>
          </a:prstGeom>
        </p:spPr>
      </p:pic>
      <p:pic>
        <p:nvPicPr>
          <p:cNvPr id="19" name="Picture 18" descr="c_chu-nhiem_chao.png"/>
          <p:cNvPicPr>
            <a:picLocks noChangeAspect="1"/>
          </p:cNvPicPr>
          <p:nvPr/>
        </p:nvPicPr>
        <p:blipFill>
          <a:blip r:embed="rId4"/>
          <a:stretch>
            <a:fillRect/>
          </a:stretch>
        </p:blipFill>
        <p:spPr>
          <a:xfrm>
            <a:off x="7772400" y="3611880"/>
            <a:ext cx="2834640" cy="2834640"/>
          </a:xfrm>
          <a:prstGeom prst="rect">
            <a:avLst/>
          </a:prstGeom>
        </p:spPr>
      </p:pic>
      <p:sp>
        <p:nvSpPr>
          <p:cNvPr id="20" name="TextBox 19"/>
          <p:cNvSpPr txBox="1"/>
          <p:nvPr/>
        </p:nvSpPr>
        <p:spPr>
          <a:xfrm>
            <a:off x="7818120" y="6355080"/>
            <a:ext cx="4023360" cy="274320"/>
          </a:xfrm>
          <a:prstGeom prst="rect">
            <a:avLst/>
          </a:prstGeom>
          <a:noFill/>
        </p:spPr>
        <p:txBody>
          <a:bodyPr wrap="square" anchor="t" lIns="0" rIns="0" tIns="0" bIns="0">
            <a:spAutoFit/>
          </a:bodyPr>
          <a:lstStyle/>
          <a:p>
            <a:pPr algn="l"/>
            <a:r>
              <a:rPr sz="1000" b="0" i="1">
                <a:solidFill>
                  <a:srgbClr val="99D5CF"/>
                </a:solidFill>
                <a:latin typeface="Aptos"/>
              </a:rPr>
              <a:t>Ảnh chụp từ ứng dụng · dữ liệu mẫu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MỤC LỤC</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02</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Bài trình bày gồm 5 phần</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20624"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8" name="TextBox 7"/>
          <p:cNvSpPr txBox="1"/>
          <p:nvPr/>
        </p:nvSpPr>
        <p:spPr>
          <a:xfrm>
            <a:off x="512064"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MỞ ĐẦU</a:t>
            </a:r>
          </a:p>
        </p:txBody>
      </p:sp>
      <p:sp>
        <p:nvSpPr>
          <p:cNvPr id="9" name="TextBox 8"/>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10" name="TextBox 9"/>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1" name="TextBox 10"/>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2" name="TextBox 11"/>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3" name="TextBox 12"/>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sp>
        <p:nvSpPr>
          <p:cNvPr id="14" name="TextBox 13"/>
          <p:cNvSpPr txBox="1"/>
          <p:nvPr/>
        </p:nvSpPr>
        <p:spPr>
          <a:xfrm>
            <a:off x="420624" y="1298448"/>
            <a:ext cx="731520" cy="640080"/>
          </a:xfrm>
          <a:prstGeom prst="rect">
            <a:avLst/>
          </a:prstGeom>
          <a:noFill/>
        </p:spPr>
        <p:txBody>
          <a:bodyPr wrap="square" anchor="ctr" lIns="0" rIns="0" tIns="0" bIns="0">
            <a:spAutoFit/>
          </a:bodyPr>
          <a:lstStyle/>
          <a:p>
            <a:pPr algn="l"/>
            <a:r>
              <a:rPr sz="2600" b="1" i="0">
                <a:solidFill>
                  <a:srgbClr val="2A9D8F"/>
                </a:solidFill>
                <a:latin typeface="Aptos"/>
              </a:rPr>
              <a:t>I</a:t>
            </a:r>
          </a:p>
        </p:txBody>
      </p:sp>
      <p:sp>
        <p:nvSpPr>
          <p:cNvPr id="15" name="TextBox 14"/>
          <p:cNvSpPr txBox="1"/>
          <p:nvPr/>
        </p:nvSpPr>
        <p:spPr>
          <a:xfrm>
            <a:off x="1234440" y="1298448"/>
            <a:ext cx="2011680" cy="640080"/>
          </a:xfrm>
          <a:prstGeom prst="rect">
            <a:avLst/>
          </a:prstGeom>
          <a:noFill/>
        </p:spPr>
        <p:txBody>
          <a:bodyPr wrap="square" anchor="ctr" lIns="0" rIns="0" tIns="0" bIns="0">
            <a:spAutoFit/>
          </a:bodyPr>
          <a:lstStyle/>
          <a:p>
            <a:pPr algn="l"/>
            <a:r>
              <a:rPr sz="2000" b="1" i="0">
                <a:solidFill>
                  <a:srgbClr val="0F4C47"/>
                </a:solidFill>
                <a:latin typeface="Aptos"/>
              </a:rPr>
              <a:t>Vấn đề</a:t>
            </a:r>
          </a:p>
        </p:txBody>
      </p:sp>
      <p:sp>
        <p:nvSpPr>
          <p:cNvPr id="16" name="TextBox 15"/>
          <p:cNvSpPr txBox="1"/>
          <p:nvPr/>
        </p:nvSpPr>
        <p:spPr>
          <a:xfrm>
            <a:off x="3291840" y="1298448"/>
            <a:ext cx="4754880" cy="640080"/>
          </a:xfrm>
          <a:prstGeom prst="rect">
            <a:avLst/>
          </a:prstGeom>
          <a:noFill/>
        </p:spPr>
        <p:txBody>
          <a:bodyPr wrap="square" anchor="ctr" lIns="0" rIns="0" tIns="0" bIns="0">
            <a:spAutoFit/>
          </a:bodyPr>
          <a:lstStyle/>
          <a:p>
            <a:pPr algn="l"/>
            <a:r>
              <a:rPr sz="1400" b="0" i="0">
                <a:solidFill>
                  <a:srgbClr val="5F7472"/>
                </a:solidFill>
                <a:latin typeface="Aptos"/>
              </a:rPr>
              <a:t>Lưu trữ, tra cứu, kết nối phụ huynh và khó khăn của cách cũ</a:t>
            </a:r>
          </a:p>
        </p:txBody>
      </p:sp>
      <p:sp>
        <p:nvSpPr>
          <p:cNvPr id="17" name="TextBox 16"/>
          <p:cNvSpPr txBox="1"/>
          <p:nvPr/>
        </p:nvSpPr>
        <p:spPr>
          <a:xfrm>
            <a:off x="8046720" y="1298448"/>
            <a:ext cx="548640" cy="640080"/>
          </a:xfrm>
          <a:prstGeom prst="rect">
            <a:avLst/>
          </a:prstGeom>
          <a:noFill/>
        </p:spPr>
        <p:txBody>
          <a:bodyPr wrap="square" anchor="ctr" lIns="0" rIns="0" tIns="0" bIns="0">
            <a:spAutoFit/>
          </a:bodyPr>
          <a:lstStyle/>
          <a:p>
            <a:pPr algn="r"/>
            <a:r>
              <a:rPr sz="1400" b="1" i="0">
                <a:solidFill>
                  <a:srgbClr val="2A9D8F"/>
                </a:solidFill>
                <a:latin typeface="Aptos"/>
              </a:rPr>
              <a:t>03</a:t>
            </a:r>
          </a:p>
        </p:txBody>
      </p:sp>
      <p:cxnSp>
        <p:nvCxnSpPr>
          <p:cNvPr id="18" name="Connector 17"/>
          <p:cNvCxnSpPr/>
          <p:nvPr/>
        </p:nvCxnSpPr>
        <p:spPr>
          <a:xfrm>
            <a:off x="420624" y="2075688"/>
            <a:ext cx="8174736"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0624" y="2212848"/>
            <a:ext cx="731520" cy="640080"/>
          </a:xfrm>
          <a:prstGeom prst="rect">
            <a:avLst/>
          </a:prstGeom>
          <a:noFill/>
        </p:spPr>
        <p:txBody>
          <a:bodyPr wrap="square" anchor="ctr" lIns="0" rIns="0" tIns="0" bIns="0">
            <a:spAutoFit/>
          </a:bodyPr>
          <a:lstStyle/>
          <a:p>
            <a:pPr algn="l"/>
            <a:r>
              <a:rPr sz="2600" b="1" i="0">
                <a:solidFill>
                  <a:srgbClr val="2A9D8F"/>
                </a:solidFill>
                <a:latin typeface="Aptos"/>
              </a:rPr>
              <a:t>II</a:t>
            </a:r>
          </a:p>
        </p:txBody>
      </p:sp>
      <p:sp>
        <p:nvSpPr>
          <p:cNvPr id="20" name="TextBox 19"/>
          <p:cNvSpPr txBox="1"/>
          <p:nvPr/>
        </p:nvSpPr>
        <p:spPr>
          <a:xfrm>
            <a:off x="1234440" y="2212848"/>
            <a:ext cx="2011680" cy="640080"/>
          </a:xfrm>
          <a:prstGeom prst="rect">
            <a:avLst/>
          </a:prstGeom>
          <a:noFill/>
        </p:spPr>
        <p:txBody>
          <a:bodyPr wrap="square" anchor="ctr" lIns="0" rIns="0" tIns="0" bIns="0">
            <a:spAutoFit/>
          </a:bodyPr>
          <a:lstStyle/>
          <a:p>
            <a:pPr algn="l"/>
            <a:r>
              <a:rPr sz="2000" b="1" i="0">
                <a:solidFill>
                  <a:srgbClr val="0F4C47"/>
                </a:solidFill>
                <a:latin typeface="Aptos"/>
              </a:rPr>
              <a:t>Giải pháp</a:t>
            </a:r>
          </a:p>
        </p:txBody>
      </p:sp>
      <p:sp>
        <p:nvSpPr>
          <p:cNvPr id="21" name="TextBox 20"/>
          <p:cNvSpPr txBox="1"/>
          <p:nvPr/>
        </p:nvSpPr>
        <p:spPr>
          <a:xfrm>
            <a:off x="3291840" y="2212848"/>
            <a:ext cx="4754880" cy="640080"/>
          </a:xfrm>
          <a:prstGeom prst="rect">
            <a:avLst/>
          </a:prstGeom>
          <a:noFill/>
        </p:spPr>
        <p:txBody>
          <a:bodyPr wrap="square" anchor="ctr" lIns="0" rIns="0" tIns="0" bIns="0">
            <a:spAutoFit/>
          </a:bodyPr>
          <a:lstStyle/>
          <a:p>
            <a:pPr algn="l"/>
            <a:r>
              <a:rPr sz="1400" b="0" i="0">
                <a:solidFill>
                  <a:srgbClr val="5F7472"/>
                </a:solidFill>
                <a:latin typeface="Aptos"/>
              </a:rPr>
              <a:t>Cách tạo ứng dụng với </a:t>
            </a:r>
            <a:r>
              <a:rPr sz="1400" b="1" i="0">
                <a:solidFill>
                  <a:srgbClr val="C2410C"/>
                </a:solidFill>
                <a:latin typeface="Aptos"/>
              </a:rPr>
              <a:t>AI</a:t>
            </a:r>
            <a:r>
              <a:rPr sz="1400" b="0" i="0">
                <a:solidFill>
                  <a:srgbClr val="5F7472"/>
                </a:solidFill>
                <a:latin typeface="Aptos"/>
              </a:rPr>
              <a:t>, ai dùng, dùng để làm gì</a:t>
            </a:r>
          </a:p>
        </p:txBody>
      </p:sp>
      <p:sp>
        <p:nvSpPr>
          <p:cNvPr id="22" name="TextBox 21"/>
          <p:cNvSpPr txBox="1"/>
          <p:nvPr/>
        </p:nvSpPr>
        <p:spPr>
          <a:xfrm>
            <a:off x="8046720" y="2212848"/>
            <a:ext cx="548640" cy="640080"/>
          </a:xfrm>
          <a:prstGeom prst="rect">
            <a:avLst/>
          </a:prstGeom>
          <a:noFill/>
        </p:spPr>
        <p:txBody>
          <a:bodyPr wrap="square" anchor="ctr" lIns="0" rIns="0" tIns="0" bIns="0">
            <a:spAutoFit/>
          </a:bodyPr>
          <a:lstStyle/>
          <a:p>
            <a:pPr algn="r"/>
            <a:r>
              <a:rPr sz="1400" b="1" i="0">
                <a:solidFill>
                  <a:srgbClr val="2A9D8F"/>
                </a:solidFill>
                <a:latin typeface="Aptos"/>
              </a:rPr>
              <a:t>07</a:t>
            </a:r>
          </a:p>
        </p:txBody>
      </p:sp>
      <p:cxnSp>
        <p:nvCxnSpPr>
          <p:cNvPr id="23" name="Connector 22"/>
          <p:cNvCxnSpPr/>
          <p:nvPr/>
        </p:nvCxnSpPr>
        <p:spPr>
          <a:xfrm>
            <a:off x="420624" y="2990088"/>
            <a:ext cx="8174736"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20624" y="3127248"/>
            <a:ext cx="731520" cy="640080"/>
          </a:xfrm>
          <a:prstGeom prst="rect">
            <a:avLst/>
          </a:prstGeom>
          <a:noFill/>
        </p:spPr>
        <p:txBody>
          <a:bodyPr wrap="square" anchor="ctr" lIns="0" rIns="0" tIns="0" bIns="0">
            <a:spAutoFit/>
          </a:bodyPr>
          <a:lstStyle/>
          <a:p>
            <a:pPr algn="l"/>
            <a:r>
              <a:rPr sz="2600" b="1" i="0">
                <a:solidFill>
                  <a:srgbClr val="2A9D8F"/>
                </a:solidFill>
                <a:latin typeface="Aptos"/>
              </a:rPr>
              <a:t>III</a:t>
            </a:r>
          </a:p>
        </p:txBody>
      </p:sp>
      <p:sp>
        <p:nvSpPr>
          <p:cNvPr id="25" name="TextBox 24"/>
          <p:cNvSpPr txBox="1"/>
          <p:nvPr/>
        </p:nvSpPr>
        <p:spPr>
          <a:xfrm>
            <a:off x="1234440" y="3127248"/>
            <a:ext cx="2011680" cy="640080"/>
          </a:xfrm>
          <a:prstGeom prst="rect">
            <a:avLst/>
          </a:prstGeom>
          <a:noFill/>
        </p:spPr>
        <p:txBody>
          <a:bodyPr wrap="square" anchor="ctr" lIns="0" rIns="0" tIns="0" bIns="0">
            <a:spAutoFit/>
          </a:bodyPr>
          <a:lstStyle/>
          <a:p>
            <a:pPr algn="l"/>
            <a:r>
              <a:rPr sz="2000" b="1" i="0">
                <a:solidFill>
                  <a:srgbClr val="0F4C47"/>
                </a:solidFill>
                <a:latin typeface="Aptos"/>
              </a:rPr>
              <a:t>Sử dụng</a:t>
            </a:r>
          </a:p>
        </p:txBody>
      </p:sp>
      <p:sp>
        <p:nvSpPr>
          <p:cNvPr id="26" name="TextBox 25"/>
          <p:cNvSpPr txBox="1"/>
          <p:nvPr/>
        </p:nvSpPr>
        <p:spPr>
          <a:xfrm>
            <a:off x="3291840" y="3127248"/>
            <a:ext cx="4754880" cy="640080"/>
          </a:xfrm>
          <a:prstGeom prst="rect">
            <a:avLst/>
          </a:prstGeom>
          <a:noFill/>
        </p:spPr>
        <p:txBody>
          <a:bodyPr wrap="square" anchor="ctr" lIns="0" rIns="0" tIns="0" bIns="0">
            <a:spAutoFit/>
          </a:bodyPr>
          <a:lstStyle/>
          <a:p>
            <a:pPr algn="l"/>
            <a:r>
              <a:rPr sz="1400" b="0" i="0">
                <a:solidFill>
                  <a:srgbClr val="5F7472"/>
                </a:solidFill>
                <a:latin typeface="Aptos"/>
              </a:rPr>
              <a:t>Các chức năng chính qua ảnh chụp từ ứng dụng</a:t>
            </a:r>
          </a:p>
        </p:txBody>
      </p:sp>
      <p:sp>
        <p:nvSpPr>
          <p:cNvPr id="27" name="TextBox 26"/>
          <p:cNvSpPr txBox="1"/>
          <p:nvPr/>
        </p:nvSpPr>
        <p:spPr>
          <a:xfrm>
            <a:off x="8046720" y="3127248"/>
            <a:ext cx="548640" cy="640080"/>
          </a:xfrm>
          <a:prstGeom prst="rect">
            <a:avLst/>
          </a:prstGeom>
          <a:noFill/>
        </p:spPr>
        <p:txBody>
          <a:bodyPr wrap="square" anchor="ctr" lIns="0" rIns="0" tIns="0" bIns="0">
            <a:spAutoFit/>
          </a:bodyPr>
          <a:lstStyle/>
          <a:p>
            <a:pPr algn="r"/>
            <a:r>
              <a:rPr sz="1400" b="1" i="0">
                <a:solidFill>
                  <a:srgbClr val="2A9D8F"/>
                </a:solidFill>
                <a:latin typeface="Aptos"/>
              </a:rPr>
              <a:t>11</a:t>
            </a:r>
          </a:p>
        </p:txBody>
      </p:sp>
      <p:cxnSp>
        <p:nvCxnSpPr>
          <p:cNvPr id="28" name="Connector 27"/>
          <p:cNvCxnSpPr/>
          <p:nvPr/>
        </p:nvCxnSpPr>
        <p:spPr>
          <a:xfrm>
            <a:off x="420624" y="3904487"/>
            <a:ext cx="8174736"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20624" y="4041648"/>
            <a:ext cx="731520" cy="640080"/>
          </a:xfrm>
          <a:prstGeom prst="rect">
            <a:avLst/>
          </a:prstGeom>
          <a:noFill/>
        </p:spPr>
        <p:txBody>
          <a:bodyPr wrap="square" anchor="ctr" lIns="0" rIns="0" tIns="0" bIns="0">
            <a:spAutoFit/>
          </a:bodyPr>
          <a:lstStyle/>
          <a:p>
            <a:pPr algn="l"/>
            <a:r>
              <a:rPr sz="2600" b="1" i="0">
                <a:solidFill>
                  <a:srgbClr val="2A9D8F"/>
                </a:solidFill>
                <a:latin typeface="Aptos"/>
              </a:rPr>
              <a:t>IV</a:t>
            </a:r>
          </a:p>
        </p:txBody>
      </p:sp>
      <p:sp>
        <p:nvSpPr>
          <p:cNvPr id="30" name="TextBox 29"/>
          <p:cNvSpPr txBox="1"/>
          <p:nvPr/>
        </p:nvSpPr>
        <p:spPr>
          <a:xfrm>
            <a:off x="1234440" y="4041648"/>
            <a:ext cx="2011680" cy="640080"/>
          </a:xfrm>
          <a:prstGeom prst="rect">
            <a:avLst/>
          </a:prstGeom>
          <a:noFill/>
        </p:spPr>
        <p:txBody>
          <a:bodyPr wrap="square" anchor="ctr" lIns="0" rIns="0" tIns="0" bIns="0">
            <a:spAutoFit/>
          </a:bodyPr>
          <a:lstStyle/>
          <a:p>
            <a:pPr algn="l"/>
            <a:r>
              <a:rPr sz="2000" b="1" i="0">
                <a:solidFill>
                  <a:srgbClr val="0F4C47"/>
                </a:solidFill>
                <a:latin typeface="Aptos"/>
              </a:rPr>
              <a:t>Hiệu quả</a:t>
            </a:r>
          </a:p>
        </p:txBody>
      </p:sp>
      <p:sp>
        <p:nvSpPr>
          <p:cNvPr id="31" name="TextBox 30"/>
          <p:cNvSpPr txBox="1"/>
          <p:nvPr/>
        </p:nvSpPr>
        <p:spPr>
          <a:xfrm>
            <a:off x="3291840" y="4041648"/>
            <a:ext cx="4754880" cy="640080"/>
          </a:xfrm>
          <a:prstGeom prst="rect">
            <a:avLst/>
          </a:prstGeom>
          <a:noFill/>
        </p:spPr>
        <p:txBody>
          <a:bodyPr wrap="square" anchor="ctr" lIns="0" rIns="0" tIns="0" bIns="0">
            <a:spAutoFit/>
          </a:bodyPr>
          <a:lstStyle/>
          <a:p>
            <a:pPr algn="l"/>
            <a:r>
              <a:rPr sz="1400" b="0" i="0">
                <a:solidFill>
                  <a:srgbClr val="5F7472"/>
                </a:solidFill>
                <a:latin typeface="Aptos"/>
              </a:rPr>
              <a:t>So sánh với cách cũ, lợi ích, mời trải nghiệm</a:t>
            </a:r>
          </a:p>
        </p:txBody>
      </p:sp>
      <p:sp>
        <p:nvSpPr>
          <p:cNvPr id="32" name="TextBox 31"/>
          <p:cNvSpPr txBox="1"/>
          <p:nvPr/>
        </p:nvSpPr>
        <p:spPr>
          <a:xfrm>
            <a:off x="8046720" y="4041648"/>
            <a:ext cx="548640" cy="640080"/>
          </a:xfrm>
          <a:prstGeom prst="rect">
            <a:avLst/>
          </a:prstGeom>
          <a:noFill/>
        </p:spPr>
        <p:txBody>
          <a:bodyPr wrap="square" anchor="ctr" lIns="0" rIns="0" tIns="0" bIns="0">
            <a:spAutoFit/>
          </a:bodyPr>
          <a:lstStyle/>
          <a:p>
            <a:pPr algn="r"/>
            <a:r>
              <a:rPr sz="1400" b="1" i="0">
                <a:solidFill>
                  <a:srgbClr val="2A9D8F"/>
                </a:solidFill>
                <a:latin typeface="Aptos"/>
              </a:rPr>
              <a:t>17</a:t>
            </a:r>
          </a:p>
        </p:txBody>
      </p:sp>
      <p:cxnSp>
        <p:nvCxnSpPr>
          <p:cNvPr id="33" name="Connector 32"/>
          <p:cNvCxnSpPr/>
          <p:nvPr/>
        </p:nvCxnSpPr>
        <p:spPr>
          <a:xfrm>
            <a:off x="420624" y="4818888"/>
            <a:ext cx="8174736"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20624" y="4956048"/>
            <a:ext cx="731520" cy="640080"/>
          </a:xfrm>
          <a:prstGeom prst="rect">
            <a:avLst/>
          </a:prstGeom>
          <a:noFill/>
        </p:spPr>
        <p:txBody>
          <a:bodyPr wrap="square" anchor="ctr" lIns="0" rIns="0" tIns="0" bIns="0">
            <a:spAutoFit/>
          </a:bodyPr>
          <a:lstStyle/>
          <a:p>
            <a:pPr algn="l"/>
            <a:r>
              <a:rPr sz="2600" b="1" i="0">
                <a:solidFill>
                  <a:srgbClr val="2A9D8F"/>
                </a:solidFill>
                <a:latin typeface="Aptos"/>
              </a:rPr>
              <a:t>V</a:t>
            </a:r>
          </a:p>
        </p:txBody>
      </p:sp>
      <p:sp>
        <p:nvSpPr>
          <p:cNvPr id="35" name="TextBox 34"/>
          <p:cNvSpPr txBox="1"/>
          <p:nvPr/>
        </p:nvSpPr>
        <p:spPr>
          <a:xfrm>
            <a:off x="1234440" y="4956048"/>
            <a:ext cx="2011680" cy="640080"/>
          </a:xfrm>
          <a:prstGeom prst="rect">
            <a:avLst/>
          </a:prstGeom>
          <a:noFill/>
        </p:spPr>
        <p:txBody>
          <a:bodyPr wrap="square" anchor="ctr" lIns="0" rIns="0" tIns="0" bIns="0">
            <a:spAutoFit/>
          </a:bodyPr>
          <a:lstStyle/>
          <a:p>
            <a:pPr algn="l"/>
            <a:r>
              <a:rPr sz="2000" b="1" i="0">
                <a:solidFill>
                  <a:srgbClr val="0F4C47"/>
                </a:solidFill>
                <a:latin typeface="Aptos"/>
              </a:rPr>
              <a:t>Mở rộng</a:t>
            </a:r>
          </a:p>
        </p:txBody>
      </p:sp>
      <p:sp>
        <p:nvSpPr>
          <p:cNvPr id="36" name="TextBox 35"/>
          <p:cNvSpPr txBox="1"/>
          <p:nvPr/>
        </p:nvSpPr>
        <p:spPr>
          <a:xfrm>
            <a:off x="3291840" y="4956048"/>
            <a:ext cx="4754880" cy="640080"/>
          </a:xfrm>
          <a:prstGeom prst="rect">
            <a:avLst/>
          </a:prstGeom>
          <a:noFill/>
        </p:spPr>
        <p:txBody>
          <a:bodyPr wrap="square" anchor="ctr" lIns="0" rIns="0" tIns="0" bIns="0">
            <a:spAutoFit/>
          </a:bodyPr>
          <a:lstStyle/>
          <a:p>
            <a:pPr algn="l"/>
            <a:r>
              <a:rPr sz="1400" b="0" i="0">
                <a:solidFill>
                  <a:srgbClr val="5F7472"/>
                </a:solidFill>
                <a:latin typeface="Aptos"/>
              </a:rPr>
              <a:t>Sổ liên lạc điện tử, bảo vệ dữ liệu, mã QR</a:t>
            </a:r>
          </a:p>
        </p:txBody>
      </p:sp>
      <p:sp>
        <p:nvSpPr>
          <p:cNvPr id="37" name="TextBox 36"/>
          <p:cNvSpPr txBox="1"/>
          <p:nvPr/>
        </p:nvSpPr>
        <p:spPr>
          <a:xfrm>
            <a:off x="8046720" y="4956048"/>
            <a:ext cx="548640" cy="640080"/>
          </a:xfrm>
          <a:prstGeom prst="rect">
            <a:avLst/>
          </a:prstGeom>
          <a:noFill/>
        </p:spPr>
        <p:txBody>
          <a:bodyPr wrap="square" anchor="ctr" lIns="0" rIns="0" tIns="0" bIns="0">
            <a:spAutoFit/>
          </a:bodyPr>
          <a:lstStyle/>
          <a:p>
            <a:pPr algn="r"/>
            <a:r>
              <a:rPr sz="1400" b="1" i="0">
                <a:solidFill>
                  <a:srgbClr val="2A9D8F"/>
                </a:solidFill>
                <a:latin typeface="Aptos"/>
              </a:rPr>
              <a:t>20</a:t>
            </a:r>
          </a:p>
        </p:txBody>
      </p:sp>
      <p:sp>
        <p:nvSpPr>
          <p:cNvPr id="38" name="Rounded Rectangle 37"/>
          <p:cNvSpPr/>
          <p:nvPr/>
        </p:nvSpPr>
        <p:spPr>
          <a:xfrm>
            <a:off x="9052560" y="1234440"/>
            <a:ext cx="2715768" cy="4663440"/>
          </a:xfrm>
          <a:prstGeom prst="roundRect">
            <a:avLst>
              <a:gd name="adj" fmla="val 6000"/>
            </a:avLst>
          </a:prstGeom>
          <a:solidFill>
            <a:srgbClr val="E0F2F1"/>
          </a:solidFill>
          <a:ln>
            <a:noFill/>
          </a:ln>
          <a:effectLst/>
        </p:spPr>
        <p:txBody>
          <a:bodyPr rtlCol="0" anchor="ctr"/>
          <a:lstStyle/>
          <a:p>
            <a:pPr algn="ctr"/>
          </a:p>
        </p:txBody>
      </p:sp>
      <p:pic>
        <p:nvPicPr>
          <p:cNvPr id="39" name="Picture 38" descr="c_giang-day_co-vu.png"/>
          <p:cNvPicPr>
            <a:picLocks noChangeAspect="1"/>
          </p:cNvPicPr>
          <p:nvPr/>
        </p:nvPicPr>
        <p:blipFill>
          <a:blip r:embed="rId2"/>
          <a:stretch>
            <a:fillRect/>
          </a:stretch>
        </p:blipFill>
        <p:spPr>
          <a:xfrm>
            <a:off x="9052560" y="1463040"/>
            <a:ext cx="4206240" cy="42062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8595360" y="1234440"/>
            <a:ext cx="3172968" cy="4233672"/>
          </a:xfrm>
          <a:prstGeom prst="rect">
            <a:avLst/>
          </a:prstGeom>
          <a:solidFill>
            <a:srgbClr val="F4F7F7"/>
          </a:solidFill>
          <a:ln>
            <a:noFill/>
          </a:ln>
          <a:effectLst/>
        </p:spPr>
        <p:txBody>
          <a:bodyPr rtlCol="0" anchor="ctr"/>
          <a:lstStyle/>
          <a:p>
            <a:pPr algn="ctr"/>
          </a:p>
        </p:txBody>
      </p:sp>
      <p:sp>
        <p:nvSpPr>
          <p:cNvPr id="4" name="TextBox 3"/>
          <p:cNvSpPr txBox="1"/>
          <p:nvPr/>
        </p:nvSpPr>
        <p:spPr>
          <a:xfrm>
            <a:off x="8595360" y="3168396"/>
            <a:ext cx="3172968" cy="365760"/>
          </a:xfrm>
          <a:prstGeom prst="rect">
            <a:avLst/>
          </a:prstGeom>
          <a:noFill/>
        </p:spPr>
        <p:txBody>
          <a:bodyPr wrap="square" anchor="ctr" lIns="0" rIns="0" tIns="0" bIns="0">
            <a:spAutoFit/>
          </a:bodyPr>
          <a:lstStyle/>
          <a:p>
            <a:pPr algn="ctr"/>
            <a:r>
              <a:rPr sz="1300" b="1" i="0">
                <a:solidFill>
                  <a:srgbClr val="5F7472"/>
                </a:solidFill>
                <a:latin typeface="Aptos"/>
              </a:rPr>
              <a:t>ẢNH 01 · 3:4</a:t>
            </a:r>
          </a:p>
        </p:txBody>
      </p:sp>
      <p:sp>
        <p:nvSpPr>
          <p:cNvPr id="2" name="Picture Placeholder 1"/>
          <p:cNvSpPr>
            <a:spLocks noGrp="1"/>
          </p:cNvSpPr>
          <p:nvPr>
            <p:ph type="pic" idx="20" sz="quarter"/>
          </p:nvPr>
        </p:nvSpPr>
        <p:spPr/>
        <p:txBody>
          <a:bodyPr/>
          <a:p/>
        </p:txBody>
      </p:sp>
      <p:cxnSp>
        <p:nvCxnSpPr>
          <p:cNvPr id="5" name="Connector 4"/>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 · VẤN ĐỀ</a:t>
            </a:r>
          </a:p>
        </p:txBody>
      </p:sp>
      <p:sp>
        <p:nvSpPr>
          <p:cNvPr id="7" name="TextBox 6"/>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03</a:t>
            </a:r>
          </a:p>
        </p:txBody>
      </p:sp>
      <p:sp>
        <p:nvSpPr>
          <p:cNvPr id="8" name="TextBox 7"/>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Lưu trữ và tra cứu tốt là nền tảng của công tác chủ nhiệm</a:t>
            </a:r>
          </a:p>
        </p:txBody>
      </p:sp>
      <p:cxnSp>
        <p:nvCxnSpPr>
          <p:cNvPr id="9" name="Connector 8"/>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11" name="Rounded Rectangle 10"/>
          <p:cNvSpPr/>
          <p:nvPr/>
        </p:nvSpPr>
        <p:spPr>
          <a:xfrm>
            <a:off x="2324100"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2" name="TextBox 11"/>
          <p:cNvSpPr txBox="1"/>
          <p:nvPr/>
        </p:nvSpPr>
        <p:spPr>
          <a:xfrm>
            <a:off x="2415540"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 · VẤN ĐỀ</a:t>
            </a:r>
          </a:p>
        </p:txBody>
      </p:sp>
      <p:sp>
        <p:nvSpPr>
          <p:cNvPr id="13" name="TextBox 12"/>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4" name="TextBox 13"/>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5" name="TextBox 14"/>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6" name="TextBox 15"/>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sp>
        <p:nvSpPr>
          <p:cNvPr id="17" name="Rounded Rectangle 16"/>
          <p:cNvSpPr/>
          <p:nvPr/>
        </p:nvSpPr>
        <p:spPr>
          <a:xfrm>
            <a:off x="420624" y="1463039"/>
            <a:ext cx="772668" cy="274320"/>
          </a:xfrm>
          <a:prstGeom prst="roundRect">
            <a:avLst>
              <a:gd name="adj" fmla="val 50000"/>
            </a:avLst>
          </a:prstGeom>
          <a:solidFill>
            <a:srgbClr val="E0F2F1"/>
          </a:solidFill>
          <a:ln>
            <a:noFill/>
          </a:ln>
          <a:effectLst/>
        </p:spPr>
        <p:txBody>
          <a:bodyPr rtlCol="0" anchor="ctr"/>
          <a:lstStyle/>
          <a:p>
            <a:pPr algn="ctr"/>
          </a:p>
        </p:txBody>
      </p:sp>
      <p:sp>
        <p:nvSpPr>
          <p:cNvPr id="18" name="TextBox 17"/>
          <p:cNvSpPr txBox="1"/>
          <p:nvPr/>
        </p:nvSpPr>
        <p:spPr>
          <a:xfrm>
            <a:off x="420624" y="1463039"/>
            <a:ext cx="772668" cy="274320"/>
          </a:xfrm>
          <a:prstGeom prst="rect">
            <a:avLst/>
          </a:prstGeom>
          <a:noFill/>
        </p:spPr>
        <p:txBody>
          <a:bodyPr wrap="square" anchor="ctr" lIns="0" rIns="0" tIns="0" bIns="0">
            <a:spAutoFit/>
          </a:bodyPr>
          <a:lstStyle/>
          <a:p>
            <a:pPr algn="ctr"/>
            <a:r>
              <a:rPr sz="1100" b="1" i="0">
                <a:solidFill>
                  <a:srgbClr val="0F4C47"/>
                </a:solidFill>
                <a:latin typeface="Aptos"/>
              </a:rPr>
              <a:t>LƯU TRỮ</a:t>
            </a:r>
          </a:p>
        </p:txBody>
      </p:sp>
      <p:sp>
        <p:nvSpPr>
          <p:cNvPr id="19" name="TextBox 18"/>
          <p:cNvSpPr txBox="1"/>
          <p:nvPr/>
        </p:nvSpPr>
        <p:spPr>
          <a:xfrm>
            <a:off x="1828800" y="1280160"/>
            <a:ext cx="6400800" cy="731520"/>
          </a:xfrm>
          <a:prstGeom prst="rect">
            <a:avLst/>
          </a:prstGeom>
          <a:noFill/>
        </p:spPr>
        <p:txBody>
          <a:bodyPr wrap="square" anchor="ctr" lIns="0" rIns="0" tIns="0" bIns="0">
            <a:spAutoFit/>
          </a:bodyPr>
          <a:lstStyle/>
          <a:p>
            <a:pPr algn="l"/>
            <a:r>
              <a:rPr sz="1400" b="0" i="0">
                <a:solidFill>
                  <a:srgbClr val="1F2D2C"/>
                </a:solidFill>
                <a:latin typeface="Aptos"/>
              </a:rPr>
              <a:t>Mỗi ghi nhận về nề nếp là một phần hồ sơ rèn luyện của học sinh, cần lưu đầy đủ, liên tục cả năm học.</a:t>
            </a:r>
          </a:p>
        </p:txBody>
      </p:sp>
      <p:cxnSp>
        <p:nvCxnSpPr>
          <p:cNvPr id="20" name="Connector 19"/>
          <p:cNvCxnSpPr/>
          <p:nvPr/>
        </p:nvCxnSpPr>
        <p:spPr>
          <a:xfrm>
            <a:off x="420624" y="2084831"/>
            <a:ext cx="7808976"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20624" y="2331720"/>
            <a:ext cx="772668" cy="274320"/>
          </a:xfrm>
          <a:prstGeom prst="roundRect">
            <a:avLst>
              <a:gd name="adj" fmla="val 50000"/>
            </a:avLst>
          </a:prstGeom>
          <a:solidFill>
            <a:srgbClr val="E0F2F1"/>
          </a:solidFill>
          <a:ln>
            <a:noFill/>
          </a:ln>
          <a:effectLst/>
        </p:spPr>
        <p:txBody>
          <a:bodyPr rtlCol="0" anchor="ctr"/>
          <a:lstStyle/>
          <a:p>
            <a:pPr algn="ctr"/>
          </a:p>
        </p:txBody>
      </p:sp>
      <p:sp>
        <p:nvSpPr>
          <p:cNvPr id="22" name="TextBox 21"/>
          <p:cNvSpPr txBox="1"/>
          <p:nvPr/>
        </p:nvSpPr>
        <p:spPr>
          <a:xfrm>
            <a:off x="420624" y="2331720"/>
            <a:ext cx="772668" cy="274320"/>
          </a:xfrm>
          <a:prstGeom prst="rect">
            <a:avLst/>
          </a:prstGeom>
          <a:noFill/>
        </p:spPr>
        <p:txBody>
          <a:bodyPr wrap="square" anchor="ctr" lIns="0" rIns="0" tIns="0" bIns="0">
            <a:spAutoFit/>
          </a:bodyPr>
          <a:lstStyle/>
          <a:p>
            <a:pPr algn="ctr"/>
            <a:r>
              <a:rPr sz="1100" b="1" i="0">
                <a:solidFill>
                  <a:srgbClr val="0F4C47"/>
                </a:solidFill>
                <a:latin typeface="Aptos"/>
              </a:rPr>
              <a:t>TRA CỨU</a:t>
            </a:r>
          </a:p>
        </p:txBody>
      </p:sp>
      <p:sp>
        <p:nvSpPr>
          <p:cNvPr id="23" name="TextBox 22"/>
          <p:cNvSpPr txBox="1"/>
          <p:nvPr/>
        </p:nvSpPr>
        <p:spPr>
          <a:xfrm>
            <a:off x="1828800" y="2148839"/>
            <a:ext cx="6400800" cy="731520"/>
          </a:xfrm>
          <a:prstGeom prst="rect">
            <a:avLst/>
          </a:prstGeom>
          <a:noFill/>
        </p:spPr>
        <p:txBody>
          <a:bodyPr wrap="square" anchor="ctr" lIns="0" rIns="0" tIns="0" bIns="0">
            <a:spAutoFit/>
          </a:bodyPr>
          <a:lstStyle/>
          <a:p>
            <a:pPr algn="l"/>
            <a:r>
              <a:rPr sz="1400" b="0" i="0">
                <a:solidFill>
                  <a:srgbClr val="1F2D2C"/>
                </a:solidFill>
                <a:latin typeface="Aptos"/>
              </a:rPr>
              <a:t>Khi trao đổi với học sinh, phụ huynh hay nhà trường, giáo viên cần tìm ngay: việc gì, ngày nào, ai ghi.</a:t>
            </a:r>
          </a:p>
        </p:txBody>
      </p:sp>
      <p:cxnSp>
        <p:nvCxnSpPr>
          <p:cNvPr id="24" name="Connector 23"/>
          <p:cNvCxnSpPr/>
          <p:nvPr/>
        </p:nvCxnSpPr>
        <p:spPr>
          <a:xfrm>
            <a:off x="420624" y="2953511"/>
            <a:ext cx="7808976"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20624" y="3200400"/>
            <a:ext cx="694944" cy="274320"/>
          </a:xfrm>
          <a:prstGeom prst="roundRect">
            <a:avLst>
              <a:gd name="adj" fmla="val 50000"/>
            </a:avLst>
          </a:prstGeom>
          <a:solidFill>
            <a:srgbClr val="E0F2F1"/>
          </a:solidFill>
          <a:ln>
            <a:noFill/>
          </a:ln>
          <a:effectLst/>
        </p:spPr>
        <p:txBody>
          <a:bodyPr rtlCol="0" anchor="ctr"/>
          <a:lstStyle/>
          <a:p>
            <a:pPr algn="ctr"/>
          </a:p>
        </p:txBody>
      </p:sp>
      <p:sp>
        <p:nvSpPr>
          <p:cNvPr id="26" name="TextBox 25"/>
          <p:cNvSpPr txBox="1"/>
          <p:nvPr/>
        </p:nvSpPr>
        <p:spPr>
          <a:xfrm>
            <a:off x="420624" y="3200400"/>
            <a:ext cx="694944" cy="274320"/>
          </a:xfrm>
          <a:prstGeom prst="rect">
            <a:avLst/>
          </a:prstGeom>
          <a:noFill/>
        </p:spPr>
        <p:txBody>
          <a:bodyPr wrap="square" anchor="ctr" lIns="0" rIns="0" tIns="0" bIns="0">
            <a:spAutoFit/>
          </a:bodyPr>
          <a:lstStyle/>
          <a:p>
            <a:pPr algn="ctr"/>
            <a:r>
              <a:rPr sz="1100" b="1" i="0">
                <a:solidFill>
                  <a:srgbClr val="0F4C47"/>
                </a:solidFill>
                <a:latin typeface="Aptos"/>
              </a:rPr>
              <a:t>CĂN CỨ</a:t>
            </a:r>
          </a:p>
        </p:txBody>
      </p:sp>
      <p:sp>
        <p:nvSpPr>
          <p:cNvPr id="27" name="TextBox 26"/>
          <p:cNvSpPr txBox="1"/>
          <p:nvPr/>
        </p:nvSpPr>
        <p:spPr>
          <a:xfrm>
            <a:off x="1828800" y="3017520"/>
            <a:ext cx="6400800" cy="731520"/>
          </a:xfrm>
          <a:prstGeom prst="rect">
            <a:avLst/>
          </a:prstGeom>
          <a:noFill/>
        </p:spPr>
        <p:txBody>
          <a:bodyPr wrap="square" anchor="ctr" lIns="0" rIns="0" tIns="0" bIns="0">
            <a:spAutoFit/>
          </a:bodyPr>
          <a:lstStyle/>
          <a:p>
            <a:pPr algn="l"/>
            <a:r>
              <a:rPr sz="1400" b="0" i="0">
                <a:solidFill>
                  <a:srgbClr val="1F2D2C"/>
                </a:solidFill>
                <a:latin typeface="Aptos"/>
              </a:rPr>
              <a:t>Xếp loại hạnh kiểm cuối tháng, cuối kỳ phải dựa trên số liệu rõ ràng, có bằng chứng.</a:t>
            </a:r>
          </a:p>
        </p:txBody>
      </p:sp>
      <p:cxnSp>
        <p:nvCxnSpPr>
          <p:cNvPr id="28" name="Connector 27"/>
          <p:cNvCxnSpPr/>
          <p:nvPr/>
        </p:nvCxnSpPr>
        <p:spPr>
          <a:xfrm>
            <a:off x="420624" y="3822191"/>
            <a:ext cx="7808976"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20624" y="4069080"/>
            <a:ext cx="850392" cy="274320"/>
          </a:xfrm>
          <a:prstGeom prst="roundRect">
            <a:avLst>
              <a:gd name="adj" fmla="val 50000"/>
            </a:avLst>
          </a:prstGeom>
          <a:solidFill>
            <a:srgbClr val="E0F2F1"/>
          </a:solidFill>
          <a:ln>
            <a:noFill/>
          </a:ln>
          <a:effectLst/>
        </p:spPr>
        <p:txBody>
          <a:bodyPr rtlCol="0" anchor="ctr"/>
          <a:lstStyle/>
          <a:p>
            <a:pPr algn="ctr"/>
          </a:p>
        </p:txBody>
      </p:sp>
      <p:sp>
        <p:nvSpPr>
          <p:cNvPr id="30" name="TextBox 29"/>
          <p:cNvSpPr txBox="1"/>
          <p:nvPr/>
        </p:nvSpPr>
        <p:spPr>
          <a:xfrm>
            <a:off x="420624" y="4069080"/>
            <a:ext cx="850392" cy="274320"/>
          </a:xfrm>
          <a:prstGeom prst="rect">
            <a:avLst/>
          </a:prstGeom>
          <a:noFill/>
        </p:spPr>
        <p:txBody>
          <a:bodyPr wrap="square" anchor="ctr" lIns="0" rIns="0" tIns="0" bIns="0">
            <a:spAutoFit/>
          </a:bodyPr>
          <a:lstStyle/>
          <a:p>
            <a:pPr algn="ctr"/>
            <a:r>
              <a:rPr sz="1100" b="1" i="0">
                <a:solidFill>
                  <a:srgbClr val="0F4C47"/>
                </a:solidFill>
                <a:latin typeface="Aptos"/>
              </a:rPr>
              <a:t>TỔNG HỢP</a:t>
            </a:r>
          </a:p>
        </p:txBody>
      </p:sp>
      <p:sp>
        <p:nvSpPr>
          <p:cNvPr id="31" name="TextBox 30"/>
          <p:cNvSpPr txBox="1"/>
          <p:nvPr/>
        </p:nvSpPr>
        <p:spPr>
          <a:xfrm>
            <a:off x="1828800" y="3886200"/>
            <a:ext cx="6400800" cy="731520"/>
          </a:xfrm>
          <a:prstGeom prst="rect">
            <a:avLst/>
          </a:prstGeom>
          <a:noFill/>
        </p:spPr>
        <p:txBody>
          <a:bodyPr wrap="square" anchor="ctr" lIns="0" rIns="0" tIns="0" bIns="0">
            <a:spAutoFit/>
          </a:bodyPr>
          <a:lstStyle/>
          <a:p>
            <a:pPr algn="l"/>
            <a:r>
              <a:rPr sz="1400" b="0" i="0">
                <a:solidFill>
                  <a:srgbClr val="1F2D2C"/>
                </a:solidFill>
                <a:latin typeface="Aptos"/>
              </a:rPr>
              <a:t>Báo cáo tuần, tháng, học kỳ cần số liệu chính xác và lấy ra nhanh.</a:t>
            </a:r>
          </a:p>
        </p:txBody>
      </p:sp>
      <p:sp>
        <p:nvSpPr>
          <p:cNvPr id="32" name="Rounded Rectangle 31"/>
          <p:cNvSpPr/>
          <p:nvPr/>
        </p:nvSpPr>
        <p:spPr>
          <a:xfrm>
            <a:off x="420624" y="4937760"/>
            <a:ext cx="7808975" cy="1005840"/>
          </a:xfrm>
          <a:prstGeom prst="roundRect">
            <a:avLst>
              <a:gd name="adj" fmla="val 6000"/>
            </a:avLst>
          </a:prstGeom>
          <a:solidFill>
            <a:srgbClr val="FFF1E0"/>
          </a:solidFill>
          <a:ln>
            <a:noFill/>
          </a:ln>
          <a:effectLst/>
        </p:spPr>
        <p:txBody>
          <a:bodyPr rtlCol="0" anchor="ctr"/>
          <a:lstStyle/>
          <a:p>
            <a:pPr algn="ctr"/>
          </a:p>
        </p:txBody>
      </p:sp>
      <p:sp>
        <p:nvSpPr>
          <p:cNvPr id="33" name="TextBox 32"/>
          <p:cNvSpPr txBox="1"/>
          <p:nvPr/>
        </p:nvSpPr>
        <p:spPr>
          <a:xfrm>
            <a:off x="685800" y="4937760"/>
            <a:ext cx="7315200" cy="1005840"/>
          </a:xfrm>
          <a:prstGeom prst="rect">
            <a:avLst/>
          </a:prstGeom>
          <a:noFill/>
        </p:spPr>
        <p:txBody>
          <a:bodyPr wrap="square" anchor="ctr" lIns="0" rIns="0" tIns="0" bIns="0">
            <a:spAutoFit/>
          </a:bodyPr>
          <a:lstStyle/>
          <a:p>
            <a:pPr algn="l"/>
            <a:r>
              <a:rPr sz="1400" b="1" i="0">
                <a:solidFill>
                  <a:srgbClr val="0F4C47"/>
                </a:solidFill>
                <a:latin typeface="Aptos"/>
              </a:rPr>
              <a:t>Thực tế: </a:t>
            </a:r>
            <a:r>
              <a:rPr sz="1400" b="0" i="0">
                <a:solidFill>
                  <a:srgbClr val="1F2D2C"/>
                </a:solidFill>
                <a:latin typeface="Aptos"/>
              </a:rPr>
              <a:t>với sổ giấy và các file rời rạc, tìm lại một sự việc cũ mất nhiều thời gian, dễ sót, khó có bằng chứng.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 · VẤN ĐỀ</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04</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Nhà trường và phụ huynh thường chỉ gặp nhau qua các cuộc họp</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8" name="Rounded Rectangle 7"/>
          <p:cNvSpPr/>
          <p:nvPr/>
        </p:nvSpPr>
        <p:spPr>
          <a:xfrm>
            <a:off x="2324100"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9" name="TextBox 8"/>
          <p:cNvSpPr txBox="1"/>
          <p:nvPr/>
        </p:nvSpPr>
        <p:spPr>
          <a:xfrm>
            <a:off x="2415540"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 · VẤN ĐỀ</a:t>
            </a:r>
          </a:p>
        </p:txBody>
      </p:sp>
      <p:sp>
        <p:nvSpPr>
          <p:cNvPr id="10" name="TextBox 9"/>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1" name="TextBox 10"/>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2" name="TextBox 11"/>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3" name="TextBox 12"/>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cxnSp>
        <p:nvCxnSpPr>
          <p:cNvPr id="14" name="Connector 13"/>
          <p:cNvCxnSpPr/>
          <p:nvPr/>
        </p:nvCxnSpPr>
        <p:spPr>
          <a:xfrm>
            <a:off x="420624" y="2514600"/>
            <a:ext cx="11347704" cy="0"/>
          </a:xfrm>
          <a:prstGeom prst="line">
            <a:avLst/>
          </a:prstGeom>
          <a:ln w="31750">
            <a:solidFill>
              <a:srgbClr val="2A9D8F"/>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645920" y="2377440"/>
            <a:ext cx="274320" cy="274320"/>
          </a:xfrm>
          <a:prstGeom prst="ellipse">
            <a:avLst/>
          </a:prstGeom>
          <a:solidFill>
            <a:srgbClr val="0F766E"/>
          </a:solidFill>
          <a:ln>
            <a:noFill/>
          </a:ln>
          <a:effectLst/>
        </p:spPr>
        <p:txBody>
          <a:bodyPr rtlCol="0" anchor="ctr"/>
          <a:lstStyle/>
          <a:p>
            <a:pPr algn="ctr"/>
          </a:p>
        </p:txBody>
      </p:sp>
      <p:sp>
        <p:nvSpPr>
          <p:cNvPr id="16" name="TextBox 15"/>
          <p:cNvSpPr txBox="1"/>
          <p:nvPr/>
        </p:nvSpPr>
        <p:spPr>
          <a:xfrm>
            <a:off x="822960" y="1325880"/>
            <a:ext cx="1920240" cy="365760"/>
          </a:xfrm>
          <a:prstGeom prst="rect">
            <a:avLst/>
          </a:prstGeom>
          <a:noFill/>
        </p:spPr>
        <p:txBody>
          <a:bodyPr wrap="square" anchor="t" lIns="0" rIns="0" tIns="0" bIns="0">
            <a:spAutoFit/>
          </a:bodyPr>
          <a:lstStyle/>
          <a:p>
            <a:pPr algn="ctr"/>
            <a:r>
              <a:rPr sz="1500" b="1" i="0">
                <a:solidFill>
                  <a:srgbClr val="0F4C47"/>
                </a:solidFill>
                <a:latin typeface="Aptos"/>
              </a:rPr>
              <a:t>Đầu năm học</a:t>
            </a:r>
          </a:p>
        </p:txBody>
      </p:sp>
      <p:sp>
        <p:nvSpPr>
          <p:cNvPr id="17" name="TextBox 16"/>
          <p:cNvSpPr txBox="1"/>
          <p:nvPr/>
        </p:nvSpPr>
        <p:spPr>
          <a:xfrm>
            <a:off x="640080" y="1691640"/>
            <a:ext cx="2286000" cy="640080"/>
          </a:xfrm>
          <a:prstGeom prst="rect">
            <a:avLst/>
          </a:prstGeom>
          <a:noFill/>
        </p:spPr>
        <p:txBody>
          <a:bodyPr wrap="square" anchor="t" lIns="0" rIns="0" tIns="0" bIns="0">
            <a:spAutoFit/>
          </a:bodyPr>
          <a:lstStyle/>
          <a:p>
            <a:pPr algn="ctr"/>
            <a:r>
              <a:rPr sz="1250" b="0" i="0">
                <a:solidFill>
                  <a:srgbClr val="1F2D2C"/>
                </a:solidFill>
                <a:latin typeface="Aptos"/>
              </a:rPr>
              <a:t>Họp phụ huynh lớp</a:t>
            </a:r>
          </a:p>
        </p:txBody>
      </p:sp>
      <p:sp>
        <p:nvSpPr>
          <p:cNvPr id="18" name="Oval 17"/>
          <p:cNvSpPr/>
          <p:nvPr/>
        </p:nvSpPr>
        <p:spPr>
          <a:xfrm>
            <a:off x="4572000" y="2377440"/>
            <a:ext cx="274320" cy="274320"/>
          </a:xfrm>
          <a:prstGeom prst="ellipse">
            <a:avLst/>
          </a:prstGeom>
          <a:solidFill>
            <a:srgbClr val="0F766E"/>
          </a:solidFill>
          <a:ln>
            <a:noFill/>
          </a:ln>
          <a:effectLst/>
        </p:spPr>
        <p:txBody>
          <a:bodyPr rtlCol="0" anchor="ctr"/>
          <a:lstStyle/>
          <a:p>
            <a:pPr algn="ctr"/>
          </a:p>
        </p:txBody>
      </p:sp>
      <p:sp>
        <p:nvSpPr>
          <p:cNvPr id="19" name="TextBox 18"/>
          <p:cNvSpPr txBox="1"/>
          <p:nvPr/>
        </p:nvSpPr>
        <p:spPr>
          <a:xfrm>
            <a:off x="3749039" y="1325880"/>
            <a:ext cx="1920240" cy="365760"/>
          </a:xfrm>
          <a:prstGeom prst="rect">
            <a:avLst/>
          </a:prstGeom>
          <a:noFill/>
        </p:spPr>
        <p:txBody>
          <a:bodyPr wrap="square" anchor="t" lIns="0" rIns="0" tIns="0" bIns="0">
            <a:spAutoFit/>
          </a:bodyPr>
          <a:lstStyle/>
          <a:p>
            <a:pPr algn="ctr"/>
            <a:r>
              <a:rPr sz="1500" b="1" i="0">
                <a:solidFill>
                  <a:srgbClr val="0F4C47"/>
                </a:solidFill>
                <a:latin typeface="Aptos"/>
              </a:rPr>
              <a:t>Trong năm</a:t>
            </a:r>
          </a:p>
        </p:txBody>
      </p:sp>
      <p:sp>
        <p:nvSpPr>
          <p:cNvPr id="20" name="TextBox 19"/>
          <p:cNvSpPr txBox="1"/>
          <p:nvPr/>
        </p:nvSpPr>
        <p:spPr>
          <a:xfrm>
            <a:off x="3566159" y="1691640"/>
            <a:ext cx="2286000" cy="640080"/>
          </a:xfrm>
          <a:prstGeom prst="rect">
            <a:avLst/>
          </a:prstGeom>
          <a:noFill/>
        </p:spPr>
        <p:txBody>
          <a:bodyPr wrap="square" anchor="t" lIns="0" rIns="0" tIns="0" bIns="0">
            <a:spAutoFit/>
          </a:bodyPr>
          <a:lstStyle/>
          <a:p>
            <a:pPr algn="ctr"/>
            <a:r>
              <a:rPr sz="1250" b="0" i="0">
                <a:solidFill>
                  <a:srgbClr val="1F2D2C"/>
                </a:solidFill>
                <a:latin typeface="Aptos"/>
              </a:rPr>
              <a:t>Ban giám hiệu họp Ban đại diện cha mẹ học sinh</a:t>
            </a:r>
          </a:p>
        </p:txBody>
      </p:sp>
      <p:sp>
        <p:nvSpPr>
          <p:cNvPr id="21" name="Oval 20"/>
          <p:cNvSpPr/>
          <p:nvPr/>
        </p:nvSpPr>
        <p:spPr>
          <a:xfrm>
            <a:off x="7498079" y="2377440"/>
            <a:ext cx="274320" cy="274320"/>
          </a:xfrm>
          <a:prstGeom prst="ellipse">
            <a:avLst/>
          </a:prstGeom>
          <a:solidFill>
            <a:srgbClr val="0F766E"/>
          </a:solidFill>
          <a:ln>
            <a:noFill/>
          </a:ln>
          <a:effectLst/>
        </p:spPr>
        <p:txBody>
          <a:bodyPr rtlCol="0" anchor="ctr"/>
          <a:lstStyle/>
          <a:p>
            <a:pPr algn="ctr"/>
          </a:p>
        </p:txBody>
      </p:sp>
      <p:sp>
        <p:nvSpPr>
          <p:cNvPr id="22" name="TextBox 21"/>
          <p:cNvSpPr txBox="1"/>
          <p:nvPr/>
        </p:nvSpPr>
        <p:spPr>
          <a:xfrm>
            <a:off x="6675120" y="1325880"/>
            <a:ext cx="1920240" cy="365760"/>
          </a:xfrm>
          <a:prstGeom prst="rect">
            <a:avLst/>
          </a:prstGeom>
          <a:noFill/>
        </p:spPr>
        <p:txBody>
          <a:bodyPr wrap="square" anchor="t" lIns="0" rIns="0" tIns="0" bIns="0">
            <a:spAutoFit/>
          </a:bodyPr>
          <a:lstStyle/>
          <a:p>
            <a:pPr algn="ctr"/>
            <a:r>
              <a:rPr sz="1500" b="1" i="0">
                <a:solidFill>
                  <a:srgbClr val="0F4C47"/>
                </a:solidFill>
                <a:latin typeface="Aptos"/>
              </a:rPr>
              <a:t>Cuối học kỳ I</a:t>
            </a:r>
          </a:p>
        </p:txBody>
      </p:sp>
      <p:sp>
        <p:nvSpPr>
          <p:cNvPr id="23" name="TextBox 22"/>
          <p:cNvSpPr txBox="1"/>
          <p:nvPr/>
        </p:nvSpPr>
        <p:spPr>
          <a:xfrm>
            <a:off x="6492240" y="1691640"/>
            <a:ext cx="2286000" cy="640080"/>
          </a:xfrm>
          <a:prstGeom prst="rect">
            <a:avLst/>
          </a:prstGeom>
          <a:noFill/>
        </p:spPr>
        <p:txBody>
          <a:bodyPr wrap="square" anchor="t" lIns="0" rIns="0" tIns="0" bIns="0">
            <a:spAutoFit/>
          </a:bodyPr>
          <a:lstStyle/>
          <a:p>
            <a:pPr algn="ctr"/>
            <a:r>
              <a:rPr sz="1250" b="0" i="0">
                <a:solidFill>
                  <a:srgbClr val="1F2D2C"/>
                </a:solidFill>
                <a:latin typeface="Aptos"/>
              </a:rPr>
              <a:t>Họp phụ huynh lớp</a:t>
            </a:r>
          </a:p>
        </p:txBody>
      </p:sp>
      <p:sp>
        <p:nvSpPr>
          <p:cNvPr id="24" name="Oval 23"/>
          <p:cNvSpPr/>
          <p:nvPr/>
        </p:nvSpPr>
        <p:spPr>
          <a:xfrm>
            <a:off x="10424160" y="2377440"/>
            <a:ext cx="274320" cy="274320"/>
          </a:xfrm>
          <a:prstGeom prst="ellipse">
            <a:avLst/>
          </a:prstGeom>
          <a:solidFill>
            <a:srgbClr val="0F766E"/>
          </a:solidFill>
          <a:ln>
            <a:noFill/>
          </a:ln>
          <a:effectLst/>
        </p:spPr>
        <p:txBody>
          <a:bodyPr rtlCol="0" anchor="ctr"/>
          <a:lstStyle/>
          <a:p>
            <a:pPr algn="ctr"/>
          </a:p>
        </p:txBody>
      </p:sp>
      <p:sp>
        <p:nvSpPr>
          <p:cNvPr id="25" name="TextBox 24"/>
          <p:cNvSpPr txBox="1"/>
          <p:nvPr/>
        </p:nvSpPr>
        <p:spPr>
          <a:xfrm>
            <a:off x="9601200" y="1325880"/>
            <a:ext cx="1920240" cy="365760"/>
          </a:xfrm>
          <a:prstGeom prst="rect">
            <a:avLst/>
          </a:prstGeom>
          <a:noFill/>
        </p:spPr>
        <p:txBody>
          <a:bodyPr wrap="square" anchor="t" lIns="0" rIns="0" tIns="0" bIns="0">
            <a:spAutoFit/>
          </a:bodyPr>
          <a:lstStyle/>
          <a:p>
            <a:pPr algn="ctr"/>
            <a:r>
              <a:rPr sz="1500" b="1" i="0">
                <a:solidFill>
                  <a:srgbClr val="0F4C47"/>
                </a:solidFill>
                <a:latin typeface="Aptos"/>
              </a:rPr>
              <a:t>Cuối năm học</a:t>
            </a:r>
          </a:p>
        </p:txBody>
      </p:sp>
      <p:sp>
        <p:nvSpPr>
          <p:cNvPr id="26" name="TextBox 25"/>
          <p:cNvSpPr txBox="1"/>
          <p:nvPr/>
        </p:nvSpPr>
        <p:spPr>
          <a:xfrm>
            <a:off x="9418320" y="1691640"/>
            <a:ext cx="2286000" cy="640080"/>
          </a:xfrm>
          <a:prstGeom prst="rect">
            <a:avLst/>
          </a:prstGeom>
          <a:noFill/>
        </p:spPr>
        <p:txBody>
          <a:bodyPr wrap="square" anchor="t" lIns="0" rIns="0" tIns="0" bIns="0">
            <a:spAutoFit/>
          </a:bodyPr>
          <a:lstStyle/>
          <a:p>
            <a:pPr algn="ctr"/>
            <a:r>
              <a:rPr sz="1250" b="0" i="0">
                <a:solidFill>
                  <a:srgbClr val="1F2D2C"/>
                </a:solidFill>
                <a:latin typeface="Aptos"/>
              </a:rPr>
              <a:t>Họp phụ huynh lớp</a:t>
            </a:r>
          </a:p>
        </p:txBody>
      </p:sp>
      <p:sp>
        <p:nvSpPr>
          <p:cNvPr id="27" name="TextBox 26"/>
          <p:cNvSpPr txBox="1"/>
          <p:nvPr/>
        </p:nvSpPr>
        <p:spPr>
          <a:xfrm>
            <a:off x="2148839" y="2697480"/>
            <a:ext cx="2194560" cy="320040"/>
          </a:xfrm>
          <a:prstGeom prst="rect">
            <a:avLst/>
          </a:prstGeom>
          <a:noFill/>
        </p:spPr>
        <p:txBody>
          <a:bodyPr wrap="square" anchor="t" lIns="0" rIns="0" tIns="0" bIns="0">
            <a:spAutoFit/>
          </a:bodyPr>
          <a:lstStyle/>
          <a:p>
            <a:pPr algn="ctr"/>
            <a:r>
              <a:rPr sz="1100" b="0" i="1">
                <a:solidFill>
                  <a:srgbClr val="D1495B"/>
                </a:solidFill>
                <a:latin typeface="Aptos"/>
              </a:rPr>
              <a:t>khoảng trống thông tin</a:t>
            </a:r>
          </a:p>
        </p:txBody>
      </p:sp>
      <p:sp>
        <p:nvSpPr>
          <p:cNvPr id="28" name="TextBox 27"/>
          <p:cNvSpPr txBox="1"/>
          <p:nvPr/>
        </p:nvSpPr>
        <p:spPr>
          <a:xfrm>
            <a:off x="5074920" y="2697480"/>
            <a:ext cx="2194560" cy="320040"/>
          </a:xfrm>
          <a:prstGeom prst="rect">
            <a:avLst/>
          </a:prstGeom>
          <a:noFill/>
        </p:spPr>
        <p:txBody>
          <a:bodyPr wrap="square" anchor="t" lIns="0" rIns="0" tIns="0" bIns="0">
            <a:spAutoFit/>
          </a:bodyPr>
          <a:lstStyle/>
          <a:p>
            <a:pPr algn="ctr"/>
            <a:r>
              <a:rPr sz="1100" b="0" i="1">
                <a:solidFill>
                  <a:srgbClr val="D1495B"/>
                </a:solidFill>
                <a:latin typeface="Aptos"/>
              </a:rPr>
              <a:t>khoảng trống thông tin</a:t>
            </a:r>
          </a:p>
        </p:txBody>
      </p:sp>
      <p:sp>
        <p:nvSpPr>
          <p:cNvPr id="29" name="TextBox 28"/>
          <p:cNvSpPr txBox="1"/>
          <p:nvPr/>
        </p:nvSpPr>
        <p:spPr>
          <a:xfrm>
            <a:off x="8001000" y="2697480"/>
            <a:ext cx="2194560" cy="320040"/>
          </a:xfrm>
          <a:prstGeom prst="rect">
            <a:avLst/>
          </a:prstGeom>
          <a:noFill/>
        </p:spPr>
        <p:txBody>
          <a:bodyPr wrap="square" anchor="t" lIns="0" rIns="0" tIns="0" bIns="0">
            <a:spAutoFit/>
          </a:bodyPr>
          <a:lstStyle/>
          <a:p>
            <a:pPr algn="ctr"/>
            <a:r>
              <a:rPr sz="1100" b="0" i="1">
                <a:solidFill>
                  <a:srgbClr val="D1495B"/>
                </a:solidFill>
                <a:latin typeface="Aptos"/>
              </a:rPr>
              <a:t>khoảng trống thông tin</a:t>
            </a:r>
          </a:p>
        </p:txBody>
      </p:sp>
      <p:sp>
        <p:nvSpPr>
          <p:cNvPr id="30" name="Rounded Rectangle 29"/>
          <p:cNvSpPr/>
          <p:nvPr/>
        </p:nvSpPr>
        <p:spPr>
          <a:xfrm>
            <a:off x="420624" y="3474720"/>
            <a:ext cx="2788920" cy="2468880"/>
          </a:xfrm>
          <a:prstGeom prst="roundRect">
            <a:avLst>
              <a:gd name="adj" fmla="val 6000"/>
            </a:avLst>
          </a:prstGeom>
          <a:solidFill>
            <a:srgbClr val="F4F7F7"/>
          </a:solidFill>
          <a:ln>
            <a:noFill/>
          </a:ln>
          <a:effectLst/>
        </p:spPr>
        <p:txBody>
          <a:bodyPr rtlCol="0" anchor="ctr"/>
          <a:lstStyle/>
          <a:p>
            <a:pPr algn="ctr"/>
          </a:p>
        </p:txBody>
      </p:sp>
      <p:sp>
        <p:nvSpPr>
          <p:cNvPr id="31" name="Oval 30"/>
          <p:cNvSpPr/>
          <p:nvPr/>
        </p:nvSpPr>
        <p:spPr>
          <a:xfrm>
            <a:off x="649224" y="3657600"/>
            <a:ext cx="548640" cy="548640"/>
          </a:xfrm>
          <a:prstGeom prst="ellipse">
            <a:avLst/>
          </a:prstGeom>
          <a:solidFill>
            <a:srgbClr val="E0F2F1"/>
          </a:solidFill>
          <a:ln>
            <a:noFill/>
          </a:ln>
          <a:effectLst/>
        </p:spPr>
        <p:txBody>
          <a:bodyPr rtlCol="0" anchor="ctr"/>
          <a:lstStyle/>
          <a:p>
            <a:pPr algn="ctr"/>
          </a:p>
        </p:txBody>
      </p:sp>
      <p:pic>
        <p:nvPicPr>
          <p:cNvPr id="32" name="Picture 31" descr="alert_2A9D8F.png"/>
          <p:cNvPicPr>
            <a:picLocks noChangeAspect="1"/>
          </p:cNvPicPr>
          <p:nvPr/>
        </p:nvPicPr>
        <p:blipFill>
          <a:blip r:embed="rId2"/>
          <a:stretch>
            <a:fillRect/>
          </a:stretch>
        </p:blipFill>
        <p:spPr>
          <a:xfrm>
            <a:off x="769924" y="3778300"/>
            <a:ext cx="307238" cy="307238"/>
          </a:xfrm>
          <a:prstGeom prst="rect">
            <a:avLst/>
          </a:prstGeom>
        </p:spPr>
      </p:pic>
      <p:sp>
        <p:nvSpPr>
          <p:cNvPr id="33" name="TextBox 32"/>
          <p:cNvSpPr txBox="1"/>
          <p:nvPr/>
        </p:nvSpPr>
        <p:spPr>
          <a:xfrm>
            <a:off x="649224" y="4343400"/>
            <a:ext cx="2377440" cy="347472"/>
          </a:xfrm>
          <a:prstGeom prst="rect">
            <a:avLst/>
          </a:prstGeom>
          <a:noFill/>
        </p:spPr>
        <p:txBody>
          <a:bodyPr wrap="square" anchor="t" lIns="0" rIns="0" tIns="0" bIns="0">
            <a:spAutoFit/>
          </a:bodyPr>
          <a:lstStyle/>
          <a:p>
            <a:pPr algn="l"/>
            <a:r>
              <a:rPr sz="1500" b="1" i="0">
                <a:solidFill>
                  <a:srgbClr val="0F4C47"/>
                </a:solidFill>
                <a:latin typeface="Aptos"/>
              </a:rPr>
              <a:t>Phụ huynh biết muộn</a:t>
            </a:r>
          </a:p>
        </p:txBody>
      </p:sp>
      <p:sp>
        <p:nvSpPr>
          <p:cNvPr id="34" name="TextBox 33"/>
          <p:cNvSpPr txBox="1"/>
          <p:nvPr/>
        </p:nvSpPr>
        <p:spPr>
          <a:xfrm>
            <a:off x="649224" y="4709160"/>
            <a:ext cx="2377440" cy="1188720"/>
          </a:xfrm>
          <a:prstGeom prst="rect">
            <a:avLst/>
          </a:prstGeom>
          <a:noFill/>
        </p:spPr>
        <p:txBody>
          <a:bodyPr wrap="square" anchor="t" lIns="0" rIns="0" tIns="0" bIns="0">
            <a:spAutoFit/>
          </a:bodyPr>
          <a:lstStyle/>
          <a:p>
            <a:pPr algn="l"/>
            <a:r>
              <a:rPr sz="1300" b="0" i="0">
                <a:solidFill>
                  <a:srgbClr val="1F2D2C"/>
                </a:solidFill>
                <a:latin typeface="Aptos"/>
              </a:rPr>
              <a:t>Con có vấn đề từ đầu tháng, cuối kỳ gia đình mới biết.</a:t>
            </a:r>
          </a:p>
        </p:txBody>
      </p:sp>
      <p:sp>
        <p:nvSpPr>
          <p:cNvPr id="35" name="Rounded Rectangle 34"/>
          <p:cNvSpPr/>
          <p:nvPr/>
        </p:nvSpPr>
        <p:spPr>
          <a:xfrm>
            <a:off x="3346704" y="3474720"/>
            <a:ext cx="2788920" cy="2468880"/>
          </a:xfrm>
          <a:prstGeom prst="roundRect">
            <a:avLst>
              <a:gd name="adj" fmla="val 6000"/>
            </a:avLst>
          </a:prstGeom>
          <a:solidFill>
            <a:srgbClr val="F4F7F7"/>
          </a:solidFill>
          <a:ln>
            <a:noFill/>
          </a:ln>
          <a:effectLst/>
        </p:spPr>
        <p:txBody>
          <a:bodyPr rtlCol="0" anchor="ctr"/>
          <a:lstStyle/>
          <a:p>
            <a:pPr algn="ctr"/>
          </a:p>
        </p:txBody>
      </p:sp>
      <p:sp>
        <p:nvSpPr>
          <p:cNvPr id="36" name="Oval 35"/>
          <p:cNvSpPr/>
          <p:nvPr/>
        </p:nvSpPr>
        <p:spPr>
          <a:xfrm>
            <a:off x="3575304" y="3657600"/>
            <a:ext cx="548640" cy="548640"/>
          </a:xfrm>
          <a:prstGeom prst="ellipse">
            <a:avLst/>
          </a:prstGeom>
          <a:solidFill>
            <a:srgbClr val="E0F2F1"/>
          </a:solidFill>
          <a:ln>
            <a:noFill/>
          </a:ln>
          <a:effectLst/>
        </p:spPr>
        <p:txBody>
          <a:bodyPr rtlCol="0" anchor="ctr"/>
          <a:lstStyle/>
          <a:p>
            <a:pPr algn="ctr"/>
          </a:p>
        </p:txBody>
      </p:sp>
      <p:pic>
        <p:nvPicPr>
          <p:cNvPr id="37" name="Picture 36" descr="users_2A9D8F.png"/>
          <p:cNvPicPr>
            <a:picLocks noChangeAspect="1"/>
          </p:cNvPicPr>
          <p:nvPr/>
        </p:nvPicPr>
        <p:blipFill>
          <a:blip r:embed="rId3"/>
          <a:stretch>
            <a:fillRect/>
          </a:stretch>
        </p:blipFill>
        <p:spPr>
          <a:xfrm>
            <a:off x="3696004" y="3778300"/>
            <a:ext cx="307238" cy="307238"/>
          </a:xfrm>
          <a:prstGeom prst="rect">
            <a:avLst/>
          </a:prstGeom>
        </p:spPr>
      </p:pic>
      <p:sp>
        <p:nvSpPr>
          <p:cNvPr id="38" name="TextBox 37"/>
          <p:cNvSpPr txBox="1"/>
          <p:nvPr/>
        </p:nvSpPr>
        <p:spPr>
          <a:xfrm>
            <a:off x="3575304" y="4343400"/>
            <a:ext cx="2377440" cy="347472"/>
          </a:xfrm>
          <a:prstGeom prst="rect">
            <a:avLst/>
          </a:prstGeom>
          <a:noFill/>
        </p:spPr>
        <p:txBody>
          <a:bodyPr wrap="square" anchor="t" lIns="0" rIns="0" tIns="0" bIns="0">
            <a:spAutoFit/>
          </a:bodyPr>
          <a:lstStyle/>
          <a:p>
            <a:pPr algn="l"/>
            <a:r>
              <a:rPr sz="1500" b="1" i="0">
                <a:solidFill>
                  <a:srgbClr val="0F4C47"/>
                </a:solidFill>
                <a:latin typeface="Aptos"/>
              </a:rPr>
              <a:t>Thông tin qua nhiều tầng</a:t>
            </a:r>
          </a:p>
        </p:txBody>
      </p:sp>
      <p:sp>
        <p:nvSpPr>
          <p:cNvPr id="39" name="TextBox 38"/>
          <p:cNvSpPr txBox="1"/>
          <p:nvPr/>
        </p:nvSpPr>
        <p:spPr>
          <a:xfrm>
            <a:off x="3575304" y="4709160"/>
            <a:ext cx="2377440" cy="1188720"/>
          </a:xfrm>
          <a:prstGeom prst="rect">
            <a:avLst/>
          </a:prstGeom>
          <a:noFill/>
        </p:spPr>
        <p:txBody>
          <a:bodyPr wrap="square" anchor="t" lIns="0" rIns="0" tIns="0" bIns="0">
            <a:spAutoFit/>
          </a:bodyPr>
          <a:lstStyle/>
          <a:p>
            <a:pPr algn="l"/>
            <a:r>
              <a:rPr sz="1300" b="0" i="0">
                <a:solidFill>
                  <a:srgbClr val="1F2D2C"/>
                </a:solidFill>
                <a:latin typeface="Aptos"/>
              </a:rPr>
              <a:t>Ban giám hiệu, trưởng ban, rồi đến từng phụ huynh: dễ thiếu, dễ hiểu sai.</a:t>
            </a:r>
          </a:p>
        </p:txBody>
      </p:sp>
      <p:sp>
        <p:nvSpPr>
          <p:cNvPr id="40" name="Rounded Rectangle 39"/>
          <p:cNvSpPr/>
          <p:nvPr/>
        </p:nvSpPr>
        <p:spPr>
          <a:xfrm>
            <a:off x="6272784" y="3474720"/>
            <a:ext cx="2788920" cy="2468880"/>
          </a:xfrm>
          <a:prstGeom prst="roundRect">
            <a:avLst>
              <a:gd name="adj" fmla="val 6000"/>
            </a:avLst>
          </a:prstGeom>
          <a:solidFill>
            <a:srgbClr val="F4F7F7"/>
          </a:solidFill>
          <a:ln>
            <a:noFill/>
          </a:ln>
          <a:effectLst/>
        </p:spPr>
        <p:txBody>
          <a:bodyPr rtlCol="0" anchor="ctr"/>
          <a:lstStyle/>
          <a:p>
            <a:pPr algn="ctr"/>
          </a:p>
        </p:txBody>
      </p:sp>
      <p:sp>
        <p:nvSpPr>
          <p:cNvPr id="41" name="Oval 40"/>
          <p:cNvSpPr/>
          <p:nvPr/>
        </p:nvSpPr>
        <p:spPr>
          <a:xfrm>
            <a:off x="6501384" y="3657600"/>
            <a:ext cx="548640" cy="548640"/>
          </a:xfrm>
          <a:prstGeom prst="ellipse">
            <a:avLst/>
          </a:prstGeom>
          <a:solidFill>
            <a:srgbClr val="E0F2F1"/>
          </a:solidFill>
          <a:ln>
            <a:noFill/>
          </a:ln>
          <a:effectLst/>
        </p:spPr>
        <p:txBody>
          <a:bodyPr rtlCol="0" anchor="ctr"/>
          <a:lstStyle/>
          <a:p>
            <a:pPr algn="ctr"/>
          </a:p>
        </p:txBody>
      </p:sp>
      <p:pic>
        <p:nvPicPr>
          <p:cNvPr id="42" name="Picture 41" descr="clock_2A9D8F.png"/>
          <p:cNvPicPr>
            <a:picLocks noChangeAspect="1"/>
          </p:cNvPicPr>
          <p:nvPr/>
        </p:nvPicPr>
        <p:blipFill>
          <a:blip r:embed="rId4"/>
          <a:stretch>
            <a:fillRect/>
          </a:stretch>
        </p:blipFill>
        <p:spPr>
          <a:xfrm>
            <a:off x="6622084" y="3778300"/>
            <a:ext cx="307238" cy="307238"/>
          </a:xfrm>
          <a:prstGeom prst="rect">
            <a:avLst/>
          </a:prstGeom>
        </p:spPr>
      </p:pic>
      <p:sp>
        <p:nvSpPr>
          <p:cNvPr id="43" name="TextBox 42"/>
          <p:cNvSpPr txBox="1"/>
          <p:nvPr/>
        </p:nvSpPr>
        <p:spPr>
          <a:xfrm>
            <a:off x="6501384" y="4343400"/>
            <a:ext cx="2377440" cy="347472"/>
          </a:xfrm>
          <a:prstGeom prst="rect">
            <a:avLst/>
          </a:prstGeom>
          <a:noFill/>
        </p:spPr>
        <p:txBody>
          <a:bodyPr wrap="square" anchor="t" lIns="0" rIns="0" tIns="0" bIns="0">
            <a:spAutoFit/>
          </a:bodyPr>
          <a:lstStyle/>
          <a:p>
            <a:pPr algn="l"/>
            <a:r>
              <a:rPr sz="1500" b="1" i="0">
                <a:solidFill>
                  <a:srgbClr val="0F4C47"/>
                </a:solidFill>
                <a:latin typeface="Aptos"/>
              </a:rPr>
              <a:t>Khó phối hợp kịp thời</a:t>
            </a:r>
          </a:p>
        </p:txBody>
      </p:sp>
      <p:sp>
        <p:nvSpPr>
          <p:cNvPr id="44" name="TextBox 43"/>
          <p:cNvSpPr txBox="1"/>
          <p:nvPr/>
        </p:nvSpPr>
        <p:spPr>
          <a:xfrm>
            <a:off x="6501384" y="4709160"/>
            <a:ext cx="2377440" cy="1188720"/>
          </a:xfrm>
          <a:prstGeom prst="rect">
            <a:avLst/>
          </a:prstGeom>
          <a:noFill/>
        </p:spPr>
        <p:txBody>
          <a:bodyPr wrap="square" anchor="t" lIns="0" rIns="0" tIns="0" bIns="0">
            <a:spAutoFit/>
          </a:bodyPr>
          <a:lstStyle/>
          <a:p>
            <a:pPr algn="l"/>
            <a:r>
              <a:rPr sz="1300" b="0" i="0">
                <a:solidFill>
                  <a:srgbClr val="1F2D2C"/>
                </a:solidFill>
                <a:latin typeface="Aptos"/>
              </a:rPr>
              <a:t>Gia đình và nhà trường chưa cùng nhắc nhở, động viên con đúng lúc.</a:t>
            </a:r>
          </a:p>
        </p:txBody>
      </p:sp>
      <p:sp>
        <p:nvSpPr>
          <p:cNvPr id="45" name="Rounded Rectangle 44"/>
          <p:cNvSpPr/>
          <p:nvPr/>
        </p:nvSpPr>
        <p:spPr>
          <a:xfrm>
            <a:off x="9281160" y="3474720"/>
            <a:ext cx="2487168" cy="2468880"/>
          </a:xfrm>
          <a:prstGeom prst="roundRect">
            <a:avLst>
              <a:gd name="adj" fmla="val 6000"/>
            </a:avLst>
          </a:prstGeom>
          <a:solidFill>
            <a:srgbClr val="E0F2F1"/>
          </a:solidFill>
          <a:ln>
            <a:noFill/>
          </a:ln>
          <a:effectLst/>
        </p:spPr>
        <p:txBody>
          <a:bodyPr rtlCol="0" anchor="ctr"/>
          <a:lstStyle/>
          <a:p>
            <a:pPr algn="ctr"/>
          </a:p>
        </p:txBody>
      </p:sp>
      <p:pic>
        <p:nvPicPr>
          <p:cNvPr id="46" name="Picture 45" descr="c_chu-nhiem_suy-nghi.png"/>
          <p:cNvPicPr>
            <a:picLocks noChangeAspect="1"/>
          </p:cNvPicPr>
          <p:nvPr/>
        </p:nvPicPr>
        <p:blipFill>
          <a:blip r:embed="rId5"/>
          <a:stretch>
            <a:fillRect/>
          </a:stretch>
        </p:blipFill>
        <p:spPr>
          <a:xfrm>
            <a:off x="9281160" y="3520440"/>
            <a:ext cx="2377440" cy="23774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 · VẤN ĐỀ</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05</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Cách truyền thống: dữ liệu rời rạc, thông tin đến chậm</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8" name="Rounded Rectangle 7"/>
          <p:cNvSpPr/>
          <p:nvPr/>
        </p:nvSpPr>
        <p:spPr>
          <a:xfrm>
            <a:off x="2324100"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9" name="TextBox 8"/>
          <p:cNvSpPr txBox="1"/>
          <p:nvPr/>
        </p:nvSpPr>
        <p:spPr>
          <a:xfrm>
            <a:off x="2415540"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 · VẤN ĐỀ</a:t>
            </a:r>
          </a:p>
        </p:txBody>
      </p:sp>
      <p:sp>
        <p:nvSpPr>
          <p:cNvPr id="10" name="TextBox 9"/>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1" name="TextBox 10"/>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2" name="TextBox 11"/>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3" name="TextBox 12"/>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sp>
        <p:nvSpPr>
          <p:cNvPr id="14" name="Rounded Rectangle 13"/>
          <p:cNvSpPr/>
          <p:nvPr/>
        </p:nvSpPr>
        <p:spPr>
          <a:xfrm>
            <a:off x="420624" y="1234440"/>
            <a:ext cx="4206240" cy="4663440"/>
          </a:xfrm>
          <a:prstGeom prst="roundRect">
            <a:avLst>
              <a:gd name="adj" fmla="val 6000"/>
            </a:avLst>
          </a:prstGeom>
          <a:solidFill>
            <a:srgbClr val="E0F2F1"/>
          </a:solidFill>
          <a:ln>
            <a:noFill/>
          </a:ln>
          <a:effectLst/>
        </p:spPr>
        <p:txBody>
          <a:bodyPr rtlCol="0" anchor="ctr"/>
          <a:lstStyle/>
          <a:p>
            <a:pPr algn="ctr"/>
          </a:p>
        </p:txBody>
      </p:sp>
      <p:pic>
        <p:nvPicPr>
          <p:cNvPr id="15" name="Picture 14" descr="c_chu-nhiem_lo-lang.png"/>
          <p:cNvPicPr>
            <a:picLocks noChangeAspect="1"/>
          </p:cNvPicPr>
          <p:nvPr/>
        </p:nvPicPr>
        <p:blipFill>
          <a:blip r:embed="rId2"/>
          <a:stretch>
            <a:fillRect/>
          </a:stretch>
        </p:blipFill>
        <p:spPr>
          <a:xfrm>
            <a:off x="420624" y="1417320"/>
            <a:ext cx="3291840" cy="3291840"/>
          </a:xfrm>
          <a:prstGeom prst="rect">
            <a:avLst/>
          </a:prstGeom>
        </p:spPr>
      </p:pic>
      <p:sp>
        <p:nvSpPr>
          <p:cNvPr id="16" name="TextBox 15"/>
          <p:cNvSpPr txBox="1"/>
          <p:nvPr/>
        </p:nvSpPr>
        <p:spPr>
          <a:xfrm>
            <a:off x="694944" y="4846320"/>
            <a:ext cx="3657600" cy="914400"/>
          </a:xfrm>
          <a:prstGeom prst="rect">
            <a:avLst/>
          </a:prstGeom>
          <a:noFill/>
        </p:spPr>
        <p:txBody>
          <a:bodyPr wrap="square" anchor="ctr" lIns="0" rIns="0" tIns="0" bIns="0">
            <a:spAutoFit/>
          </a:bodyPr>
          <a:lstStyle/>
          <a:p>
            <a:pPr algn="ctr"/>
            <a:r>
              <a:rPr sz="1300" b="0" i="1">
                <a:solidFill>
                  <a:srgbClr val="0F4C47"/>
                </a:solidFill>
                <a:latin typeface="Aptos"/>
              </a:rPr>
              <a:t>Cuối tháng, giáo viên chủ nhiệm phải gom sổ của từng tổ và cộng điểm bằng tay mới biết lớp đang thế nào.</a:t>
            </a:r>
          </a:p>
        </p:txBody>
      </p:sp>
      <p:sp>
        <p:nvSpPr>
          <p:cNvPr id="17" name="Oval 16"/>
          <p:cNvSpPr/>
          <p:nvPr/>
        </p:nvSpPr>
        <p:spPr>
          <a:xfrm>
            <a:off x="5029200" y="1261872"/>
            <a:ext cx="566928" cy="566928"/>
          </a:xfrm>
          <a:prstGeom prst="ellipse">
            <a:avLst/>
          </a:prstGeom>
          <a:solidFill>
            <a:srgbClr val="E0F2F1"/>
          </a:solidFill>
          <a:ln>
            <a:noFill/>
          </a:ln>
          <a:effectLst/>
        </p:spPr>
        <p:txBody>
          <a:bodyPr rtlCol="0" anchor="ctr"/>
          <a:lstStyle/>
          <a:p>
            <a:pPr algn="ctr"/>
          </a:p>
        </p:txBody>
      </p:sp>
      <p:pic>
        <p:nvPicPr>
          <p:cNvPr id="18" name="Picture 17" descr="file_2A9D8F.png"/>
          <p:cNvPicPr>
            <a:picLocks noChangeAspect="1"/>
          </p:cNvPicPr>
          <p:nvPr/>
        </p:nvPicPr>
        <p:blipFill>
          <a:blip r:embed="rId3"/>
          <a:stretch>
            <a:fillRect/>
          </a:stretch>
        </p:blipFill>
        <p:spPr>
          <a:xfrm>
            <a:off x="5153924" y="1386596"/>
            <a:ext cx="317479" cy="317479"/>
          </a:xfrm>
          <a:prstGeom prst="rect">
            <a:avLst/>
          </a:prstGeom>
        </p:spPr>
      </p:pic>
      <p:sp>
        <p:nvSpPr>
          <p:cNvPr id="19" name="TextBox 18"/>
          <p:cNvSpPr txBox="1"/>
          <p:nvPr/>
        </p:nvSpPr>
        <p:spPr>
          <a:xfrm>
            <a:off x="5760720" y="1243584"/>
            <a:ext cx="5989320" cy="310896"/>
          </a:xfrm>
          <a:prstGeom prst="rect">
            <a:avLst/>
          </a:prstGeom>
          <a:noFill/>
        </p:spPr>
        <p:txBody>
          <a:bodyPr wrap="square" anchor="t" lIns="0" rIns="0" tIns="0" bIns="0">
            <a:spAutoFit/>
          </a:bodyPr>
          <a:lstStyle/>
          <a:p>
            <a:pPr algn="l"/>
            <a:r>
              <a:rPr sz="1600" b="1" i="0">
                <a:solidFill>
                  <a:srgbClr val="0F4C47"/>
                </a:solidFill>
                <a:latin typeface="Aptos"/>
              </a:rPr>
              <a:t>Dữ liệu nằm rải rác</a:t>
            </a:r>
          </a:p>
        </p:txBody>
      </p:sp>
      <p:sp>
        <p:nvSpPr>
          <p:cNvPr id="20" name="TextBox 19"/>
          <p:cNvSpPr txBox="1"/>
          <p:nvPr/>
        </p:nvSpPr>
        <p:spPr>
          <a:xfrm>
            <a:off x="5760720" y="1572768"/>
            <a:ext cx="5989320" cy="457200"/>
          </a:xfrm>
          <a:prstGeom prst="rect">
            <a:avLst/>
          </a:prstGeom>
          <a:noFill/>
        </p:spPr>
        <p:txBody>
          <a:bodyPr wrap="square" anchor="t" lIns="0" rIns="0" tIns="0" bIns="0">
            <a:spAutoFit/>
          </a:bodyPr>
          <a:lstStyle/>
          <a:p>
            <a:pPr algn="l"/>
            <a:r>
              <a:rPr sz="1300" b="0" i="0">
                <a:solidFill>
                  <a:srgbClr val="1F2D2C"/>
                </a:solidFill>
                <a:latin typeface="Aptos"/>
              </a:rPr>
              <a:t>Sổ giấy của từng tổ, file Excel trên máy cá nhân, nhiều bản Google Sheet.</a:t>
            </a:r>
          </a:p>
        </p:txBody>
      </p:sp>
      <p:sp>
        <p:nvSpPr>
          <p:cNvPr id="21" name="Oval 20"/>
          <p:cNvSpPr/>
          <p:nvPr/>
        </p:nvSpPr>
        <p:spPr>
          <a:xfrm>
            <a:off x="5029200" y="2194560"/>
            <a:ext cx="566928" cy="566928"/>
          </a:xfrm>
          <a:prstGeom prst="ellipse">
            <a:avLst/>
          </a:prstGeom>
          <a:solidFill>
            <a:srgbClr val="E0F2F1"/>
          </a:solidFill>
          <a:ln>
            <a:noFill/>
          </a:ln>
          <a:effectLst/>
        </p:spPr>
        <p:txBody>
          <a:bodyPr rtlCol="0" anchor="ctr"/>
          <a:lstStyle/>
          <a:p>
            <a:pPr algn="ctr"/>
          </a:p>
        </p:txBody>
      </p:sp>
      <p:pic>
        <p:nvPicPr>
          <p:cNvPr id="22" name="Picture 21" descr="clock_2A9D8F.png"/>
          <p:cNvPicPr>
            <a:picLocks noChangeAspect="1"/>
          </p:cNvPicPr>
          <p:nvPr/>
        </p:nvPicPr>
        <p:blipFill>
          <a:blip r:embed="rId4"/>
          <a:stretch>
            <a:fillRect/>
          </a:stretch>
        </p:blipFill>
        <p:spPr>
          <a:xfrm>
            <a:off x="5153924" y="2319284"/>
            <a:ext cx="317479" cy="317479"/>
          </a:xfrm>
          <a:prstGeom prst="rect">
            <a:avLst/>
          </a:prstGeom>
        </p:spPr>
      </p:pic>
      <p:sp>
        <p:nvSpPr>
          <p:cNvPr id="23" name="TextBox 22"/>
          <p:cNvSpPr txBox="1"/>
          <p:nvPr/>
        </p:nvSpPr>
        <p:spPr>
          <a:xfrm>
            <a:off x="5760720" y="2176272"/>
            <a:ext cx="5989320" cy="310896"/>
          </a:xfrm>
          <a:prstGeom prst="rect">
            <a:avLst/>
          </a:prstGeom>
          <a:noFill/>
        </p:spPr>
        <p:txBody>
          <a:bodyPr wrap="square" anchor="t" lIns="0" rIns="0" tIns="0" bIns="0">
            <a:spAutoFit/>
          </a:bodyPr>
          <a:lstStyle/>
          <a:p>
            <a:pPr algn="l"/>
            <a:r>
              <a:rPr sz="1600" b="1" i="0">
                <a:solidFill>
                  <a:srgbClr val="0F4C47"/>
                </a:solidFill>
                <a:latin typeface="Aptos"/>
              </a:rPr>
              <a:t>Tổng hợp bằng tay, dễ sai</a:t>
            </a:r>
          </a:p>
        </p:txBody>
      </p:sp>
      <p:sp>
        <p:nvSpPr>
          <p:cNvPr id="24" name="TextBox 23"/>
          <p:cNvSpPr txBox="1"/>
          <p:nvPr/>
        </p:nvSpPr>
        <p:spPr>
          <a:xfrm>
            <a:off x="5760720" y="2505456"/>
            <a:ext cx="5989320" cy="457200"/>
          </a:xfrm>
          <a:prstGeom prst="rect">
            <a:avLst/>
          </a:prstGeom>
          <a:noFill/>
        </p:spPr>
        <p:txBody>
          <a:bodyPr wrap="square" anchor="t" lIns="0" rIns="0" tIns="0" bIns="0">
            <a:spAutoFit/>
          </a:bodyPr>
          <a:lstStyle/>
          <a:p>
            <a:pPr algn="l"/>
            <a:r>
              <a:rPr sz="1300" b="0" i="0">
                <a:solidFill>
                  <a:srgbClr val="1F2D2C"/>
                </a:solidFill>
                <a:latin typeface="Aptos"/>
              </a:rPr>
              <a:t>Cộng trừ điểm và xếp loại cuối tuần, cuối tháng đều làm thủ công.</a:t>
            </a:r>
          </a:p>
        </p:txBody>
      </p:sp>
      <p:sp>
        <p:nvSpPr>
          <p:cNvPr id="25" name="Oval 24"/>
          <p:cNvSpPr/>
          <p:nvPr/>
        </p:nvSpPr>
        <p:spPr>
          <a:xfrm>
            <a:off x="5029200" y="3127248"/>
            <a:ext cx="566928" cy="566928"/>
          </a:xfrm>
          <a:prstGeom prst="ellipse">
            <a:avLst/>
          </a:prstGeom>
          <a:solidFill>
            <a:srgbClr val="E0F2F1"/>
          </a:solidFill>
          <a:ln>
            <a:noFill/>
          </a:ln>
          <a:effectLst/>
        </p:spPr>
        <p:txBody>
          <a:bodyPr rtlCol="0" anchor="ctr"/>
          <a:lstStyle/>
          <a:p>
            <a:pPr algn="ctr"/>
          </a:p>
        </p:txBody>
      </p:sp>
      <p:pic>
        <p:nvPicPr>
          <p:cNvPr id="26" name="Picture 25" descr="users_2A9D8F.png"/>
          <p:cNvPicPr>
            <a:picLocks noChangeAspect="1"/>
          </p:cNvPicPr>
          <p:nvPr/>
        </p:nvPicPr>
        <p:blipFill>
          <a:blip r:embed="rId5"/>
          <a:stretch>
            <a:fillRect/>
          </a:stretch>
        </p:blipFill>
        <p:spPr>
          <a:xfrm>
            <a:off x="5153924" y="3251972"/>
            <a:ext cx="317479" cy="317479"/>
          </a:xfrm>
          <a:prstGeom prst="rect">
            <a:avLst/>
          </a:prstGeom>
        </p:spPr>
      </p:pic>
      <p:sp>
        <p:nvSpPr>
          <p:cNvPr id="27" name="TextBox 26"/>
          <p:cNvSpPr txBox="1"/>
          <p:nvPr/>
        </p:nvSpPr>
        <p:spPr>
          <a:xfrm>
            <a:off x="5760720" y="3108960"/>
            <a:ext cx="5989320" cy="310896"/>
          </a:xfrm>
          <a:prstGeom prst="rect">
            <a:avLst/>
          </a:prstGeom>
          <a:noFill/>
        </p:spPr>
        <p:txBody>
          <a:bodyPr wrap="square" anchor="t" lIns="0" rIns="0" tIns="0" bIns="0">
            <a:spAutoFit/>
          </a:bodyPr>
          <a:lstStyle/>
          <a:p>
            <a:pPr algn="l"/>
            <a:r>
              <a:rPr sz="1600" b="1" i="0">
                <a:solidFill>
                  <a:srgbClr val="0F4C47"/>
                </a:solidFill>
                <a:latin typeface="Aptos"/>
              </a:rPr>
              <a:t>Phụ huynh biết muộn</a:t>
            </a:r>
          </a:p>
        </p:txBody>
      </p:sp>
      <p:sp>
        <p:nvSpPr>
          <p:cNvPr id="28" name="TextBox 27"/>
          <p:cNvSpPr txBox="1"/>
          <p:nvPr/>
        </p:nvSpPr>
        <p:spPr>
          <a:xfrm>
            <a:off x="5760720" y="3438144"/>
            <a:ext cx="5989320" cy="457200"/>
          </a:xfrm>
          <a:prstGeom prst="rect">
            <a:avLst/>
          </a:prstGeom>
          <a:noFill/>
        </p:spPr>
        <p:txBody>
          <a:bodyPr wrap="square" anchor="t" lIns="0" rIns="0" tIns="0" bIns="0">
            <a:spAutoFit/>
          </a:bodyPr>
          <a:lstStyle/>
          <a:p>
            <a:pPr algn="l"/>
            <a:r>
              <a:rPr sz="1300" b="0" i="0">
                <a:solidFill>
                  <a:srgbClr val="1F2D2C"/>
                </a:solidFill>
                <a:latin typeface="Aptos"/>
              </a:rPr>
              <a:t>Chủ yếu biết qua họp phụ huynh hoặc tin nhắn lẻ, ít có bằng chứng cụ thể.</a:t>
            </a:r>
          </a:p>
        </p:txBody>
      </p:sp>
      <p:sp>
        <p:nvSpPr>
          <p:cNvPr id="29" name="Oval 28"/>
          <p:cNvSpPr/>
          <p:nvPr/>
        </p:nvSpPr>
        <p:spPr>
          <a:xfrm>
            <a:off x="5029200" y="4059935"/>
            <a:ext cx="566928" cy="566928"/>
          </a:xfrm>
          <a:prstGeom prst="ellipse">
            <a:avLst/>
          </a:prstGeom>
          <a:solidFill>
            <a:srgbClr val="E0F2F1"/>
          </a:solidFill>
          <a:ln>
            <a:noFill/>
          </a:ln>
          <a:effectLst/>
        </p:spPr>
        <p:txBody>
          <a:bodyPr rtlCol="0" anchor="ctr"/>
          <a:lstStyle/>
          <a:p>
            <a:pPr algn="ctr"/>
          </a:p>
        </p:txBody>
      </p:sp>
      <p:pic>
        <p:nvPicPr>
          <p:cNvPr id="30" name="Picture 29" descr="eye_2A9D8F.png"/>
          <p:cNvPicPr>
            <a:picLocks noChangeAspect="1"/>
          </p:cNvPicPr>
          <p:nvPr/>
        </p:nvPicPr>
        <p:blipFill>
          <a:blip r:embed="rId6"/>
          <a:stretch>
            <a:fillRect/>
          </a:stretch>
        </p:blipFill>
        <p:spPr>
          <a:xfrm>
            <a:off x="5153924" y="4184660"/>
            <a:ext cx="317479" cy="317479"/>
          </a:xfrm>
          <a:prstGeom prst="rect">
            <a:avLst/>
          </a:prstGeom>
        </p:spPr>
      </p:pic>
      <p:sp>
        <p:nvSpPr>
          <p:cNvPr id="31" name="TextBox 30"/>
          <p:cNvSpPr txBox="1"/>
          <p:nvPr/>
        </p:nvSpPr>
        <p:spPr>
          <a:xfrm>
            <a:off x="5760720" y="4041648"/>
            <a:ext cx="5989320" cy="310896"/>
          </a:xfrm>
          <a:prstGeom prst="rect">
            <a:avLst/>
          </a:prstGeom>
          <a:noFill/>
        </p:spPr>
        <p:txBody>
          <a:bodyPr wrap="square" anchor="t" lIns="0" rIns="0" tIns="0" bIns="0">
            <a:spAutoFit/>
          </a:bodyPr>
          <a:lstStyle/>
          <a:p>
            <a:pPr algn="l"/>
            <a:r>
              <a:rPr sz="1600" b="1" i="0">
                <a:solidFill>
                  <a:srgbClr val="0F4C47"/>
                </a:solidFill>
                <a:latin typeface="Aptos"/>
              </a:rPr>
              <a:t>Khó nhìn tổng thể</a:t>
            </a:r>
          </a:p>
        </p:txBody>
      </p:sp>
      <p:sp>
        <p:nvSpPr>
          <p:cNvPr id="32" name="TextBox 31"/>
          <p:cNvSpPr txBox="1"/>
          <p:nvPr/>
        </p:nvSpPr>
        <p:spPr>
          <a:xfrm>
            <a:off x="5760720" y="4370831"/>
            <a:ext cx="5989320" cy="457200"/>
          </a:xfrm>
          <a:prstGeom prst="rect">
            <a:avLst/>
          </a:prstGeom>
          <a:noFill/>
        </p:spPr>
        <p:txBody>
          <a:bodyPr wrap="square" anchor="t" lIns="0" rIns="0" tIns="0" bIns="0">
            <a:spAutoFit/>
          </a:bodyPr>
          <a:lstStyle/>
          <a:p>
            <a:pPr algn="l"/>
            <a:r>
              <a:rPr sz="1300" b="0" i="0">
                <a:solidFill>
                  <a:srgbClr val="1F2D2C"/>
                </a:solidFill>
                <a:latin typeface="Aptos"/>
              </a:rPr>
              <a:t>Khó so sánh giữa các tổ, các tuần, các kỳ để kịp thời nhắc nhở.</a:t>
            </a:r>
          </a:p>
        </p:txBody>
      </p:sp>
      <p:sp>
        <p:nvSpPr>
          <p:cNvPr id="33" name="Oval 32"/>
          <p:cNvSpPr/>
          <p:nvPr/>
        </p:nvSpPr>
        <p:spPr>
          <a:xfrm>
            <a:off x="5029200" y="4992623"/>
            <a:ext cx="566928" cy="566928"/>
          </a:xfrm>
          <a:prstGeom prst="ellipse">
            <a:avLst/>
          </a:prstGeom>
          <a:solidFill>
            <a:srgbClr val="E0F2F1"/>
          </a:solidFill>
          <a:ln>
            <a:noFill/>
          </a:ln>
          <a:effectLst/>
        </p:spPr>
        <p:txBody>
          <a:bodyPr rtlCol="0" anchor="ctr"/>
          <a:lstStyle/>
          <a:p>
            <a:pPr algn="ctr"/>
          </a:p>
        </p:txBody>
      </p:sp>
      <p:pic>
        <p:nvPicPr>
          <p:cNvPr id="34" name="Picture 33" descr="alert_2A9D8F.png"/>
          <p:cNvPicPr>
            <a:picLocks noChangeAspect="1"/>
          </p:cNvPicPr>
          <p:nvPr/>
        </p:nvPicPr>
        <p:blipFill>
          <a:blip r:embed="rId7"/>
          <a:stretch>
            <a:fillRect/>
          </a:stretch>
        </p:blipFill>
        <p:spPr>
          <a:xfrm>
            <a:off x="5153924" y="5117348"/>
            <a:ext cx="317479" cy="317479"/>
          </a:xfrm>
          <a:prstGeom prst="rect">
            <a:avLst/>
          </a:prstGeom>
        </p:spPr>
      </p:pic>
      <p:sp>
        <p:nvSpPr>
          <p:cNvPr id="35" name="TextBox 34"/>
          <p:cNvSpPr txBox="1"/>
          <p:nvPr/>
        </p:nvSpPr>
        <p:spPr>
          <a:xfrm>
            <a:off x="5760720" y="4974336"/>
            <a:ext cx="5989320" cy="310896"/>
          </a:xfrm>
          <a:prstGeom prst="rect">
            <a:avLst/>
          </a:prstGeom>
          <a:noFill/>
        </p:spPr>
        <p:txBody>
          <a:bodyPr wrap="square" anchor="t" lIns="0" rIns="0" tIns="0" bIns="0">
            <a:spAutoFit/>
          </a:bodyPr>
          <a:lstStyle/>
          <a:p>
            <a:pPr algn="l"/>
            <a:r>
              <a:rPr sz="1600" b="1" i="0">
                <a:solidFill>
                  <a:srgbClr val="0F4C47"/>
                </a:solidFill>
                <a:latin typeface="Aptos"/>
              </a:rPr>
              <a:t>Khó kiểm soát việc sửa</a:t>
            </a:r>
          </a:p>
        </p:txBody>
      </p:sp>
      <p:sp>
        <p:nvSpPr>
          <p:cNvPr id="36" name="TextBox 35"/>
          <p:cNvSpPr txBox="1"/>
          <p:nvPr/>
        </p:nvSpPr>
        <p:spPr>
          <a:xfrm>
            <a:off x="5760720" y="5303519"/>
            <a:ext cx="5989320" cy="457200"/>
          </a:xfrm>
          <a:prstGeom prst="rect">
            <a:avLst/>
          </a:prstGeom>
          <a:noFill/>
        </p:spPr>
        <p:txBody>
          <a:bodyPr wrap="square" anchor="t" lIns="0" rIns="0" tIns="0" bIns="0">
            <a:spAutoFit/>
          </a:bodyPr>
          <a:lstStyle/>
          <a:p>
            <a:pPr algn="l"/>
            <a:r>
              <a:rPr sz="1300" b="0" i="0">
                <a:solidFill>
                  <a:srgbClr val="1F2D2C"/>
                </a:solidFill>
                <a:latin typeface="Aptos"/>
              </a:rPr>
              <a:t>Số liệu đã xếp loại vẫn có thể bị sửa, không rõ ai sửa, sửa lúc nào.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 · VẤN ĐỀ</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06</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Mục đích: ghi một lần, đến đúng người, đúng lúc</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8" name="Rounded Rectangle 7"/>
          <p:cNvSpPr/>
          <p:nvPr/>
        </p:nvSpPr>
        <p:spPr>
          <a:xfrm>
            <a:off x="2324100"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9" name="TextBox 8"/>
          <p:cNvSpPr txBox="1"/>
          <p:nvPr/>
        </p:nvSpPr>
        <p:spPr>
          <a:xfrm>
            <a:off x="2415540"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 · VẤN ĐỀ</a:t>
            </a:r>
          </a:p>
        </p:txBody>
      </p:sp>
      <p:sp>
        <p:nvSpPr>
          <p:cNvPr id="10" name="TextBox 9"/>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1" name="TextBox 10"/>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2" name="TextBox 11"/>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3" name="TextBox 12"/>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sp>
        <p:nvSpPr>
          <p:cNvPr id="14" name="TextBox 13"/>
          <p:cNvSpPr txBox="1"/>
          <p:nvPr/>
        </p:nvSpPr>
        <p:spPr>
          <a:xfrm>
            <a:off x="420624" y="1188720"/>
            <a:ext cx="914400" cy="1005840"/>
          </a:xfrm>
          <a:prstGeom prst="rect">
            <a:avLst/>
          </a:prstGeom>
          <a:noFill/>
        </p:spPr>
        <p:txBody>
          <a:bodyPr wrap="square" anchor="t" lIns="0" rIns="0" tIns="0" bIns="0">
            <a:spAutoFit/>
          </a:bodyPr>
          <a:lstStyle/>
          <a:p>
            <a:pPr algn="l"/>
            <a:r>
              <a:rPr sz="9600" b="1" i="0">
                <a:solidFill>
                  <a:srgbClr val="2A9D8F"/>
                </a:solidFill>
                <a:latin typeface="Aptos"/>
              </a:rPr>
              <a:t>“</a:t>
            </a:r>
          </a:p>
        </p:txBody>
      </p:sp>
      <p:sp>
        <p:nvSpPr>
          <p:cNvPr id="15" name="TextBox 14"/>
          <p:cNvSpPr txBox="1"/>
          <p:nvPr/>
        </p:nvSpPr>
        <p:spPr>
          <a:xfrm>
            <a:off x="1188720" y="1600200"/>
            <a:ext cx="6949440" cy="1828800"/>
          </a:xfrm>
          <a:prstGeom prst="rect">
            <a:avLst/>
          </a:prstGeom>
          <a:noFill/>
        </p:spPr>
        <p:txBody>
          <a:bodyPr wrap="square" anchor="t" lIns="0" rIns="0" tIns="0" bIns="0">
            <a:spAutoFit/>
          </a:bodyPr>
          <a:lstStyle/>
          <a:p>
            <a:pPr algn="l"/>
            <a:r>
              <a:rPr sz="2500" b="0" i="1">
                <a:solidFill>
                  <a:srgbClr val="0F4C47"/>
                </a:solidFill>
                <a:latin typeface="Aptos"/>
              </a:rPr>
              <a:t>Mỗi lần học sinh được cộng hay bị trừ điểm chỉ cần ghi một lần. Lớp, giáo viên chủ nhiệm và phụ huynh đều thấy ngay.</a:t>
            </a:r>
          </a:p>
        </p:txBody>
      </p:sp>
      <p:sp>
        <p:nvSpPr>
          <p:cNvPr id="16" name="Oval 15"/>
          <p:cNvSpPr/>
          <p:nvPr/>
        </p:nvSpPr>
        <p:spPr>
          <a:xfrm>
            <a:off x="1188720" y="3977639"/>
            <a:ext cx="347472" cy="347472"/>
          </a:xfrm>
          <a:prstGeom prst="ellipse">
            <a:avLst/>
          </a:prstGeom>
          <a:solidFill>
            <a:srgbClr val="0F766E"/>
          </a:solidFill>
          <a:ln>
            <a:noFill/>
          </a:ln>
          <a:effectLst/>
        </p:spPr>
        <p:txBody>
          <a:bodyPr rtlCol="0" anchor="ctr"/>
          <a:lstStyle/>
          <a:p>
            <a:pPr algn="ctr"/>
          </a:p>
        </p:txBody>
      </p:sp>
      <p:sp>
        <p:nvSpPr>
          <p:cNvPr id="17" name="TextBox 16"/>
          <p:cNvSpPr txBox="1"/>
          <p:nvPr/>
        </p:nvSpPr>
        <p:spPr>
          <a:xfrm>
            <a:off x="1188720" y="3977639"/>
            <a:ext cx="347472" cy="347472"/>
          </a:xfrm>
          <a:prstGeom prst="rect">
            <a:avLst/>
          </a:prstGeom>
          <a:noFill/>
        </p:spPr>
        <p:txBody>
          <a:bodyPr wrap="square" anchor="ctr" lIns="0" rIns="0" tIns="0" bIns="0">
            <a:spAutoFit/>
          </a:bodyPr>
          <a:lstStyle/>
          <a:p>
            <a:pPr algn="ctr"/>
            <a:r>
              <a:rPr sz="1300" b="1" i="0">
                <a:solidFill>
                  <a:srgbClr val="FFFFFF"/>
                </a:solidFill>
                <a:latin typeface="Aptos"/>
              </a:rPr>
              <a:t>1</a:t>
            </a:r>
          </a:p>
        </p:txBody>
      </p:sp>
      <p:sp>
        <p:nvSpPr>
          <p:cNvPr id="18" name="TextBox 17"/>
          <p:cNvSpPr txBox="1"/>
          <p:nvPr/>
        </p:nvSpPr>
        <p:spPr>
          <a:xfrm>
            <a:off x="1188720" y="4434840"/>
            <a:ext cx="1691640" cy="310896"/>
          </a:xfrm>
          <a:prstGeom prst="rect">
            <a:avLst/>
          </a:prstGeom>
          <a:noFill/>
        </p:spPr>
        <p:txBody>
          <a:bodyPr wrap="square" anchor="t" lIns="0" rIns="0" tIns="0" bIns="0">
            <a:spAutoFit/>
          </a:bodyPr>
          <a:lstStyle/>
          <a:p>
            <a:pPr algn="l"/>
            <a:r>
              <a:rPr sz="1500" b="1" i="0">
                <a:solidFill>
                  <a:srgbClr val="0F4C47"/>
                </a:solidFill>
                <a:latin typeface="Aptos"/>
              </a:rPr>
              <a:t>Ghi một lần</a:t>
            </a:r>
          </a:p>
        </p:txBody>
      </p:sp>
      <p:sp>
        <p:nvSpPr>
          <p:cNvPr id="19" name="TextBox 18"/>
          <p:cNvSpPr txBox="1"/>
          <p:nvPr/>
        </p:nvSpPr>
        <p:spPr>
          <a:xfrm>
            <a:off x="1188720" y="4754880"/>
            <a:ext cx="1691640" cy="1097280"/>
          </a:xfrm>
          <a:prstGeom prst="rect">
            <a:avLst/>
          </a:prstGeom>
          <a:noFill/>
        </p:spPr>
        <p:txBody>
          <a:bodyPr wrap="square" anchor="t" lIns="0" rIns="0" tIns="0" bIns="0">
            <a:spAutoFit/>
          </a:bodyPr>
          <a:lstStyle/>
          <a:p>
            <a:pPr algn="l"/>
            <a:r>
              <a:rPr sz="1250" b="0" i="0">
                <a:solidFill>
                  <a:srgbClr val="1F2D2C"/>
                </a:solidFill>
                <a:latin typeface="Aptos"/>
              </a:rPr>
              <a:t>Cán bộ lớp ghi trên điện thoại, không phải chép lại.</a:t>
            </a:r>
          </a:p>
        </p:txBody>
      </p:sp>
      <p:sp>
        <p:nvSpPr>
          <p:cNvPr id="20" name="Oval 19"/>
          <p:cNvSpPr/>
          <p:nvPr/>
        </p:nvSpPr>
        <p:spPr>
          <a:xfrm>
            <a:off x="3017520" y="3977639"/>
            <a:ext cx="347472" cy="347472"/>
          </a:xfrm>
          <a:prstGeom prst="ellipse">
            <a:avLst/>
          </a:prstGeom>
          <a:solidFill>
            <a:srgbClr val="0F766E"/>
          </a:solidFill>
          <a:ln>
            <a:noFill/>
          </a:ln>
          <a:effectLst/>
        </p:spPr>
        <p:txBody>
          <a:bodyPr rtlCol="0" anchor="ctr"/>
          <a:lstStyle/>
          <a:p>
            <a:pPr algn="ctr"/>
          </a:p>
        </p:txBody>
      </p:sp>
      <p:sp>
        <p:nvSpPr>
          <p:cNvPr id="21" name="TextBox 20"/>
          <p:cNvSpPr txBox="1"/>
          <p:nvPr/>
        </p:nvSpPr>
        <p:spPr>
          <a:xfrm>
            <a:off x="3017520" y="3977639"/>
            <a:ext cx="347472" cy="347472"/>
          </a:xfrm>
          <a:prstGeom prst="rect">
            <a:avLst/>
          </a:prstGeom>
          <a:noFill/>
        </p:spPr>
        <p:txBody>
          <a:bodyPr wrap="square" anchor="ctr" lIns="0" rIns="0" tIns="0" bIns="0">
            <a:spAutoFit/>
          </a:bodyPr>
          <a:lstStyle/>
          <a:p>
            <a:pPr algn="ctr"/>
            <a:r>
              <a:rPr sz="1300" b="1" i="0">
                <a:solidFill>
                  <a:srgbClr val="FFFFFF"/>
                </a:solidFill>
                <a:latin typeface="Aptos"/>
              </a:rPr>
              <a:t>2</a:t>
            </a:r>
          </a:p>
        </p:txBody>
      </p:sp>
      <p:sp>
        <p:nvSpPr>
          <p:cNvPr id="22" name="TextBox 21"/>
          <p:cNvSpPr txBox="1"/>
          <p:nvPr/>
        </p:nvSpPr>
        <p:spPr>
          <a:xfrm>
            <a:off x="3017520" y="4434840"/>
            <a:ext cx="1691640" cy="310896"/>
          </a:xfrm>
          <a:prstGeom prst="rect">
            <a:avLst/>
          </a:prstGeom>
          <a:noFill/>
        </p:spPr>
        <p:txBody>
          <a:bodyPr wrap="square" anchor="t" lIns="0" rIns="0" tIns="0" bIns="0">
            <a:spAutoFit/>
          </a:bodyPr>
          <a:lstStyle/>
          <a:p>
            <a:pPr algn="l"/>
            <a:r>
              <a:rPr sz="1500" b="1" i="0">
                <a:solidFill>
                  <a:srgbClr val="0F4C47"/>
                </a:solidFill>
                <a:latin typeface="Aptos"/>
              </a:rPr>
              <a:t>Tự tổng hợp</a:t>
            </a:r>
          </a:p>
        </p:txBody>
      </p:sp>
      <p:sp>
        <p:nvSpPr>
          <p:cNvPr id="23" name="TextBox 22"/>
          <p:cNvSpPr txBox="1"/>
          <p:nvPr/>
        </p:nvSpPr>
        <p:spPr>
          <a:xfrm>
            <a:off x="3017520" y="4754880"/>
            <a:ext cx="1691640" cy="1097280"/>
          </a:xfrm>
          <a:prstGeom prst="rect">
            <a:avLst/>
          </a:prstGeom>
          <a:noFill/>
        </p:spPr>
        <p:txBody>
          <a:bodyPr wrap="square" anchor="t" lIns="0" rIns="0" tIns="0" bIns="0">
            <a:spAutoFit/>
          </a:bodyPr>
          <a:lstStyle/>
          <a:p>
            <a:pPr algn="l"/>
            <a:r>
              <a:rPr sz="1250" b="0" i="0">
                <a:solidFill>
                  <a:srgbClr val="1F2D2C"/>
                </a:solidFill>
                <a:latin typeface="Aptos"/>
              </a:rPr>
              <a:t>Điểm tuần, tháng, học kỳ và xếp loại được tính tự động.</a:t>
            </a:r>
          </a:p>
        </p:txBody>
      </p:sp>
      <p:sp>
        <p:nvSpPr>
          <p:cNvPr id="24" name="Oval 23"/>
          <p:cNvSpPr/>
          <p:nvPr/>
        </p:nvSpPr>
        <p:spPr>
          <a:xfrm>
            <a:off x="4846320" y="3977639"/>
            <a:ext cx="347472" cy="347472"/>
          </a:xfrm>
          <a:prstGeom prst="ellipse">
            <a:avLst/>
          </a:prstGeom>
          <a:solidFill>
            <a:srgbClr val="0F766E"/>
          </a:solidFill>
          <a:ln>
            <a:noFill/>
          </a:ln>
          <a:effectLst/>
        </p:spPr>
        <p:txBody>
          <a:bodyPr rtlCol="0" anchor="ctr"/>
          <a:lstStyle/>
          <a:p>
            <a:pPr algn="ctr"/>
          </a:p>
        </p:txBody>
      </p:sp>
      <p:sp>
        <p:nvSpPr>
          <p:cNvPr id="25" name="TextBox 24"/>
          <p:cNvSpPr txBox="1"/>
          <p:nvPr/>
        </p:nvSpPr>
        <p:spPr>
          <a:xfrm>
            <a:off x="4846320" y="3977639"/>
            <a:ext cx="347472" cy="347472"/>
          </a:xfrm>
          <a:prstGeom prst="rect">
            <a:avLst/>
          </a:prstGeom>
          <a:noFill/>
        </p:spPr>
        <p:txBody>
          <a:bodyPr wrap="square" anchor="ctr" lIns="0" rIns="0" tIns="0" bIns="0">
            <a:spAutoFit/>
          </a:bodyPr>
          <a:lstStyle/>
          <a:p>
            <a:pPr algn="ctr"/>
            <a:r>
              <a:rPr sz="1300" b="1" i="0">
                <a:solidFill>
                  <a:srgbClr val="FFFFFF"/>
                </a:solidFill>
                <a:latin typeface="Aptos"/>
              </a:rPr>
              <a:t>3</a:t>
            </a:r>
          </a:p>
        </p:txBody>
      </p:sp>
      <p:sp>
        <p:nvSpPr>
          <p:cNvPr id="26" name="TextBox 25"/>
          <p:cNvSpPr txBox="1"/>
          <p:nvPr/>
        </p:nvSpPr>
        <p:spPr>
          <a:xfrm>
            <a:off x="4846320" y="4434840"/>
            <a:ext cx="1691640" cy="310896"/>
          </a:xfrm>
          <a:prstGeom prst="rect">
            <a:avLst/>
          </a:prstGeom>
          <a:noFill/>
        </p:spPr>
        <p:txBody>
          <a:bodyPr wrap="square" anchor="t" lIns="0" rIns="0" tIns="0" bIns="0">
            <a:spAutoFit/>
          </a:bodyPr>
          <a:lstStyle/>
          <a:p>
            <a:pPr algn="l"/>
            <a:r>
              <a:rPr sz="1500" b="1" i="0">
                <a:solidFill>
                  <a:srgbClr val="0F4C47"/>
                </a:solidFill>
                <a:latin typeface="Aptos"/>
              </a:rPr>
              <a:t>Minh bạch</a:t>
            </a:r>
          </a:p>
        </p:txBody>
      </p:sp>
      <p:sp>
        <p:nvSpPr>
          <p:cNvPr id="27" name="TextBox 26"/>
          <p:cNvSpPr txBox="1"/>
          <p:nvPr/>
        </p:nvSpPr>
        <p:spPr>
          <a:xfrm>
            <a:off x="4846320" y="4754880"/>
            <a:ext cx="1691640" cy="1097280"/>
          </a:xfrm>
          <a:prstGeom prst="rect">
            <a:avLst/>
          </a:prstGeom>
          <a:noFill/>
        </p:spPr>
        <p:txBody>
          <a:bodyPr wrap="square" anchor="t" lIns="0" rIns="0" tIns="0" bIns="0">
            <a:spAutoFit/>
          </a:bodyPr>
          <a:lstStyle/>
          <a:p>
            <a:pPr algn="l"/>
            <a:r>
              <a:rPr sz="1250" b="0" i="0">
                <a:solidFill>
                  <a:srgbClr val="1F2D2C"/>
                </a:solidFill>
                <a:latin typeface="Aptos"/>
              </a:rPr>
              <a:t>Có ảnh bằng chứng, có nhận xét, có khoá sổ cuối tháng.</a:t>
            </a:r>
          </a:p>
        </p:txBody>
      </p:sp>
      <p:sp>
        <p:nvSpPr>
          <p:cNvPr id="28" name="Oval 27"/>
          <p:cNvSpPr/>
          <p:nvPr/>
        </p:nvSpPr>
        <p:spPr>
          <a:xfrm>
            <a:off x="6675120" y="3977639"/>
            <a:ext cx="347472" cy="347472"/>
          </a:xfrm>
          <a:prstGeom prst="ellipse">
            <a:avLst/>
          </a:prstGeom>
          <a:solidFill>
            <a:srgbClr val="0F766E"/>
          </a:solidFill>
          <a:ln>
            <a:noFill/>
          </a:ln>
          <a:effectLst/>
        </p:spPr>
        <p:txBody>
          <a:bodyPr rtlCol="0" anchor="ctr"/>
          <a:lstStyle/>
          <a:p>
            <a:pPr algn="ctr"/>
          </a:p>
        </p:txBody>
      </p:sp>
      <p:sp>
        <p:nvSpPr>
          <p:cNvPr id="29" name="TextBox 28"/>
          <p:cNvSpPr txBox="1"/>
          <p:nvPr/>
        </p:nvSpPr>
        <p:spPr>
          <a:xfrm>
            <a:off x="6675120" y="3977639"/>
            <a:ext cx="347472" cy="347472"/>
          </a:xfrm>
          <a:prstGeom prst="rect">
            <a:avLst/>
          </a:prstGeom>
          <a:noFill/>
        </p:spPr>
        <p:txBody>
          <a:bodyPr wrap="square" anchor="ctr" lIns="0" rIns="0" tIns="0" bIns="0">
            <a:spAutoFit/>
          </a:bodyPr>
          <a:lstStyle/>
          <a:p>
            <a:pPr algn="ctr"/>
            <a:r>
              <a:rPr sz="1300" b="1" i="0">
                <a:solidFill>
                  <a:srgbClr val="FFFFFF"/>
                </a:solidFill>
                <a:latin typeface="Aptos"/>
              </a:rPr>
              <a:t>4</a:t>
            </a:r>
          </a:p>
        </p:txBody>
      </p:sp>
      <p:sp>
        <p:nvSpPr>
          <p:cNvPr id="30" name="TextBox 29"/>
          <p:cNvSpPr txBox="1"/>
          <p:nvPr/>
        </p:nvSpPr>
        <p:spPr>
          <a:xfrm>
            <a:off x="6675120" y="4434840"/>
            <a:ext cx="1691640" cy="310896"/>
          </a:xfrm>
          <a:prstGeom prst="rect">
            <a:avLst/>
          </a:prstGeom>
          <a:noFill/>
        </p:spPr>
        <p:txBody>
          <a:bodyPr wrap="square" anchor="t" lIns="0" rIns="0" tIns="0" bIns="0">
            <a:spAutoFit/>
          </a:bodyPr>
          <a:lstStyle/>
          <a:p>
            <a:pPr algn="l"/>
            <a:r>
              <a:rPr sz="1500" b="1" i="0">
                <a:solidFill>
                  <a:srgbClr val="0F4C47"/>
                </a:solidFill>
                <a:latin typeface="Aptos"/>
              </a:rPr>
              <a:t>Gắn kết gia đình</a:t>
            </a:r>
          </a:p>
        </p:txBody>
      </p:sp>
      <p:sp>
        <p:nvSpPr>
          <p:cNvPr id="31" name="TextBox 30"/>
          <p:cNvSpPr txBox="1"/>
          <p:nvPr/>
        </p:nvSpPr>
        <p:spPr>
          <a:xfrm>
            <a:off x="6675120" y="4754880"/>
            <a:ext cx="1691640" cy="1097280"/>
          </a:xfrm>
          <a:prstGeom prst="rect">
            <a:avLst/>
          </a:prstGeom>
          <a:noFill/>
        </p:spPr>
        <p:txBody>
          <a:bodyPr wrap="square" anchor="t" lIns="0" rIns="0" tIns="0" bIns="0">
            <a:spAutoFit/>
          </a:bodyPr>
          <a:lstStyle/>
          <a:p>
            <a:pPr algn="l"/>
            <a:r>
              <a:rPr sz="1250" b="0" i="0">
                <a:solidFill>
                  <a:srgbClr val="1F2D2C"/>
                </a:solidFill>
                <a:latin typeface="Aptos"/>
              </a:rPr>
              <a:t>Phụ huynh nhận email và xem kết quả của con.</a:t>
            </a:r>
          </a:p>
        </p:txBody>
      </p:sp>
      <p:pic>
        <p:nvPicPr>
          <p:cNvPr id="32" name="Picture 31" descr="c_giang-day_chi-tay.png"/>
          <p:cNvPicPr>
            <a:picLocks noChangeAspect="1"/>
          </p:cNvPicPr>
          <p:nvPr/>
        </p:nvPicPr>
        <p:blipFill>
          <a:blip r:embed="rId2"/>
          <a:stretch>
            <a:fillRect/>
          </a:stretch>
        </p:blipFill>
        <p:spPr>
          <a:xfrm>
            <a:off x="8778240" y="1188720"/>
            <a:ext cx="4754880" cy="47548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II · GIẢI PHÁP</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07</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Cách tạo ứng dụng: giáo viên mô tả, </a:t>
            </a:r>
            <a:r>
              <a:rPr sz="2500" b="1" i="0">
                <a:solidFill>
                  <a:srgbClr val="C2410C"/>
                </a:solidFill>
                <a:latin typeface="Aptos"/>
              </a:rPr>
              <a:t>AI</a:t>
            </a:r>
            <a:r>
              <a:rPr sz="2500" b="1" i="0">
                <a:solidFill>
                  <a:srgbClr val="0F4C47"/>
                </a:solidFill>
                <a:latin typeface="Aptos"/>
              </a:rPr>
              <a:t> Claude viết code</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8" name="TextBox 7"/>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9" name="Rounded Rectangle 8"/>
          <p:cNvSpPr/>
          <p:nvPr/>
        </p:nvSpPr>
        <p:spPr>
          <a:xfrm>
            <a:off x="4227576"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0" name="TextBox 9"/>
          <p:cNvSpPr txBox="1"/>
          <p:nvPr/>
        </p:nvSpPr>
        <p:spPr>
          <a:xfrm>
            <a:off x="4319015"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II · GIẢI PHÁP</a:t>
            </a:r>
          </a:p>
        </p:txBody>
      </p:sp>
      <p:sp>
        <p:nvSpPr>
          <p:cNvPr id="11" name="TextBox 10"/>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2" name="TextBox 11"/>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3" name="TextBox 12"/>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sp>
        <p:nvSpPr>
          <p:cNvPr id="14" name="Rounded Rectangle 13"/>
          <p:cNvSpPr/>
          <p:nvPr/>
        </p:nvSpPr>
        <p:spPr>
          <a:xfrm>
            <a:off x="420624" y="1234440"/>
            <a:ext cx="2743200" cy="3794760"/>
          </a:xfrm>
          <a:prstGeom prst="roundRect">
            <a:avLst>
              <a:gd name="adj" fmla="val 6000"/>
            </a:avLst>
          </a:prstGeom>
          <a:solidFill>
            <a:srgbClr val="E0F2F1"/>
          </a:solidFill>
          <a:ln>
            <a:noFill/>
          </a:ln>
          <a:effectLst/>
        </p:spPr>
        <p:txBody>
          <a:bodyPr rtlCol="0" anchor="ctr"/>
          <a:lstStyle/>
          <a:p>
            <a:pPr algn="ctr"/>
          </a:p>
        </p:txBody>
      </p:sp>
      <p:pic>
        <p:nvPicPr>
          <p:cNvPr id="15" name="Picture 14" descr="c_giang-day_chi-tay.png"/>
          <p:cNvPicPr>
            <a:picLocks noChangeAspect="1"/>
          </p:cNvPicPr>
          <p:nvPr/>
        </p:nvPicPr>
        <p:blipFill>
          <a:blip r:embed="rId2"/>
          <a:stretch>
            <a:fillRect/>
          </a:stretch>
        </p:blipFill>
        <p:spPr>
          <a:xfrm>
            <a:off x="832104" y="1325880"/>
            <a:ext cx="2103120" cy="2103120"/>
          </a:xfrm>
          <a:prstGeom prst="rect">
            <a:avLst/>
          </a:prstGeom>
        </p:spPr>
      </p:pic>
      <p:sp>
        <p:nvSpPr>
          <p:cNvPr id="16" name="TextBox 15"/>
          <p:cNvSpPr txBox="1"/>
          <p:nvPr/>
        </p:nvSpPr>
        <p:spPr>
          <a:xfrm>
            <a:off x="603504" y="3474720"/>
            <a:ext cx="2377440" cy="329184"/>
          </a:xfrm>
          <a:prstGeom prst="rect">
            <a:avLst/>
          </a:prstGeom>
          <a:noFill/>
        </p:spPr>
        <p:txBody>
          <a:bodyPr wrap="square" anchor="t" lIns="0" rIns="0" tIns="0" bIns="0">
            <a:spAutoFit/>
          </a:bodyPr>
          <a:lstStyle/>
          <a:p>
            <a:pPr algn="ctr"/>
            <a:r>
              <a:rPr sz="1600" b="1" i="0">
                <a:solidFill>
                  <a:srgbClr val="0F4C47"/>
                </a:solidFill>
                <a:latin typeface="Aptos"/>
              </a:rPr>
              <a:t>Giáo viên</a:t>
            </a:r>
          </a:p>
        </p:txBody>
      </p:sp>
      <p:sp>
        <p:nvSpPr>
          <p:cNvPr id="17" name="TextBox 16"/>
          <p:cNvSpPr txBox="1"/>
          <p:nvPr/>
        </p:nvSpPr>
        <p:spPr>
          <a:xfrm>
            <a:off x="603504" y="3840480"/>
            <a:ext cx="2377440" cy="1143000"/>
          </a:xfrm>
          <a:prstGeom prst="rect">
            <a:avLst/>
          </a:prstGeom>
          <a:noFill/>
        </p:spPr>
        <p:txBody>
          <a:bodyPr wrap="square" anchor="t" lIns="0" rIns="0" tIns="0" bIns="0">
            <a:spAutoFit/>
          </a:bodyPr>
          <a:lstStyle/>
          <a:p>
            <a:pPr algn="ctr"/>
            <a:r>
              <a:rPr sz="1250" b="0" i="0">
                <a:solidFill>
                  <a:srgbClr val="1F2D2C"/>
                </a:solidFill>
                <a:latin typeface="Aptos"/>
              </a:rPr>
              <a:t>Mô tả bằng tiếng Việt: cần màn hình gì, tính điểm thế nào, báo cho ai.</a:t>
            </a:r>
          </a:p>
        </p:txBody>
      </p:sp>
      <p:pic>
        <p:nvPicPr>
          <p:cNvPr id="18" name="Picture 17" descr="arrow_0F766E.png"/>
          <p:cNvPicPr>
            <a:picLocks noChangeAspect="1"/>
          </p:cNvPicPr>
          <p:nvPr/>
        </p:nvPicPr>
        <p:blipFill>
          <a:blip r:embed="rId3"/>
          <a:stretch>
            <a:fillRect/>
          </a:stretch>
        </p:blipFill>
        <p:spPr>
          <a:xfrm>
            <a:off x="3246120" y="2514600"/>
            <a:ext cx="457200" cy="457200"/>
          </a:xfrm>
          <a:prstGeom prst="rect">
            <a:avLst/>
          </a:prstGeom>
        </p:spPr>
      </p:pic>
      <p:sp>
        <p:nvSpPr>
          <p:cNvPr id="19" name="Rounded Rectangle 18"/>
          <p:cNvSpPr/>
          <p:nvPr/>
        </p:nvSpPr>
        <p:spPr>
          <a:xfrm>
            <a:off x="3840480" y="1234440"/>
            <a:ext cx="3291840" cy="3794760"/>
          </a:xfrm>
          <a:prstGeom prst="roundRect">
            <a:avLst>
              <a:gd name="adj" fmla="val 6000"/>
            </a:avLst>
          </a:prstGeom>
          <a:solidFill>
            <a:srgbClr val="FFF1E0"/>
          </a:solidFill>
          <a:ln>
            <a:noFill/>
          </a:ln>
          <a:effectLst/>
        </p:spPr>
        <p:txBody>
          <a:bodyPr rtlCol="0" anchor="ctr"/>
          <a:lstStyle/>
          <a:p>
            <a:pPr algn="ctr"/>
          </a:p>
        </p:txBody>
      </p:sp>
      <p:sp>
        <p:nvSpPr>
          <p:cNvPr id="20" name="Oval 19"/>
          <p:cNvSpPr/>
          <p:nvPr/>
        </p:nvSpPr>
        <p:spPr>
          <a:xfrm>
            <a:off x="4709160" y="1417320"/>
            <a:ext cx="1554480" cy="1554480"/>
          </a:xfrm>
          <a:prstGeom prst="ellipse">
            <a:avLst/>
          </a:prstGeom>
          <a:solidFill>
            <a:srgbClr val="FFFFFF"/>
          </a:solidFill>
          <a:ln>
            <a:noFill/>
          </a:ln>
          <a:effectLst/>
        </p:spPr>
        <p:txBody>
          <a:bodyPr rtlCol="0" anchor="ctr"/>
          <a:lstStyle/>
          <a:p>
            <a:pPr algn="ctr"/>
          </a:p>
        </p:txBody>
      </p:sp>
      <p:pic>
        <p:nvPicPr>
          <p:cNvPr id="21" name="Picture 20" descr="logo_claude.png"/>
          <p:cNvPicPr>
            <a:picLocks noChangeAspect="1"/>
          </p:cNvPicPr>
          <p:nvPr/>
        </p:nvPicPr>
        <p:blipFill>
          <a:blip r:embed="rId4"/>
          <a:stretch>
            <a:fillRect/>
          </a:stretch>
        </p:blipFill>
        <p:spPr>
          <a:xfrm>
            <a:off x="4983480" y="1691640"/>
            <a:ext cx="1005840" cy="1005840"/>
          </a:xfrm>
          <a:prstGeom prst="rect">
            <a:avLst/>
          </a:prstGeom>
        </p:spPr>
      </p:pic>
      <p:sp>
        <p:nvSpPr>
          <p:cNvPr id="22" name="TextBox 21"/>
          <p:cNvSpPr txBox="1"/>
          <p:nvPr/>
        </p:nvSpPr>
        <p:spPr>
          <a:xfrm>
            <a:off x="3977639" y="3063240"/>
            <a:ext cx="3017520" cy="365760"/>
          </a:xfrm>
          <a:prstGeom prst="rect">
            <a:avLst/>
          </a:prstGeom>
          <a:noFill/>
        </p:spPr>
        <p:txBody>
          <a:bodyPr wrap="square" anchor="t" lIns="0" rIns="0" tIns="0" bIns="0">
            <a:spAutoFit/>
          </a:bodyPr>
          <a:lstStyle/>
          <a:p>
            <a:pPr algn="ctr"/>
            <a:r>
              <a:rPr sz="2000" b="1" i="0">
                <a:solidFill>
                  <a:srgbClr val="0F4C47"/>
                </a:solidFill>
                <a:latin typeface="Aptos"/>
              </a:rPr>
              <a:t>Claude</a:t>
            </a:r>
          </a:p>
        </p:txBody>
      </p:sp>
      <p:sp>
        <p:nvSpPr>
          <p:cNvPr id="23" name="TextBox 22"/>
          <p:cNvSpPr txBox="1"/>
          <p:nvPr/>
        </p:nvSpPr>
        <p:spPr>
          <a:xfrm>
            <a:off x="3977639" y="3429000"/>
            <a:ext cx="3017520" cy="274320"/>
          </a:xfrm>
          <a:prstGeom prst="rect">
            <a:avLst/>
          </a:prstGeom>
          <a:noFill/>
        </p:spPr>
        <p:txBody>
          <a:bodyPr wrap="square" anchor="t" lIns="0" rIns="0" tIns="0" bIns="0">
            <a:spAutoFit/>
          </a:bodyPr>
          <a:lstStyle/>
          <a:p>
            <a:pPr algn="ctr"/>
            <a:r>
              <a:rPr sz="1200" b="0" i="1">
                <a:solidFill>
                  <a:srgbClr val="5F7472"/>
                </a:solidFill>
                <a:latin typeface="Aptos"/>
              </a:rPr>
              <a:t>trợ lý </a:t>
            </a:r>
            <a:r>
              <a:rPr sz="1200" b="1" i="1">
                <a:solidFill>
                  <a:srgbClr val="C2410C"/>
                </a:solidFill>
                <a:latin typeface="Aptos"/>
              </a:rPr>
              <a:t>AI</a:t>
            </a:r>
            <a:r>
              <a:rPr sz="1200" b="0" i="1">
                <a:solidFill>
                  <a:srgbClr val="5F7472"/>
                </a:solidFill>
                <a:latin typeface="Aptos"/>
              </a:rPr>
              <a:t> của Anthropic</a:t>
            </a:r>
          </a:p>
        </p:txBody>
      </p:sp>
      <p:sp>
        <p:nvSpPr>
          <p:cNvPr id="24" name="TextBox 23"/>
          <p:cNvSpPr txBox="1"/>
          <p:nvPr/>
        </p:nvSpPr>
        <p:spPr>
          <a:xfrm>
            <a:off x="4023360" y="3749039"/>
            <a:ext cx="2926080" cy="1234440"/>
          </a:xfrm>
          <a:prstGeom prst="rect">
            <a:avLst/>
          </a:prstGeom>
          <a:noFill/>
        </p:spPr>
        <p:txBody>
          <a:bodyPr wrap="square" anchor="t" lIns="0" rIns="0" tIns="0" bIns="0">
            <a:spAutoFit/>
          </a:bodyPr>
          <a:lstStyle/>
          <a:p>
            <a:pPr algn="ctr"/>
            <a:r>
              <a:rPr sz="1250" b="0" i="0">
                <a:solidFill>
                  <a:srgbClr val="1F2D2C"/>
                </a:solidFill>
                <a:latin typeface="Aptos"/>
              </a:rPr>
              <a:t>Viết code cho từng phần, sửa lỗi, tự kiểm tra bằng dữ liệu mẫu trước khi cập nhật.</a:t>
            </a:r>
          </a:p>
        </p:txBody>
      </p:sp>
      <p:pic>
        <p:nvPicPr>
          <p:cNvPr id="25" name="Picture 24" descr="arrow_0F766E.png"/>
          <p:cNvPicPr>
            <a:picLocks noChangeAspect="1"/>
          </p:cNvPicPr>
          <p:nvPr/>
        </p:nvPicPr>
        <p:blipFill>
          <a:blip r:embed="rId3"/>
          <a:stretch>
            <a:fillRect/>
          </a:stretch>
        </p:blipFill>
        <p:spPr>
          <a:xfrm>
            <a:off x="7178040" y="2514600"/>
            <a:ext cx="457200" cy="457200"/>
          </a:xfrm>
          <a:prstGeom prst="rect">
            <a:avLst/>
          </a:prstGeom>
        </p:spPr>
      </p:pic>
      <p:sp>
        <p:nvSpPr>
          <p:cNvPr id="26" name="Oval 25"/>
          <p:cNvSpPr/>
          <p:nvPr/>
        </p:nvSpPr>
        <p:spPr>
          <a:xfrm>
            <a:off x="7726679" y="1234440"/>
            <a:ext cx="640080" cy="640080"/>
          </a:xfrm>
          <a:prstGeom prst="ellipse">
            <a:avLst/>
          </a:prstGeom>
          <a:solidFill>
            <a:srgbClr val="F4F7F7"/>
          </a:solidFill>
          <a:ln>
            <a:noFill/>
          </a:ln>
          <a:effectLst/>
        </p:spPr>
        <p:txBody>
          <a:bodyPr rtlCol="0" anchor="ctr"/>
          <a:lstStyle/>
          <a:p>
            <a:pPr algn="ctr"/>
          </a:p>
        </p:txBody>
      </p:sp>
      <p:pic>
        <p:nvPicPr>
          <p:cNvPr id="27" name="Picture 26" descr="logo_googlesheets.png"/>
          <p:cNvPicPr>
            <a:picLocks noChangeAspect="1"/>
          </p:cNvPicPr>
          <p:nvPr/>
        </p:nvPicPr>
        <p:blipFill>
          <a:blip r:embed="rId5"/>
          <a:stretch>
            <a:fillRect/>
          </a:stretch>
        </p:blipFill>
        <p:spPr>
          <a:xfrm>
            <a:off x="7863840" y="1371600"/>
            <a:ext cx="365760" cy="365760"/>
          </a:xfrm>
          <a:prstGeom prst="rect">
            <a:avLst/>
          </a:prstGeom>
        </p:spPr>
      </p:pic>
      <p:sp>
        <p:nvSpPr>
          <p:cNvPr id="28" name="TextBox 27"/>
          <p:cNvSpPr txBox="1"/>
          <p:nvPr/>
        </p:nvSpPr>
        <p:spPr>
          <a:xfrm>
            <a:off x="8503920" y="1216152"/>
            <a:ext cx="3264408" cy="292608"/>
          </a:xfrm>
          <a:prstGeom prst="rect">
            <a:avLst/>
          </a:prstGeom>
          <a:noFill/>
        </p:spPr>
        <p:txBody>
          <a:bodyPr wrap="square" anchor="t" lIns="0" rIns="0" tIns="0" bIns="0">
            <a:spAutoFit/>
          </a:bodyPr>
          <a:lstStyle/>
          <a:p>
            <a:pPr algn="l"/>
            <a:r>
              <a:rPr sz="1450" b="1" i="0">
                <a:solidFill>
                  <a:srgbClr val="0F4C47"/>
                </a:solidFill>
                <a:latin typeface="Aptos"/>
              </a:rPr>
              <a:t>Google Sheets</a:t>
            </a:r>
          </a:p>
        </p:txBody>
      </p:sp>
      <p:sp>
        <p:nvSpPr>
          <p:cNvPr id="29" name="TextBox 28"/>
          <p:cNvSpPr txBox="1"/>
          <p:nvPr/>
        </p:nvSpPr>
        <p:spPr>
          <a:xfrm>
            <a:off x="8503920" y="1508760"/>
            <a:ext cx="3264408" cy="640080"/>
          </a:xfrm>
          <a:prstGeom prst="rect">
            <a:avLst/>
          </a:prstGeom>
          <a:noFill/>
        </p:spPr>
        <p:txBody>
          <a:bodyPr wrap="square" anchor="t" lIns="0" rIns="0" tIns="0" bIns="0">
            <a:spAutoFit/>
          </a:bodyPr>
          <a:lstStyle/>
          <a:p>
            <a:pPr algn="l"/>
            <a:r>
              <a:rPr sz="1200" b="0" i="0">
                <a:solidFill>
                  <a:srgbClr val="1F2D2C"/>
                </a:solidFill>
                <a:latin typeface="Aptos"/>
              </a:rPr>
              <a:t>Bảng tính trực tuyến của Google, giống Excel: nơi lưu học sinh, điểm, nhận xét.</a:t>
            </a:r>
          </a:p>
        </p:txBody>
      </p:sp>
      <p:sp>
        <p:nvSpPr>
          <p:cNvPr id="30" name="Oval 29"/>
          <p:cNvSpPr/>
          <p:nvPr/>
        </p:nvSpPr>
        <p:spPr>
          <a:xfrm>
            <a:off x="7726679" y="2194560"/>
            <a:ext cx="640080" cy="640080"/>
          </a:xfrm>
          <a:prstGeom prst="ellipse">
            <a:avLst/>
          </a:prstGeom>
          <a:solidFill>
            <a:srgbClr val="F4F7F7"/>
          </a:solidFill>
          <a:ln>
            <a:noFill/>
          </a:ln>
          <a:effectLst/>
        </p:spPr>
        <p:txBody>
          <a:bodyPr rtlCol="0" anchor="ctr"/>
          <a:lstStyle/>
          <a:p>
            <a:pPr algn="ctr"/>
          </a:p>
        </p:txBody>
      </p:sp>
      <p:pic>
        <p:nvPicPr>
          <p:cNvPr id="31" name="Picture 30" descr="logo_googleappsscript.png"/>
          <p:cNvPicPr>
            <a:picLocks noChangeAspect="1"/>
          </p:cNvPicPr>
          <p:nvPr/>
        </p:nvPicPr>
        <p:blipFill>
          <a:blip r:embed="rId6"/>
          <a:stretch>
            <a:fillRect/>
          </a:stretch>
        </p:blipFill>
        <p:spPr>
          <a:xfrm>
            <a:off x="7863840" y="2331720"/>
            <a:ext cx="365760" cy="365760"/>
          </a:xfrm>
          <a:prstGeom prst="rect">
            <a:avLst/>
          </a:prstGeom>
        </p:spPr>
      </p:pic>
      <p:sp>
        <p:nvSpPr>
          <p:cNvPr id="32" name="TextBox 31"/>
          <p:cNvSpPr txBox="1"/>
          <p:nvPr/>
        </p:nvSpPr>
        <p:spPr>
          <a:xfrm>
            <a:off x="8503920" y="2176272"/>
            <a:ext cx="3264408" cy="292608"/>
          </a:xfrm>
          <a:prstGeom prst="rect">
            <a:avLst/>
          </a:prstGeom>
          <a:noFill/>
        </p:spPr>
        <p:txBody>
          <a:bodyPr wrap="square" anchor="t" lIns="0" rIns="0" tIns="0" bIns="0">
            <a:spAutoFit/>
          </a:bodyPr>
          <a:lstStyle/>
          <a:p>
            <a:pPr algn="l"/>
            <a:r>
              <a:rPr sz="1450" b="1" i="0">
                <a:solidFill>
                  <a:srgbClr val="0F4C47"/>
                </a:solidFill>
                <a:latin typeface="Aptos"/>
              </a:rPr>
              <a:t>Apps Script</a:t>
            </a:r>
          </a:p>
        </p:txBody>
      </p:sp>
      <p:sp>
        <p:nvSpPr>
          <p:cNvPr id="33" name="TextBox 32"/>
          <p:cNvSpPr txBox="1"/>
          <p:nvPr/>
        </p:nvSpPr>
        <p:spPr>
          <a:xfrm>
            <a:off x="8503920" y="2468880"/>
            <a:ext cx="3264408" cy="640080"/>
          </a:xfrm>
          <a:prstGeom prst="rect">
            <a:avLst/>
          </a:prstGeom>
          <a:noFill/>
        </p:spPr>
        <p:txBody>
          <a:bodyPr wrap="square" anchor="t" lIns="0" rIns="0" tIns="0" bIns="0">
            <a:spAutoFit/>
          </a:bodyPr>
          <a:lstStyle/>
          <a:p>
            <a:pPr algn="l"/>
            <a:r>
              <a:rPr sz="1200" b="0" i="0">
                <a:solidFill>
                  <a:srgbClr val="1F2D2C"/>
                </a:solidFill>
                <a:latin typeface="Aptos"/>
              </a:rPr>
              <a:t>Công cụ đi kèm Google Sheets: tự động đọc, ghi dữ liệu và gửi email.</a:t>
            </a:r>
          </a:p>
        </p:txBody>
      </p:sp>
      <p:sp>
        <p:nvSpPr>
          <p:cNvPr id="34" name="Oval 33"/>
          <p:cNvSpPr/>
          <p:nvPr/>
        </p:nvSpPr>
        <p:spPr>
          <a:xfrm>
            <a:off x="7726679" y="3154680"/>
            <a:ext cx="640080" cy="640080"/>
          </a:xfrm>
          <a:prstGeom prst="ellipse">
            <a:avLst/>
          </a:prstGeom>
          <a:solidFill>
            <a:srgbClr val="F4F7F7"/>
          </a:solidFill>
          <a:ln>
            <a:noFill/>
          </a:ln>
          <a:effectLst/>
        </p:spPr>
        <p:txBody>
          <a:bodyPr rtlCol="0" anchor="ctr"/>
          <a:lstStyle/>
          <a:p>
            <a:pPr algn="ctr"/>
          </a:p>
        </p:txBody>
      </p:sp>
      <p:pic>
        <p:nvPicPr>
          <p:cNvPr id="35" name="Picture 34" descr="logo_html5.png"/>
          <p:cNvPicPr>
            <a:picLocks noChangeAspect="1"/>
          </p:cNvPicPr>
          <p:nvPr/>
        </p:nvPicPr>
        <p:blipFill>
          <a:blip r:embed="rId7"/>
          <a:stretch>
            <a:fillRect/>
          </a:stretch>
        </p:blipFill>
        <p:spPr>
          <a:xfrm>
            <a:off x="7863840" y="3291840"/>
            <a:ext cx="365760" cy="365760"/>
          </a:xfrm>
          <a:prstGeom prst="rect">
            <a:avLst/>
          </a:prstGeom>
        </p:spPr>
      </p:pic>
      <p:sp>
        <p:nvSpPr>
          <p:cNvPr id="36" name="TextBox 35"/>
          <p:cNvSpPr txBox="1"/>
          <p:nvPr/>
        </p:nvSpPr>
        <p:spPr>
          <a:xfrm>
            <a:off x="8503920" y="3136392"/>
            <a:ext cx="3264408" cy="292608"/>
          </a:xfrm>
          <a:prstGeom prst="rect">
            <a:avLst/>
          </a:prstGeom>
          <a:noFill/>
        </p:spPr>
        <p:txBody>
          <a:bodyPr wrap="square" anchor="t" lIns="0" rIns="0" tIns="0" bIns="0">
            <a:spAutoFit/>
          </a:bodyPr>
          <a:lstStyle/>
          <a:p>
            <a:pPr algn="l"/>
            <a:r>
              <a:rPr sz="1450" b="1" i="0">
                <a:solidFill>
                  <a:srgbClr val="0F4C47"/>
                </a:solidFill>
                <a:latin typeface="Aptos"/>
              </a:rPr>
              <a:t>Trang web</a:t>
            </a:r>
          </a:p>
        </p:txBody>
      </p:sp>
      <p:sp>
        <p:nvSpPr>
          <p:cNvPr id="37" name="TextBox 36"/>
          <p:cNvSpPr txBox="1"/>
          <p:nvPr/>
        </p:nvSpPr>
        <p:spPr>
          <a:xfrm>
            <a:off x="8503920" y="3429000"/>
            <a:ext cx="3264408" cy="640080"/>
          </a:xfrm>
          <a:prstGeom prst="rect">
            <a:avLst/>
          </a:prstGeom>
          <a:noFill/>
        </p:spPr>
        <p:txBody>
          <a:bodyPr wrap="square" anchor="t" lIns="0" rIns="0" tIns="0" bIns="0">
            <a:spAutoFit/>
          </a:bodyPr>
          <a:lstStyle/>
          <a:p>
            <a:pPr algn="l"/>
            <a:r>
              <a:rPr sz="1200" b="0" i="0">
                <a:solidFill>
                  <a:srgbClr val="1F2D2C"/>
                </a:solidFill>
                <a:latin typeface="Aptos"/>
              </a:rPr>
              <a:t>Màn hình người dùng nhìn thấy và bấm, trên điện thoại hay máy tính.</a:t>
            </a:r>
          </a:p>
        </p:txBody>
      </p:sp>
      <p:sp>
        <p:nvSpPr>
          <p:cNvPr id="38" name="Oval 37"/>
          <p:cNvSpPr/>
          <p:nvPr/>
        </p:nvSpPr>
        <p:spPr>
          <a:xfrm>
            <a:off x="7726679" y="4114800"/>
            <a:ext cx="640080" cy="640080"/>
          </a:xfrm>
          <a:prstGeom prst="ellipse">
            <a:avLst/>
          </a:prstGeom>
          <a:solidFill>
            <a:srgbClr val="F4F7F7"/>
          </a:solidFill>
          <a:ln>
            <a:noFill/>
          </a:ln>
          <a:effectLst/>
        </p:spPr>
        <p:txBody>
          <a:bodyPr rtlCol="0" anchor="ctr"/>
          <a:lstStyle/>
          <a:p>
            <a:pPr algn="ctr"/>
          </a:p>
        </p:txBody>
      </p:sp>
      <p:pic>
        <p:nvPicPr>
          <p:cNvPr id="39" name="Picture 38" descr="logo_github.png"/>
          <p:cNvPicPr>
            <a:picLocks noChangeAspect="1"/>
          </p:cNvPicPr>
          <p:nvPr/>
        </p:nvPicPr>
        <p:blipFill>
          <a:blip r:embed="rId8"/>
          <a:stretch>
            <a:fillRect/>
          </a:stretch>
        </p:blipFill>
        <p:spPr>
          <a:xfrm>
            <a:off x="7863840" y="4251960"/>
            <a:ext cx="365760" cy="365760"/>
          </a:xfrm>
          <a:prstGeom prst="rect">
            <a:avLst/>
          </a:prstGeom>
        </p:spPr>
      </p:pic>
      <p:sp>
        <p:nvSpPr>
          <p:cNvPr id="40" name="TextBox 39"/>
          <p:cNvSpPr txBox="1"/>
          <p:nvPr/>
        </p:nvSpPr>
        <p:spPr>
          <a:xfrm>
            <a:off x="8503920" y="4096512"/>
            <a:ext cx="3264408" cy="292608"/>
          </a:xfrm>
          <a:prstGeom prst="rect">
            <a:avLst/>
          </a:prstGeom>
          <a:noFill/>
        </p:spPr>
        <p:txBody>
          <a:bodyPr wrap="square" anchor="t" lIns="0" rIns="0" tIns="0" bIns="0">
            <a:spAutoFit/>
          </a:bodyPr>
          <a:lstStyle/>
          <a:p>
            <a:pPr algn="l"/>
            <a:r>
              <a:rPr sz="1450" b="1" i="0">
                <a:solidFill>
                  <a:srgbClr val="0F4C47"/>
                </a:solidFill>
                <a:latin typeface="Aptos"/>
              </a:rPr>
              <a:t>GitHub Pages</a:t>
            </a:r>
          </a:p>
        </p:txBody>
      </p:sp>
      <p:sp>
        <p:nvSpPr>
          <p:cNvPr id="41" name="TextBox 40"/>
          <p:cNvSpPr txBox="1"/>
          <p:nvPr/>
        </p:nvSpPr>
        <p:spPr>
          <a:xfrm>
            <a:off x="8503920" y="4389120"/>
            <a:ext cx="3264408" cy="640080"/>
          </a:xfrm>
          <a:prstGeom prst="rect">
            <a:avLst/>
          </a:prstGeom>
          <a:noFill/>
        </p:spPr>
        <p:txBody>
          <a:bodyPr wrap="square" anchor="t" lIns="0" rIns="0" tIns="0" bIns="0">
            <a:spAutoFit/>
          </a:bodyPr>
          <a:lstStyle/>
          <a:p>
            <a:pPr algn="l"/>
            <a:r>
              <a:rPr sz="1200" b="0" i="0">
                <a:solidFill>
                  <a:srgbClr val="1F2D2C"/>
                </a:solidFill>
                <a:latin typeface="Aptos"/>
              </a:rPr>
              <a:t>Dịch vụ miễn phí đưa trang web lên mạng thành một đường link.</a:t>
            </a:r>
          </a:p>
        </p:txBody>
      </p:sp>
      <p:sp>
        <p:nvSpPr>
          <p:cNvPr id="42" name="Rounded Rectangle 41"/>
          <p:cNvSpPr/>
          <p:nvPr/>
        </p:nvSpPr>
        <p:spPr>
          <a:xfrm>
            <a:off x="7726679" y="5074920"/>
            <a:ext cx="4041648" cy="868680"/>
          </a:xfrm>
          <a:prstGeom prst="roundRect">
            <a:avLst>
              <a:gd name="adj" fmla="val 14000"/>
            </a:avLst>
          </a:prstGeom>
          <a:solidFill>
            <a:srgbClr val="F4F7F7"/>
          </a:solidFill>
          <a:ln>
            <a:noFill/>
          </a:ln>
          <a:effectLst/>
        </p:spPr>
        <p:txBody>
          <a:bodyPr rtlCol="0" anchor="ctr"/>
          <a:lstStyle/>
          <a:p>
            <a:pPr algn="ctr"/>
          </a:p>
        </p:txBody>
      </p:sp>
      <p:pic>
        <p:nvPicPr>
          <p:cNvPr id="43" name="Picture 42" descr="logo_googlegemini.png"/>
          <p:cNvPicPr>
            <a:picLocks noChangeAspect="1"/>
          </p:cNvPicPr>
          <p:nvPr/>
        </p:nvPicPr>
        <p:blipFill>
          <a:blip r:embed="rId9"/>
          <a:stretch>
            <a:fillRect/>
          </a:stretch>
        </p:blipFill>
        <p:spPr>
          <a:xfrm>
            <a:off x="7863840" y="5257800"/>
            <a:ext cx="502920" cy="502920"/>
          </a:xfrm>
          <a:prstGeom prst="rect">
            <a:avLst/>
          </a:prstGeom>
        </p:spPr>
      </p:pic>
      <p:sp>
        <p:nvSpPr>
          <p:cNvPr id="44" name="TextBox 43"/>
          <p:cNvSpPr txBox="1"/>
          <p:nvPr/>
        </p:nvSpPr>
        <p:spPr>
          <a:xfrm>
            <a:off x="8503920" y="5074920"/>
            <a:ext cx="3200400" cy="868680"/>
          </a:xfrm>
          <a:prstGeom prst="rect">
            <a:avLst/>
          </a:prstGeom>
          <a:noFill/>
        </p:spPr>
        <p:txBody>
          <a:bodyPr wrap="square" anchor="ctr" lIns="0" rIns="0" tIns="0" bIns="0">
            <a:spAutoFit/>
          </a:bodyPr>
          <a:lstStyle/>
          <a:p>
            <a:pPr algn="l"/>
            <a:r>
              <a:rPr sz="1350" b="1" i="0">
                <a:solidFill>
                  <a:srgbClr val="0F4C47"/>
                </a:solidFill>
                <a:latin typeface="Aptos"/>
              </a:rPr>
              <a:t>Gemini</a:t>
            </a:r>
            <a:r>
              <a:rPr sz="1250" b="0" i="0">
                <a:solidFill>
                  <a:srgbClr val="1F2D2C"/>
                </a:solidFill>
                <a:latin typeface="Aptos"/>
              </a:rPr>
              <a:t> (</a:t>
            </a:r>
            <a:r>
              <a:rPr sz="1250" b="1" i="0">
                <a:solidFill>
                  <a:srgbClr val="C2410C"/>
                </a:solidFill>
                <a:latin typeface="Aptos"/>
              </a:rPr>
              <a:t>AI</a:t>
            </a:r>
            <a:r>
              <a:rPr sz="1250" b="0" i="0">
                <a:solidFill>
                  <a:srgbClr val="1F2D2C"/>
                </a:solidFill>
                <a:latin typeface="Aptos"/>
              </a:rPr>
              <a:t> của Google) tạo hình ảnh cô Thảo 3D cho giao diện.</a:t>
            </a:r>
          </a:p>
        </p:txBody>
      </p:sp>
      <p:sp>
        <p:nvSpPr>
          <p:cNvPr id="45" name="Oval 44"/>
          <p:cNvSpPr/>
          <p:nvPr/>
        </p:nvSpPr>
        <p:spPr>
          <a:xfrm>
            <a:off x="420624" y="5330952"/>
            <a:ext cx="329184" cy="329184"/>
          </a:xfrm>
          <a:prstGeom prst="ellipse">
            <a:avLst/>
          </a:prstGeom>
          <a:solidFill>
            <a:srgbClr val="0F766E"/>
          </a:solidFill>
          <a:ln>
            <a:noFill/>
          </a:ln>
          <a:effectLst/>
        </p:spPr>
        <p:txBody>
          <a:bodyPr rtlCol="0" anchor="ctr"/>
          <a:lstStyle/>
          <a:p>
            <a:pPr algn="ctr"/>
          </a:p>
        </p:txBody>
      </p:sp>
      <p:sp>
        <p:nvSpPr>
          <p:cNvPr id="46" name="TextBox 45"/>
          <p:cNvSpPr txBox="1"/>
          <p:nvPr/>
        </p:nvSpPr>
        <p:spPr>
          <a:xfrm>
            <a:off x="420624" y="5330952"/>
            <a:ext cx="329184" cy="329184"/>
          </a:xfrm>
          <a:prstGeom prst="rect">
            <a:avLst/>
          </a:prstGeom>
          <a:noFill/>
        </p:spPr>
        <p:txBody>
          <a:bodyPr wrap="square" anchor="ctr" lIns="0" rIns="0" tIns="0" bIns="0">
            <a:spAutoFit/>
          </a:bodyPr>
          <a:lstStyle/>
          <a:p>
            <a:pPr algn="ctr"/>
            <a:r>
              <a:rPr sz="1200" b="1" i="0">
                <a:solidFill>
                  <a:srgbClr val="FFFFFF"/>
                </a:solidFill>
                <a:latin typeface="Aptos"/>
              </a:rPr>
              <a:t>1</a:t>
            </a:r>
          </a:p>
        </p:txBody>
      </p:sp>
      <p:sp>
        <p:nvSpPr>
          <p:cNvPr id="47" name="TextBox 46"/>
          <p:cNvSpPr txBox="1"/>
          <p:nvPr/>
        </p:nvSpPr>
        <p:spPr>
          <a:xfrm>
            <a:off x="832104" y="5257800"/>
            <a:ext cx="1325880" cy="475488"/>
          </a:xfrm>
          <a:prstGeom prst="rect">
            <a:avLst/>
          </a:prstGeom>
          <a:noFill/>
        </p:spPr>
        <p:txBody>
          <a:bodyPr wrap="square" anchor="ctr" lIns="0" rIns="0" tIns="0" bIns="0">
            <a:spAutoFit/>
          </a:bodyPr>
          <a:lstStyle/>
          <a:p>
            <a:pPr algn="l"/>
            <a:r>
              <a:rPr sz="1250" b="1" i="0">
                <a:solidFill>
                  <a:srgbClr val="0F4C47"/>
                </a:solidFill>
                <a:latin typeface="Aptos"/>
              </a:rPr>
              <a:t>Mô tả yêu cầu</a:t>
            </a:r>
          </a:p>
        </p:txBody>
      </p:sp>
      <p:sp>
        <p:nvSpPr>
          <p:cNvPr id="48" name="Oval 47"/>
          <p:cNvSpPr/>
          <p:nvPr/>
        </p:nvSpPr>
        <p:spPr>
          <a:xfrm>
            <a:off x="2203704" y="5330952"/>
            <a:ext cx="329184" cy="329184"/>
          </a:xfrm>
          <a:prstGeom prst="ellipse">
            <a:avLst/>
          </a:prstGeom>
          <a:solidFill>
            <a:srgbClr val="0F766E"/>
          </a:solidFill>
          <a:ln>
            <a:noFill/>
          </a:ln>
          <a:effectLst/>
        </p:spPr>
        <p:txBody>
          <a:bodyPr rtlCol="0" anchor="ctr"/>
          <a:lstStyle/>
          <a:p>
            <a:pPr algn="ctr"/>
          </a:p>
        </p:txBody>
      </p:sp>
      <p:sp>
        <p:nvSpPr>
          <p:cNvPr id="49" name="TextBox 48"/>
          <p:cNvSpPr txBox="1"/>
          <p:nvPr/>
        </p:nvSpPr>
        <p:spPr>
          <a:xfrm>
            <a:off x="2203704" y="5330952"/>
            <a:ext cx="329184" cy="329184"/>
          </a:xfrm>
          <a:prstGeom prst="rect">
            <a:avLst/>
          </a:prstGeom>
          <a:noFill/>
        </p:spPr>
        <p:txBody>
          <a:bodyPr wrap="square" anchor="ctr" lIns="0" rIns="0" tIns="0" bIns="0">
            <a:spAutoFit/>
          </a:bodyPr>
          <a:lstStyle/>
          <a:p>
            <a:pPr algn="ctr"/>
            <a:r>
              <a:rPr sz="1200" b="1" i="0">
                <a:solidFill>
                  <a:srgbClr val="FFFFFF"/>
                </a:solidFill>
                <a:latin typeface="Aptos"/>
              </a:rPr>
              <a:t>2</a:t>
            </a:r>
          </a:p>
        </p:txBody>
      </p:sp>
      <p:sp>
        <p:nvSpPr>
          <p:cNvPr id="50" name="TextBox 49"/>
          <p:cNvSpPr txBox="1"/>
          <p:nvPr/>
        </p:nvSpPr>
        <p:spPr>
          <a:xfrm>
            <a:off x="2615184" y="5257800"/>
            <a:ext cx="1325880" cy="475488"/>
          </a:xfrm>
          <a:prstGeom prst="rect">
            <a:avLst/>
          </a:prstGeom>
          <a:noFill/>
        </p:spPr>
        <p:txBody>
          <a:bodyPr wrap="square" anchor="ctr" lIns="0" rIns="0" tIns="0" bIns="0">
            <a:spAutoFit/>
          </a:bodyPr>
          <a:lstStyle/>
          <a:p>
            <a:pPr algn="l"/>
            <a:r>
              <a:rPr sz="1250" b="1" i="0">
                <a:solidFill>
                  <a:srgbClr val="0F4C47"/>
                </a:solidFill>
                <a:latin typeface="Aptos"/>
              </a:rPr>
              <a:t>Claude viết code</a:t>
            </a:r>
          </a:p>
        </p:txBody>
      </p:sp>
      <p:sp>
        <p:nvSpPr>
          <p:cNvPr id="51" name="Oval 50"/>
          <p:cNvSpPr/>
          <p:nvPr/>
        </p:nvSpPr>
        <p:spPr>
          <a:xfrm>
            <a:off x="3986784" y="5330952"/>
            <a:ext cx="329184" cy="329184"/>
          </a:xfrm>
          <a:prstGeom prst="ellipse">
            <a:avLst/>
          </a:prstGeom>
          <a:solidFill>
            <a:srgbClr val="0F766E"/>
          </a:solidFill>
          <a:ln>
            <a:noFill/>
          </a:ln>
          <a:effectLst/>
        </p:spPr>
        <p:txBody>
          <a:bodyPr rtlCol="0" anchor="ctr"/>
          <a:lstStyle/>
          <a:p>
            <a:pPr algn="ctr"/>
          </a:p>
        </p:txBody>
      </p:sp>
      <p:sp>
        <p:nvSpPr>
          <p:cNvPr id="52" name="TextBox 51"/>
          <p:cNvSpPr txBox="1"/>
          <p:nvPr/>
        </p:nvSpPr>
        <p:spPr>
          <a:xfrm>
            <a:off x="3986784" y="5330952"/>
            <a:ext cx="329184" cy="329184"/>
          </a:xfrm>
          <a:prstGeom prst="rect">
            <a:avLst/>
          </a:prstGeom>
          <a:noFill/>
        </p:spPr>
        <p:txBody>
          <a:bodyPr wrap="square" anchor="ctr" lIns="0" rIns="0" tIns="0" bIns="0">
            <a:spAutoFit/>
          </a:bodyPr>
          <a:lstStyle/>
          <a:p>
            <a:pPr algn="ctr"/>
            <a:r>
              <a:rPr sz="1200" b="1" i="0">
                <a:solidFill>
                  <a:srgbClr val="FFFFFF"/>
                </a:solidFill>
                <a:latin typeface="Aptos"/>
              </a:rPr>
              <a:t>3</a:t>
            </a:r>
          </a:p>
        </p:txBody>
      </p:sp>
      <p:sp>
        <p:nvSpPr>
          <p:cNvPr id="53" name="TextBox 52"/>
          <p:cNvSpPr txBox="1"/>
          <p:nvPr/>
        </p:nvSpPr>
        <p:spPr>
          <a:xfrm>
            <a:off x="4398264" y="5257800"/>
            <a:ext cx="1325880" cy="475488"/>
          </a:xfrm>
          <a:prstGeom prst="rect">
            <a:avLst/>
          </a:prstGeom>
          <a:noFill/>
        </p:spPr>
        <p:txBody>
          <a:bodyPr wrap="square" anchor="ctr" lIns="0" rIns="0" tIns="0" bIns="0">
            <a:spAutoFit/>
          </a:bodyPr>
          <a:lstStyle/>
          <a:p>
            <a:pPr algn="l"/>
            <a:r>
              <a:rPr sz="1250" b="1" i="0">
                <a:solidFill>
                  <a:srgbClr val="0F4C47"/>
                </a:solidFill>
                <a:latin typeface="Aptos"/>
              </a:rPr>
              <a:t>Giáo viên thử</a:t>
            </a:r>
          </a:p>
        </p:txBody>
      </p:sp>
      <p:sp>
        <p:nvSpPr>
          <p:cNvPr id="54" name="Oval 53"/>
          <p:cNvSpPr/>
          <p:nvPr/>
        </p:nvSpPr>
        <p:spPr>
          <a:xfrm>
            <a:off x="5769864" y="5330952"/>
            <a:ext cx="329184" cy="329184"/>
          </a:xfrm>
          <a:prstGeom prst="ellipse">
            <a:avLst/>
          </a:prstGeom>
          <a:solidFill>
            <a:srgbClr val="0F766E"/>
          </a:solidFill>
          <a:ln>
            <a:noFill/>
          </a:ln>
          <a:effectLst/>
        </p:spPr>
        <p:txBody>
          <a:bodyPr rtlCol="0" anchor="ctr"/>
          <a:lstStyle/>
          <a:p>
            <a:pPr algn="ctr"/>
          </a:p>
        </p:txBody>
      </p:sp>
      <p:sp>
        <p:nvSpPr>
          <p:cNvPr id="55" name="TextBox 54"/>
          <p:cNvSpPr txBox="1"/>
          <p:nvPr/>
        </p:nvSpPr>
        <p:spPr>
          <a:xfrm>
            <a:off x="5769864" y="5330952"/>
            <a:ext cx="329184" cy="329184"/>
          </a:xfrm>
          <a:prstGeom prst="rect">
            <a:avLst/>
          </a:prstGeom>
          <a:noFill/>
        </p:spPr>
        <p:txBody>
          <a:bodyPr wrap="square" anchor="ctr" lIns="0" rIns="0" tIns="0" bIns="0">
            <a:spAutoFit/>
          </a:bodyPr>
          <a:lstStyle/>
          <a:p>
            <a:pPr algn="ctr"/>
            <a:r>
              <a:rPr sz="1200" b="1" i="0">
                <a:solidFill>
                  <a:srgbClr val="FFFFFF"/>
                </a:solidFill>
                <a:latin typeface="Aptos"/>
              </a:rPr>
              <a:t>4</a:t>
            </a:r>
          </a:p>
        </p:txBody>
      </p:sp>
      <p:sp>
        <p:nvSpPr>
          <p:cNvPr id="56" name="TextBox 55"/>
          <p:cNvSpPr txBox="1"/>
          <p:nvPr/>
        </p:nvSpPr>
        <p:spPr>
          <a:xfrm>
            <a:off x="6181344" y="5257800"/>
            <a:ext cx="1325880" cy="475488"/>
          </a:xfrm>
          <a:prstGeom prst="rect">
            <a:avLst/>
          </a:prstGeom>
          <a:noFill/>
        </p:spPr>
        <p:txBody>
          <a:bodyPr wrap="square" anchor="ctr" lIns="0" rIns="0" tIns="0" bIns="0">
            <a:spAutoFit/>
          </a:bodyPr>
          <a:lstStyle/>
          <a:p>
            <a:pPr algn="l"/>
            <a:r>
              <a:rPr sz="1250" b="1" i="0">
                <a:solidFill>
                  <a:srgbClr val="0F4C47"/>
                </a:solidFill>
                <a:latin typeface="Aptos"/>
              </a:rPr>
              <a:t>Góp ý, sửa lại</a:t>
            </a:r>
          </a:p>
        </p:txBody>
      </p:sp>
      <p:sp>
        <p:nvSpPr>
          <p:cNvPr id="57" name="TextBox 56"/>
          <p:cNvSpPr txBox="1"/>
          <p:nvPr/>
        </p:nvSpPr>
        <p:spPr>
          <a:xfrm>
            <a:off x="420624" y="5715000"/>
            <a:ext cx="7132320" cy="274320"/>
          </a:xfrm>
          <a:prstGeom prst="rect">
            <a:avLst/>
          </a:prstGeom>
          <a:noFill/>
        </p:spPr>
        <p:txBody>
          <a:bodyPr wrap="square" anchor="t" lIns="0" rIns="0" tIns="0" bIns="0">
            <a:spAutoFit/>
          </a:bodyPr>
          <a:lstStyle/>
          <a:p>
            <a:pPr algn="l"/>
            <a:r>
              <a:rPr sz="1200" b="0" i="1">
                <a:solidFill>
                  <a:srgbClr val="5F7472"/>
                </a:solidFill>
                <a:latin typeface="Aptos"/>
              </a:rPr>
              <a:t>Lặp lại nhiều vòng đến khi ứng dụng dùng tốt trong lớp.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7498079" y="1234440"/>
            <a:ext cx="4270248" cy="3200400"/>
          </a:xfrm>
          <a:prstGeom prst="rect">
            <a:avLst/>
          </a:prstGeom>
          <a:solidFill>
            <a:srgbClr val="F4F7F7"/>
          </a:solidFill>
          <a:ln>
            <a:noFill/>
          </a:ln>
          <a:effectLst/>
        </p:spPr>
        <p:txBody>
          <a:bodyPr rtlCol="0" anchor="ctr"/>
          <a:lstStyle/>
          <a:p>
            <a:pPr algn="ctr"/>
          </a:p>
        </p:txBody>
      </p:sp>
      <p:sp>
        <p:nvSpPr>
          <p:cNvPr id="4" name="TextBox 3"/>
          <p:cNvSpPr txBox="1"/>
          <p:nvPr/>
        </p:nvSpPr>
        <p:spPr>
          <a:xfrm>
            <a:off x="7498079" y="2651760"/>
            <a:ext cx="4270248" cy="365760"/>
          </a:xfrm>
          <a:prstGeom prst="rect">
            <a:avLst/>
          </a:prstGeom>
          <a:noFill/>
        </p:spPr>
        <p:txBody>
          <a:bodyPr wrap="square" anchor="ctr" lIns="0" rIns="0" tIns="0" bIns="0">
            <a:spAutoFit/>
          </a:bodyPr>
          <a:lstStyle/>
          <a:p>
            <a:pPr algn="ctr"/>
            <a:r>
              <a:rPr sz="1300" b="1" i="0">
                <a:solidFill>
                  <a:srgbClr val="5F7472"/>
                </a:solidFill>
                <a:latin typeface="Aptos"/>
              </a:rPr>
              <a:t>ẢNH 02 · 4:3</a:t>
            </a:r>
          </a:p>
        </p:txBody>
      </p:sp>
      <p:sp>
        <p:nvSpPr>
          <p:cNvPr id="2" name="Picture Placeholder 1"/>
          <p:cNvSpPr>
            <a:spLocks noGrp="1"/>
          </p:cNvSpPr>
          <p:nvPr>
            <p:ph type="pic" idx="20" sz="quarter"/>
          </p:nvPr>
        </p:nvSpPr>
        <p:spPr/>
        <p:txBody>
          <a:bodyPr/>
          <a:p/>
        </p:txBody>
      </p:sp>
      <p:cxnSp>
        <p:nvCxnSpPr>
          <p:cNvPr id="5" name="Connector 4"/>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II · GIẢI PHÁP</a:t>
            </a:r>
          </a:p>
        </p:txBody>
      </p:sp>
      <p:sp>
        <p:nvSpPr>
          <p:cNvPr id="7" name="TextBox 6"/>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08</a:t>
            </a:r>
          </a:p>
        </p:txBody>
      </p:sp>
      <p:sp>
        <p:nvSpPr>
          <p:cNvPr id="8" name="TextBox 7"/>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C2410C"/>
                </a:solidFill>
                <a:latin typeface="Aptos"/>
              </a:rPr>
              <a:t>AI</a:t>
            </a:r>
            <a:r>
              <a:rPr sz="2500" b="1" i="0">
                <a:solidFill>
                  <a:srgbClr val="0F4C47"/>
                </a:solidFill>
                <a:latin typeface="Aptos"/>
              </a:rPr>
              <a:t> là trợ lý, giáo viên là người quyết định</a:t>
            </a:r>
          </a:p>
        </p:txBody>
      </p:sp>
      <p:cxnSp>
        <p:nvCxnSpPr>
          <p:cNvPr id="9" name="Connector 8"/>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11" name="TextBox 10"/>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12" name="Rounded Rectangle 11"/>
          <p:cNvSpPr/>
          <p:nvPr/>
        </p:nvSpPr>
        <p:spPr>
          <a:xfrm>
            <a:off x="4227576"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3" name="TextBox 12"/>
          <p:cNvSpPr txBox="1"/>
          <p:nvPr/>
        </p:nvSpPr>
        <p:spPr>
          <a:xfrm>
            <a:off x="4319015"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II · GIẢI PHÁP</a:t>
            </a:r>
          </a:p>
        </p:txBody>
      </p:sp>
      <p:sp>
        <p:nvSpPr>
          <p:cNvPr id="14" name="TextBox 13"/>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5" name="TextBox 14"/>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6" name="TextBox 15"/>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sp>
        <p:nvSpPr>
          <p:cNvPr id="17" name="TextBox 16"/>
          <p:cNvSpPr txBox="1"/>
          <p:nvPr/>
        </p:nvSpPr>
        <p:spPr>
          <a:xfrm>
            <a:off x="420624" y="1234440"/>
            <a:ext cx="1097280" cy="822960"/>
          </a:xfrm>
          <a:prstGeom prst="rect">
            <a:avLst/>
          </a:prstGeom>
          <a:noFill/>
        </p:spPr>
        <p:txBody>
          <a:bodyPr wrap="square" anchor="ctr" lIns="0" rIns="0" tIns="0" bIns="0">
            <a:spAutoFit/>
          </a:bodyPr>
          <a:lstStyle/>
          <a:p>
            <a:pPr algn="l"/>
            <a:r>
              <a:rPr sz="3600" b="1" i="0">
                <a:solidFill>
                  <a:srgbClr val="2A9D8F"/>
                </a:solidFill>
                <a:latin typeface="Aptos"/>
              </a:rPr>
              <a:t>01</a:t>
            </a:r>
          </a:p>
        </p:txBody>
      </p:sp>
      <p:sp>
        <p:nvSpPr>
          <p:cNvPr id="18" name="TextBox 17"/>
          <p:cNvSpPr txBox="1"/>
          <p:nvPr/>
        </p:nvSpPr>
        <p:spPr>
          <a:xfrm>
            <a:off x="1554480" y="1280160"/>
            <a:ext cx="5120640" cy="347472"/>
          </a:xfrm>
          <a:prstGeom prst="rect">
            <a:avLst/>
          </a:prstGeom>
          <a:noFill/>
        </p:spPr>
        <p:txBody>
          <a:bodyPr wrap="square" anchor="t" lIns="0" rIns="0" tIns="0" bIns="0">
            <a:spAutoFit/>
          </a:bodyPr>
          <a:lstStyle/>
          <a:p>
            <a:pPr algn="l"/>
            <a:r>
              <a:rPr sz="1800" b="1" i="0">
                <a:solidFill>
                  <a:srgbClr val="0F4C47"/>
                </a:solidFill>
                <a:latin typeface="Aptos"/>
              </a:rPr>
              <a:t>Giáo viên chủ nhiệm</a:t>
            </a:r>
          </a:p>
        </p:txBody>
      </p:sp>
      <p:sp>
        <p:nvSpPr>
          <p:cNvPr id="19" name="TextBox 18"/>
          <p:cNvSpPr txBox="1"/>
          <p:nvPr/>
        </p:nvSpPr>
        <p:spPr>
          <a:xfrm>
            <a:off x="1554480" y="1645920"/>
            <a:ext cx="5577840" cy="548640"/>
          </a:xfrm>
          <a:prstGeom prst="rect">
            <a:avLst/>
          </a:prstGeom>
          <a:noFill/>
        </p:spPr>
        <p:txBody>
          <a:bodyPr wrap="square" anchor="t" lIns="0" rIns="0" tIns="0" bIns="0">
            <a:spAutoFit/>
          </a:bodyPr>
          <a:lstStyle/>
          <a:p>
            <a:pPr algn="l"/>
            <a:r>
              <a:rPr sz="1350" b="0" i="0">
                <a:solidFill>
                  <a:srgbClr val="1F2D2C"/>
                </a:solidFill>
                <a:latin typeface="Aptos"/>
              </a:rPr>
              <a:t>Đặt bài toán, dùng thử, quyết định tính năng nào được dùng.</a:t>
            </a:r>
          </a:p>
        </p:txBody>
      </p:sp>
      <p:sp>
        <p:nvSpPr>
          <p:cNvPr id="20" name="TextBox 19"/>
          <p:cNvSpPr txBox="1"/>
          <p:nvPr/>
        </p:nvSpPr>
        <p:spPr>
          <a:xfrm>
            <a:off x="420624" y="2313432"/>
            <a:ext cx="1097280" cy="822960"/>
          </a:xfrm>
          <a:prstGeom prst="rect">
            <a:avLst/>
          </a:prstGeom>
          <a:noFill/>
        </p:spPr>
        <p:txBody>
          <a:bodyPr wrap="square" anchor="ctr" lIns="0" rIns="0" tIns="0" bIns="0">
            <a:spAutoFit/>
          </a:bodyPr>
          <a:lstStyle/>
          <a:p>
            <a:pPr algn="l"/>
            <a:r>
              <a:rPr sz="3600" b="1" i="0">
                <a:solidFill>
                  <a:srgbClr val="2A9D8F"/>
                </a:solidFill>
                <a:latin typeface="Aptos"/>
              </a:rPr>
              <a:t>02</a:t>
            </a:r>
          </a:p>
        </p:txBody>
      </p:sp>
      <p:pic>
        <p:nvPicPr>
          <p:cNvPr id="21" name="Picture 20" descr="logo_claude.png"/>
          <p:cNvPicPr>
            <a:picLocks noChangeAspect="1"/>
          </p:cNvPicPr>
          <p:nvPr/>
        </p:nvPicPr>
        <p:blipFill>
          <a:blip r:embed="rId2"/>
          <a:stretch>
            <a:fillRect/>
          </a:stretch>
        </p:blipFill>
        <p:spPr>
          <a:xfrm>
            <a:off x="1554480" y="2368296"/>
            <a:ext cx="310896" cy="310896"/>
          </a:xfrm>
          <a:prstGeom prst="rect">
            <a:avLst/>
          </a:prstGeom>
        </p:spPr>
      </p:pic>
      <p:sp>
        <p:nvSpPr>
          <p:cNvPr id="22" name="TextBox 21"/>
          <p:cNvSpPr txBox="1"/>
          <p:nvPr/>
        </p:nvSpPr>
        <p:spPr>
          <a:xfrm>
            <a:off x="1965960" y="2359152"/>
            <a:ext cx="5120640" cy="347472"/>
          </a:xfrm>
          <a:prstGeom prst="rect">
            <a:avLst/>
          </a:prstGeom>
          <a:noFill/>
        </p:spPr>
        <p:txBody>
          <a:bodyPr wrap="square" anchor="t" lIns="0" rIns="0" tIns="0" bIns="0">
            <a:spAutoFit/>
          </a:bodyPr>
          <a:lstStyle/>
          <a:p>
            <a:pPr algn="l"/>
            <a:r>
              <a:rPr sz="1800" b="1" i="0">
                <a:solidFill>
                  <a:srgbClr val="0F4C47"/>
                </a:solidFill>
                <a:latin typeface="Aptos"/>
              </a:rPr>
              <a:t>Claude</a:t>
            </a:r>
          </a:p>
        </p:txBody>
      </p:sp>
      <p:sp>
        <p:nvSpPr>
          <p:cNvPr id="23" name="TextBox 22"/>
          <p:cNvSpPr txBox="1"/>
          <p:nvPr/>
        </p:nvSpPr>
        <p:spPr>
          <a:xfrm>
            <a:off x="1554480" y="2724912"/>
            <a:ext cx="5577840" cy="548640"/>
          </a:xfrm>
          <a:prstGeom prst="rect">
            <a:avLst/>
          </a:prstGeom>
          <a:noFill/>
        </p:spPr>
        <p:txBody>
          <a:bodyPr wrap="square" anchor="t" lIns="0" rIns="0" tIns="0" bIns="0">
            <a:spAutoFit/>
          </a:bodyPr>
          <a:lstStyle/>
          <a:p>
            <a:pPr algn="l"/>
            <a:r>
              <a:rPr sz="1350" b="0" i="0">
                <a:solidFill>
                  <a:srgbClr val="1F2D2C"/>
                </a:solidFill>
                <a:latin typeface="Aptos"/>
              </a:rPr>
              <a:t>Viết code theo yêu cầu bằng tiếng Việt; kiểm thử bằng dữ liệu mẫu trước khi cập nhật.</a:t>
            </a:r>
          </a:p>
        </p:txBody>
      </p:sp>
      <p:sp>
        <p:nvSpPr>
          <p:cNvPr id="24" name="TextBox 23"/>
          <p:cNvSpPr txBox="1"/>
          <p:nvPr/>
        </p:nvSpPr>
        <p:spPr>
          <a:xfrm>
            <a:off x="420624" y="3392424"/>
            <a:ext cx="1097280" cy="822960"/>
          </a:xfrm>
          <a:prstGeom prst="rect">
            <a:avLst/>
          </a:prstGeom>
          <a:noFill/>
        </p:spPr>
        <p:txBody>
          <a:bodyPr wrap="square" anchor="ctr" lIns="0" rIns="0" tIns="0" bIns="0">
            <a:spAutoFit/>
          </a:bodyPr>
          <a:lstStyle/>
          <a:p>
            <a:pPr algn="l"/>
            <a:r>
              <a:rPr sz="3600" b="1" i="0">
                <a:solidFill>
                  <a:srgbClr val="2A9D8F"/>
                </a:solidFill>
                <a:latin typeface="Aptos"/>
              </a:rPr>
              <a:t>03</a:t>
            </a:r>
          </a:p>
        </p:txBody>
      </p:sp>
      <p:pic>
        <p:nvPicPr>
          <p:cNvPr id="25" name="Picture 24" descr="logo_googlegemini.png"/>
          <p:cNvPicPr>
            <a:picLocks noChangeAspect="1"/>
          </p:cNvPicPr>
          <p:nvPr/>
        </p:nvPicPr>
        <p:blipFill>
          <a:blip r:embed="rId3"/>
          <a:stretch>
            <a:fillRect/>
          </a:stretch>
        </p:blipFill>
        <p:spPr>
          <a:xfrm>
            <a:off x="1554480" y="3447288"/>
            <a:ext cx="310896" cy="310896"/>
          </a:xfrm>
          <a:prstGeom prst="rect">
            <a:avLst/>
          </a:prstGeom>
        </p:spPr>
      </p:pic>
      <p:sp>
        <p:nvSpPr>
          <p:cNvPr id="26" name="TextBox 25"/>
          <p:cNvSpPr txBox="1"/>
          <p:nvPr/>
        </p:nvSpPr>
        <p:spPr>
          <a:xfrm>
            <a:off x="1965960" y="3438144"/>
            <a:ext cx="5120640" cy="347472"/>
          </a:xfrm>
          <a:prstGeom prst="rect">
            <a:avLst/>
          </a:prstGeom>
          <a:noFill/>
        </p:spPr>
        <p:txBody>
          <a:bodyPr wrap="square" anchor="t" lIns="0" rIns="0" tIns="0" bIns="0">
            <a:spAutoFit/>
          </a:bodyPr>
          <a:lstStyle/>
          <a:p>
            <a:pPr algn="l"/>
            <a:r>
              <a:rPr sz="1800" b="1" i="0">
                <a:solidFill>
                  <a:srgbClr val="0F4C47"/>
                </a:solidFill>
                <a:latin typeface="Aptos"/>
              </a:rPr>
              <a:t>Gemini</a:t>
            </a:r>
          </a:p>
        </p:txBody>
      </p:sp>
      <p:sp>
        <p:nvSpPr>
          <p:cNvPr id="27" name="TextBox 26"/>
          <p:cNvSpPr txBox="1"/>
          <p:nvPr/>
        </p:nvSpPr>
        <p:spPr>
          <a:xfrm>
            <a:off x="1554480" y="3803904"/>
            <a:ext cx="5577840" cy="548640"/>
          </a:xfrm>
          <a:prstGeom prst="rect">
            <a:avLst/>
          </a:prstGeom>
          <a:noFill/>
        </p:spPr>
        <p:txBody>
          <a:bodyPr wrap="square" anchor="t" lIns="0" rIns="0" tIns="0" bIns="0">
            <a:spAutoFit/>
          </a:bodyPr>
          <a:lstStyle/>
          <a:p>
            <a:pPr algn="l"/>
            <a:r>
              <a:rPr sz="1350" b="0" i="0">
                <a:solidFill>
                  <a:srgbClr val="1F2D2C"/>
                </a:solidFill>
                <a:latin typeface="Aptos"/>
              </a:rPr>
              <a:t>Tạo bộ nhân vật cô Thảo 3D với nhiều trang phục, biểu cảm.</a:t>
            </a:r>
          </a:p>
        </p:txBody>
      </p:sp>
      <p:sp>
        <p:nvSpPr>
          <p:cNvPr id="28" name="Rounded Rectangle 27"/>
          <p:cNvSpPr/>
          <p:nvPr/>
        </p:nvSpPr>
        <p:spPr>
          <a:xfrm>
            <a:off x="420624" y="4572000"/>
            <a:ext cx="11347704" cy="1371600"/>
          </a:xfrm>
          <a:prstGeom prst="roundRect">
            <a:avLst>
              <a:gd name="adj" fmla="val 6000"/>
            </a:avLst>
          </a:prstGeom>
          <a:solidFill>
            <a:srgbClr val="F4F7F7"/>
          </a:solidFill>
          <a:ln>
            <a:noFill/>
          </a:ln>
          <a:effectLst/>
        </p:spPr>
        <p:txBody>
          <a:bodyPr rtlCol="0" anchor="ctr"/>
          <a:lstStyle/>
          <a:p>
            <a:pPr algn="ctr"/>
          </a:p>
        </p:txBody>
      </p:sp>
      <p:sp>
        <p:nvSpPr>
          <p:cNvPr id="29" name="Oval 28"/>
          <p:cNvSpPr/>
          <p:nvPr/>
        </p:nvSpPr>
        <p:spPr>
          <a:xfrm>
            <a:off x="685800" y="4919472"/>
            <a:ext cx="640080" cy="640080"/>
          </a:xfrm>
          <a:prstGeom prst="ellipse">
            <a:avLst/>
          </a:prstGeom>
          <a:solidFill>
            <a:srgbClr val="E0F2F1"/>
          </a:solidFill>
          <a:ln>
            <a:noFill/>
          </a:ln>
          <a:effectLst/>
        </p:spPr>
        <p:txBody>
          <a:bodyPr rtlCol="0" anchor="ctr"/>
          <a:lstStyle/>
          <a:p>
            <a:pPr algn="ctr"/>
          </a:p>
        </p:txBody>
      </p:sp>
      <p:pic>
        <p:nvPicPr>
          <p:cNvPr id="30" name="Picture 29" descr="shield_0F766E.png"/>
          <p:cNvPicPr>
            <a:picLocks noChangeAspect="1"/>
          </p:cNvPicPr>
          <p:nvPr/>
        </p:nvPicPr>
        <p:blipFill>
          <a:blip r:embed="rId4"/>
          <a:stretch>
            <a:fillRect/>
          </a:stretch>
        </p:blipFill>
        <p:spPr>
          <a:xfrm>
            <a:off x="826617" y="5060289"/>
            <a:ext cx="358444" cy="358444"/>
          </a:xfrm>
          <a:prstGeom prst="rect">
            <a:avLst/>
          </a:prstGeom>
        </p:spPr>
      </p:pic>
      <p:sp>
        <p:nvSpPr>
          <p:cNvPr id="31" name="TextBox 30"/>
          <p:cNvSpPr txBox="1"/>
          <p:nvPr/>
        </p:nvSpPr>
        <p:spPr>
          <a:xfrm>
            <a:off x="1508760" y="4681728"/>
            <a:ext cx="10058400" cy="329184"/>
          </a:xfrm>
          <a:prstGeom prst="rect">
            <a:avLst/>
          </a:prstGeom>
          <a:noFill/>
        </p:spPr>
        <p:txBody>
          <a:bodyPr wrap="square" anchor="t" lIns="0" rIns="0" tIns="0" bIns="0">
            <a:spAutoFit/>
          </a:bodyPr>
          <a:lstStyle/>
          <a:p>
            <a:pPr algn="l"/>
            <a:r>
              <a:rPr sz="1600" b="1" i="0">
                <a:solidFill>
                  <a:srgbClr val="0F4C47"/>
                </a:solidFill>
                <a:latin typeface="Aptos"/>
              </a:rPr>
              <a:t>Dùng </a:t>
            </a:r>
            <a:r>
              <a:rPr sz="1600" b="1" i="0">
                <a:solidFill>
                  <a:srgbClr val="C2410C"/>
                </a:solidFill>
                <a:latin typeface="Aptos"/>
              </a:rPr>
              <a:t>AI</a:t>
            </a:r>
            <a:r>
              <a:rPr sz="1600" b="1" i="0">
                <a:solidFill>
                  <a:srgbClr val="0F4C47"/>
                </a:solidFill>
                <a:latin typeface="Aptos"/>
              </a:rPr>
              <a:t> có trách nhiệm</a:t>
            </a:r>
          </a:p>
        </p:txBody>
      </p:sp>
      <p:sp>
        <p:nvSpPr>
          <p:cNvPr id="32" name="TextBox 31"/>
          <p:cNvSpPr txBox="1"/>
          <p:nvPr/>
        </p:nvSpPr>
        <p:spPr>
          <a:xfrm>
            <a:off x="1508760" y="5029200"/>
            <a:ext cx="10058400" cy="868680"/>
          </a:xfrm>
          <a:prstGeom prst="rect">
            <a:avLst/>
          </a:prstGeom>
          <a:noFill/>
        </p:spPr>
        <p:txBody>
          <a:bodyPr wrap="square" anchor="t" lIns="0" rIns="0" tIns="0" bIns="0">
            <a:spAutoFit/>
          </a:bodyPr>
          <a:lstStyle/>
          <a:p>
            <a:pPr algn="l"/>
            <a:r>
              <a:rPr sz="1300" b="0" i="0">
                <a:solidFill>
                  <a:srgbClr val="1F2D2C"/>
                </a:solidFill>
                <a:latin typeface="Aptos"/>
              </a:rPr>
              <a:t>Không đưa tên, điểm của học sinh thật cho </a:t>
            </a:r>
            <a:r>
              <a:rPr sz="1300" b="1" i="0">
                <a:solidFill>
                  <a:srgbClr val="C2410C"/>
                </a:solidFill>
                <a:latin typeface="Aptos"/>
              </a:rPr>
              <a:t>AI</a:t>
            </a:r>
            <a:r>
              <a:rPr sz="1300" b="0" i="0">
                <a:solidFill>
                  <a:srgbClr val="1F2D2C"/>
                </a:solidFill>
                <a:latin typeface="Aptos"/>
              </a:rPr>
              <a:t>. Ảnh minh hoạ và bản dùng thử chỉ dùng dữ liệu mẫu. Dữ liệu thật nằm trong Google Sheet của nhà trường. Mọi nhận xét, xếp loại do giáo viên quyết định.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II · GIẢI PHÁP</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09</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Bốn vai trò, mỗi người làm đúng phần việc của mình</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8" name="TextBox 7"/>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9" name="Rounded Rectangle 8"/>
          <p:cNvSpPr/>
          <p:nvPr/>
        </p:nvSpPr>
        <p:spPr>
          <a:xfrm>
            <a:off x="4227576"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0" name="TextBox 9"/>
          <p:cNvSpPr txBox="1"/>
          <p:nvPr/>
        </p:nvSpPr>
        <p:spPr>
          <a:xfrm>
            <a:off x="4319015"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II · GIẢI PHÁP</a:t>
            </a:r>
          </a:p>
        </p:txBody>
      </p:sp>
      <p:sp>
        <p:nvSpPr>
          <p:cNvPr id="11" name="TextBox 10"/>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2" name="TextBox 11"/>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3" name="TextBox 12"/>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graphicFrame>
        <p:nvGraphicFramePr>
          <p:cNvPr id="14" name="Table 13"/>
          <p:cNvGraphicFramePr>
            <a:graphicFrameLocks noGrp="1"/>
          </p:cNvGraphicFramePr>
          <p:nvPr/>
        </p:nvGraphicFramePr>
        <p:xfrm>
          <a:off x="420624" y="1325880"/>
          <a:ext cx="7680960" cy="2834640"/>
        </p:xfrm>
        <a:graphic>
          <a:graphicData uri="http://schemas.openxmlformats.org/drawingml/2006/table">
            <a:tbl>
              <a:tblPr firstRow="0" bandRow="0">
                <a:tableStyleId>{2D5ABB26-0587-4C30-8999-92F81FD0307C}</a:tableStyleId>
              </a:tblPr>
              <a:tblGrid>
                <a:gridCol w="2377440"/>
                <a:gridCol w="1463040"/>
                <a:gridCol w="2011680"/>
                <a:gridCol w="1828800"/>
              </a:tblGrid>
              <a:tr h="566928">
                <a:tc>
                  <a:txBody>
                    <a:bodyPr/>
                    <a:lstStyle/>
                    <a:p>
                      <a:pPr algn="l"/>
                      <a:r>
                        <a:rPr sz="1300" b="1">
                          <a:solidFill>
                            <a:srgbClr val="0F4C47"/>
                          </a:solidFill>
                          <a:latin typeface="Aptos"/>
                        </a:rPr>
                        <a:t>Vai trò</a:t>
                      </a:r>
                    </a:p>
                  </a:txBody>
                  <a:tcPr marL="73152" marR="73152" marT="18288" marB="18288" anchor="ctr">
                    <a:lnL w="0">
                      <a:noFill/>
                    </a:lnL>
                    <a:lnR w="0">
                      <a:noFill/>
                    </a:lnR>
                    <a:lnT w="12700">
                      <a:solidFill>
                        <a:srgbClr val="2A9D8F"/>
                      </a:solidFill>
                    </a:lnT>
                    <a:lnB w="12700">
                      <a:solidFill>
                        <a:srgbClr val="2A9D8F"/>
                      </a:solidFill>
                    </a:lnB>
                    <a:solidFill>
                      <a:srgbClr val="E0F2F1"/>
                    </a:solidFill>
                  </a:tcPr>
                </a:tc>
                <a:tc>
                  <a:txBody>
                    <a:bodyPr/>
                    <a:lstStyle/>
                    <a:p>
                      <a:pPr algn="l"/>
                      <a:r>
                        <a:rPr sz="1300" b="1">
                          <a:solidFill>
                            <a:srgbClr val="0F4C47"/>
                          </a:solidFill>
                          <a:latin typeface="Aptos"/>
                        </a:rPr>
                        <a:t>Ghi điểm</a:t>
                      </a:r>
                    </a:p>
                  </a:txBody>
                  <a:tcPr marL="73152" marR="73152" marT="18288" marB="18288" anchor="ctr">
                    <a:lnL w="0">
                      <a:noFill/>
                    </a:lnL>
                    <a:lnR w="0">
                      <a:noFill/>
                    </a:lnR>
                    <a:lnT w="12700">
                      <a:solidFill>
                        <a:srgbClr val="2A9D8F"/>
                      </a:solidFill>
                    </a:lnT>
                    <a:lnB w="12700">
                      <a:solidFill>
                        <a:srgbClr val="2A9D8F"/>
                      </a:solidFill>
                    </a:lnB>
                    <a:solidFill>
                      <a:srgbClr val="E0F2F1"/>
                    </a:solidFill>
                  </a:tcPr>
                </a:tc>
                <a:tc>
                  <a:txBody>
                    <a:bodyPr/>
                    <a:lstStyle/>
                    <a:p>
                      <a:pPr algn="l"/>
                      <a:r>
                        <a:rPr sz="1300" b="1">
                          <a:solidFill>
                            <a:srgbClr val="0F4C47"/>
                          </a:solidFill>
                          <a:latin typeface="Aptos"/>
                        </a:rPr>
                        <a:t>Nhận xét, xếp loại</a:t>
                      </a:r>
                    </a:p>
                  </a:txBody>
                  <a:tcPr marL="73152" marR="73152" marT="18288" marB="18288" anchor="ctr">
                    <a:lnL w="0">
                      <a:noFill/>
                    </a:lnL>
                    <a:lnR w="0">
                      <a:noFill/>
                    </a:lnR>
                    <a:lnT w="12700">
                      <a:solidFill>
                        <a:srgbClr val="2A9D8F"/>
                      </a:solidFill>
                    </a:lnT>
                    <a:lnB w="12700">
                      <a:solidFill>
                        <a:srgbClr val="2A9D8F"/>
                      </a:solidFill>
                    </a:lnB>
                    <a:solidFill>
                      <a:srgbClr val="E0F2F1"/>
                    </a:solidFill>
                  </a:tcPr>
                </a:tc>
                <a:tc>
                  <a:txBody>
                    <a:bodyPr/>
                    <a:lstStyle/>
                    <a:p>
                      <a:pPr algn="l"/>
                      <a:r>
                        <a:rPr sz="1300" b="1">
                          <a:solidFill>
                            <a:srgbClr val="0F4C47"/>
                          </a:solidFill>
                          <a:latin typeface="Aptos"/>
                        </a:rPr>
                        <a:t>Xem, báo cáo</a:t>
                      </a:r>
                    </a:p>
                  </a:txBody>
                  <a:tcPr marL="73152" marR="73152" marT="18288" marB="18288" anchor="ctr">
                    <a:lnL w="0">
                      <a:noFill/>
                    </a:lnL>
                    <a:lnR w="0">
                      <a:noFill/>
                    </a:lnR>
                    <a:lnT w="12700">
                      <a:solidFill>
                        <a:srgbClr val="2A9D8F"/>
                      </a:solidFill>
                    </a:lnT>
                    <a:lnB w="12700">
                      <a:solidFill>
                        <a:srgbClr val="2A9D8F"/>
                      </a:solidFill>
                    </a:lnB>
                    <a:solidFill>
                      <a:srgbClr val="E0F2F1"/>
                    </a:solidFill>
                  </a:tcPr>
                </a:tc>
              </a:tr>
              <a:tr h="566928">
                <a:tc>
                  <a:txBody>
                    <a:bodyPr/>
                    <a:lstStyle/>
                    <a:p>
                      <a:pPr algn="l"/>
                      <a:r>
                        <a:rPr sz="1350" b="1">
                          <a:solidFill>
                            <a:srgbClr val="0F4C47"/>
                          </a:solidFill>
                          <a:latin typeface="Aptos"/>
                        </a:rPr>
                        <a:t>Giáo viên chủ nhiệm</a:t>
                      </a:r>
                    </a:p>
                  </a:txBody>
                  <a:tcPr marL="73152" marR="73152" marT="18288" marB="18288" anchor="ctr">
                    <a:lnL w="0">
                      <a:noFill/>
                    </a:lnL>
                    <a:lnR w="0">
                      <a:noFill/>
                    </a:lnR>
                    <a:lnT w="0">
                      <a:noFill/>
                    </a:lnT>
                    <a:lnB w="12700">
                      <a:solidFill>
                        <a:srgbClr val="D5E3E2"/>
                      </a:solidFill>
                    </a:lnB>
                    <a:solidFill>
                      <a:srgbClr val="FFF1E0"/>
                    </a:solidFill>
                  </a:tcPr>
                </a:tc>
                <a:tc>
                  <a:txBody>
                    <a:bodyPr/>
                    <a:lstStyle/>
                    <a:p>
                      <a:pPr algn="l"/>
                      <a:r>
                        <a:rPr sz="1350" b="1">
                          <a:solidFill>
                            <a:srgbClr val="0F4C47"/>
                          </a:solidFill>
                          <a:latin typeface="Aptos"/>
                        </a:rPr>
                        <a:t>Cả lớp</a:t>
                      </a:r>
                    </a:p>
                  </a:txBody>
                  <a:tcPr marL="73152" marR="73152" marT="18288" marB="18288" anchor="ctr">
                    <a:lnL w="0">
                      <a:noFill/>
                    </a:lnL>
                    <a:lnR w="0">
                      <a:noFill/>
                    </a:lnR>
                    <a:lnT w="0">
                      <a:noFill/>
                    </a:lnT>
                    <a:lnB w="12700">
                      <a:solidFill>
                        <a:srgbClr val="D5E3E2"/>
                      </a:solidFill>
                    </a:lnB>
                    <a:solidFill>
                      <a:srgbClr val="FFF1E0"/>
                    </a:solidFill>
                  </a:tcPr>
                </a:tc>
                <a:tc>
                  <a:txBody>
                    <a:bodyPr/>
                    <a:lstStyle/>
                    <a:p>
                      <a:pPr algn="l"/>
                      <a:r>
                        <a:rPr sz="1350" b="1">
                          <a:solidFill>
                            <a:srgbClr val="0F4C47"/>
                          </a:solidFill>
                          <a:latin typeface="Aptos"/>
                        </a:rPr>
                        <a:t>Nhận xét, khoá sổ</a:t>
                      </a:r>
                    </a:p>
                  </a:txBody>
                  <a:tcPr marL="73152" marR="73152" marT="18288" marB="18288" anchor="ctr">
                    <a:lnL w="0">
                      <a:noFill/>
                    </a:lnL>
                    <a:lnR w="0">
                      <a:noFill/>
                    </a:lnR>
                    <a:lnT w="0">
                      <a:noFill/>
                    </a:lnT>
                    <a:lnB w="12700">
                      <a:solidFill>
                        <a:srgbClr val="D5E3E2"/>
                      </a:solidFill>
                    </a:lnB>
                    <a:solidFill>
                      <a:srgbClr val="FFF1E0"/>
                    </a:solidFill>
                  </a:tcPr>
                </a:tc>
                <a:tc>
                  <a:txBody>
                    <a:bodyPr/>
                    <a:lstStyle/>
                    <a:p>
                      <a:pPr algn="l"/>
                      <a:r>
                        <a:rPr sz="1350" b="1">
                          <a:solidFill>
                            <a:srgbClr val="0F4C47"/>
                          </a:solidFill>
                          <a:latin typeface="Aptos"/>
                        </a:rPr>
                        <a:t>Lớp, tổ, từng em</a:t>
                      </a:r>
                    </a:p>
                  </a:txBody>
                  <a:tcPr marL="73152" marR="73152" marT="18288" marB="18288" anchor="ctr">
                    <a:lnL w="0">
                      <a:noFill/>
                    </a:lnL>
                    <a:lnR w="0">
                      <a:noFill/>
                    </a:lnR>
                    <a:lnT w="0">
                      <a:noFill/>
                    </a:lnT>
                    <a:lnB w="12700">
                      <a:solidFill>
                        <a:srgbClr val="D5E3E2"/>
                      </a:solidFill>
                    </a:lnB>
                    <a:solidFill>
                      <a:srgbClr val="FFF1E0"/>
                    </a:solidFill>
                  </a:tcPr>
                </a:tc>
              </a:tr>
              <a:tr h="566928">
                <a:tc>
                  <a:txBody>
                    <a:bodyPr/>
                    <a:lstStyle/>
                    <a:p>
                      <a:pPr algn="l"/>
                      <a:r>
                        <a:rPr sz="1350" b="0">
                          <a:solidFill>
                            <a:srgbClr val="1F2D2C"/>
                          </a:solidFill>
                          <a:latin typeface="Aptos"/>
                        </a:rPr>
                        <a:t>Lớp trưởng</a:t>
                      </a:r>
                    </a:p>
                  </a:txBody>
                  <a:tcPr marL="73152" marR="73152" marT="18288" marB="18288" anchor="ctr">
                    <a:lnL w="0">
                      <a:noFill/>
                    </a:lnL>
                    <a:lnR w="0">
                      <a:noFill/>
                    </a:lnR>
                    <a:lnT w="0">
                      <a:noFill/>
                    </a:lnT>
                    <a:lnB w="12700">
                      <a:solidFill>
                        <a:srgbClr val="D5E3E2"/>
                      </a:solidFill>
                    </a:lnB>
                    <a:noFill/>
                  </a:tcPr>
                </a:tc>
                <a:tc>
                  <a:txBody>
                    <a:bodyPr/>
                    <a:lstStyle/>
                    <a:p>
                      <a:pPr algn="l"/>
                      <a:r>
                        <a:rPr sz="1350" b="0">
                          <a:solidFill>
                            <a:srgbClr val="1F2D2C"/>
                          </a:solidFill>
                          <a:latin typeface="Aptos"/>
                        </a:rPr>
                        <a:t>Cả lớp</a:t>
                      </a:r>
                    </a:p>
                  </a:txBody>
                  <a:tcPr marL="73152" marR="73152" marT="18288" marB="18288" anchor="ctr">
                    <a:lnL w="0">
                      <a:noFill/>
                    </a:lnL>
                    <a:lnR w="0">
                      <a:noFill/>
                    </a:lnR>
                    <a:lnT w="0">
                      <a:noFill/>
                    </a:lnT>
                    <a:lnB w="12700">
                      <a:solidFill>
                        <a:srgbClr val="D5E3E2"/>
                      </a:solidFill>
                    </a:lnB>
                    <a:noFill/>
                  </a:tcPr>
                </a:tc>
                <a:tc>
                  <a:txBody>
                    <a:bodyPr/>
                    <a:lstStyle/>
                    <a:p>
                      <a:pPr algn="l"/>
                      <a:r>
                        <a:rPr sz="1350" b="0">
                          <a:solidFill>
                            <a:srgbClr val="1F2D2C"/>
                          </a:solidFill>
                          <a:latin typeface="Aptos"/>
                        </a:rPr>
                        <a:t>Không</a:t>
                      </a:r>
                    </a:p>
                  </a:txBody>
                  <a:tcPr marL="73152" marR="73152" marT="18288" marB="18288" anchor="ctr">
                    <a:lnL w="0">
                      <a:noFill/>
                    </a:lnL>
                    <a:lnR w="0">
                      <a:noFill/>
                    </a:lnR>
                    <a:lnT w="0">
                      <a:noFill/>
                    </a:lnT>
                    <a:lnB w="12700">
                      <a:solidFill>
                        <a:srgbClr val="D5E3E2"/>
                      </a:solidFill>
                    </a:lnB>
                    <a:noFill/>
                  </a:tcPr>
                </a:tc>
                <a:tc>
                  <a:txBody>
                    <a:bodyPr/>
                    <a:lstStyle/>
                    <a:p>
                      <a:pPr algn="l"/>
                      <a:r>
                        <a:rPr sz="1350" b="0">
                          <a:solidFill>
                            <a:srgbClr val="1F2D2C"/>
                          </a:solidFill>
                          <a:latin typeface="Aptos"/>
                        </a:rPr>
                        <a:t>Cả lớp</a:t>
                      </a:r>
                    </a:p>
                  </a:txBody>
                  <a:tcPr marL="73152" marR="73152" marT="18288" marB="18288" anchor="ctr">
                    <a:lnL w="0">
                      <a:noFill/>
                    </a:lnL>
                    <a:lnR w="0">
                      <a:noFill/>
                    </a:lnR>
                    <a:lnT w="0">
                      <a:noFill/>
                    </a:lnT>
                    <a:lnB w="12700">
                      <a:solidFill>
                        <a:srgbClr val="D5E3E2"/>
                      </a:solidFill>
                    </a:lnB>
                    <a:noFill/>
                  </a:tcPr>
                </a:tc>
              </a:tr>
              <a:tr h="566928">
                <a:tc>
                  <a:txBody>
                    <a:bodyPr/>
                    <a:lstStyle/>
                    <a:p>
                      <a:pPr algn="l"/>
                      <a:r>
                        <a:rPr sz="1350" b="0">
                          <a:solidFill>
                            <a:srgbClr val="1F2D2C"/>
                          </a:solidFill>
                          <a:latin typeface="Aptos"/>
                        </a:rPr>
                        <a:t>Tổ trưởng</a:t>
                      </a:r>
                    </a:p>
                  </a:txBody>
                  <a:tcPr marL="73152" marR="73152" marT="18288" marB="18288" anchor="ctr">
                    <a:lnL w="0">
                      <a:noFill/>
                    </a:lnL>
                    <a:lnR w="0">
                      <a:noFill/>
                    </a:lnR>
                    <a:lnT w="0">
                      <a:noFill/>
                    </a:lnT>
                    <a:lnB w="12700">
                      <a:solidFill>
                        <a:srgbClr val="D5E3E2"/>
                      </a:solidFill>
                    </a:lnB>
                    <a:noFill/>
                  </a:tcPr>
                </a:tc>
                <a:tc>
                  <a:txBody>
                    <a:bodyPr/>
                    <a:lstStyle/>
                    <a:p>
                      <a:pPr algn="l"/>
                      <a:r>
                        <a:rPr sz="1350" b="0">
                          <a:solidFill>
                            <a:srgbClr val="1F2D2C"/>
                          </a:solidFill>
                          <a:latin typeface="Aptos"/>
                        </a:rPr>
                        <a:t>Tổ mình</a:t>
                      </a:r>
                    </a:p>
                  </a:txBody>
                  <a:tcPr marL="73152" marR="73152" marT="18288" marB="18288" anchor="ctr">
                    <a:lnL w="0">
                      <a:noFill/>
                    </a:lnL>
                    <a:lnR w="0">
                      <a:noFill/>
                    </a:lnR>
                    <a:lnT w="0">
                      <a:noFill/>
                    </a:lnT>
                    <a:lnB w="12700">
                      <a:solidFill>
                        <a:srgbClr val="D5E3E2"/>
                      </a:solidFill>
                    </a:lnB>
                    <a:noFill/>
                  </a:tcPr>
                </a:tc>
                <a:tc>
                  <a:txBody>
                    <a:bodyPr/>
                    <a:lstStyle/>
                    <a:p>
                      <a:pPr algn="l"/>
                      <a:r>
                        <a:rPr sz="1350" b="0">
                          <a:solidFill>
                            <a:srgbClr val="1F2D2C"/>
                          </a:solidFill>
                          <a:latin typeface="Aptos"/>
                        </a:rPr>
                        <a:t>Không</a:t>
                      </a:r>
                    </a:p>
                  </a:txBody>
                  <a:tcPr marL="73152" marR="73152" marT="18288" marB="18288" anchor="ctr">
                    <a:lnL w="0">
                      <a:noFill/>
                    </a:lnL>
                    <a:lnR w="0">
                      <a:noFill/>
                    </a:lnR>
                    <a:lnT w="0">
                      <a:noFill/>
                    </a:lnT>
                    <a:lnB w="12700">
                      <a:solidFill>
                        <a:srgbClr val="D5E3E2"/>
                      </a:solidFill>
                    </a:lnB>
                    <a:noFill/>
                  </a:tcPr>
                </a:tc>
                <a:tc>
                  <a:txBody>
                    <a:bodyPr/>
                    <a:lstStyle/>
                    <a:p>
                      <a:pPr algn="l"/>
                      <a:r>
                        <a:rPr sz="1350" b="0">
                          <a:solidFill>
                            <a:srgbClr val="1F2D2C"/>
                          </a:solidFill>
                          <a:latin typeface="Aptos"/>
                        </a:rPr>
                        <a:t>Cả lớp</a:t>
                      </a:r>
                    </a:p>
                  </a:txBody>
                  <a:tcPr marL="73152" marR="73152" marT="18288" marB="18288" anchor="ctr">
                    <a:lnL w="0">
                      <a:noFill/>
                    </a:lnL>
                    <a:lnR w="0">
                      <a:noFill/>
                    </a:lnR>
                    <a:lnT w="0">
                      <a:noFill/>
                    </a:lnT>
                    <a:lnB w="12700">
                      <a:solidFill>
                        <a:srgbClr val="D5E3E2"/>
                      </a:solidFill>
                    </a:lnB>
                    <a:noFill/>
                  </a:tcPr>
                </a:tc>
              </a:tr>
              <a:tr h="566928">
                <a:tc>
                  <a:txBody>
                    <a:bodyPr/>
                    <a:lstStyle/>
                    <a:p>
                      <a:pPr algn="l"/>
                      <a:r>
                        <a:rPr sz="1350" b="0">
                          <a:solidFill>
                            <a:srgbClr val="1F2D2C"/>
                          </a:solidFill>
                          <a:latin typeface="Aptos"/>
                        </a:rPr>
                        <a:t>Phụ huynh</a:t>
                      </a:r>
                    </a:p>
                  </a:txBody>
                  <a:tcPr marL="73152" marR="73152" marT="18288" marB="18288" anchor="ctr">
                    <a:lnL w="0">
                      <a:noFill/>
                    </a:lnL>
                    <a:lnR w="0">
                      <a:noFill/>
                    </a:lnR>
                    <a:lnT w="0">
                      <a:noFill/>
                    </a:lnT>
                    <a:lnB w="12700">
                      <a:solidFill>
                        <a:srgbClr val="D5E3E2"/>
                      </a:solidFill>
                    </a:lnB>
                    <a:noFill/>
                  </a:tcPr>
                </a:tc>
                <a:tc>
                  <a:txBody>
                    <a:bodyPr/>
                    <a:lstStyle/>
                    <a:p>
                      <a:pPr algn="l"/>
                      <a:r>
                        <a:rPr sz="1350" b="0">
                          <a:solidFill>
                            <a:srgbClr val="1F2D2C"/>
                          </a:solidFill>
                          <a:latin typeface="Aptos"/>
                        </a:rPr>
                        <a:t>Không</a:t>
                      </a:r>
                    </a:p>
                  </a:txBody>
                  <a:tcPr marL="73152" marR="73152" marT="18288" marB="18288" anchor="ctr">
                    <a:lnL w="0">
                      <a:noFill/>
                    </a:lnL>
                    <a:lnR w="0">
                      <a:noFill/>
                    </a:lnR>
                    <a:lnT w="0">
                      <a:noFill/>
                    </a:lnT>
                    <a:lnB w="12700">
                      <a:solidFill>
                        <a:srgbClr val="D5E3E2"/>
                      </a:solidFill>
                    </a:lnB>
                    <a:noFill/>
                  </a:tcPr>
                </a:tc>
                <a:tc>
                  <a:txBody>
                    <a:bodyPr/>
                    <a:lstStyle/>
                    <a:p>
                      <a:pPr algn="l"/>
                      <a:r>
                        <a:rPr sz="1350" b="0">
                          <a:solidFill>
                            <a:srgbClr val="1F2D2C"/>
                          </a:solidFill>
                          <a:latin typeface="Aptos"/>
                        </a:rPr>
                        <a:t>Đọc nhận xét</a:t>
                      </a:r>
                    </a:p>
                  </a:txBody>
                  <a:tcPr marL="73152" marR="73152" marT="18288" marB="18288" anchor="ctr">
                    <a:lnL w="0">
                      <a:noFill/>
                    </a:lnL>
                    <a:lnR w="0">
                      <a:noFill/>
                    </a:lnR>
                    <a:lnT w="0">
                      <a:noFill/>
                    </a:lnT>
                    <a:lnB w="12700">
                      <a:solidFill>
                        <a:srgbClr val="D5E3E2"/>
                      </a:solidFill>
                    </a:lnB>
                    <a:noFill/>
                  </a:tcPr>
                </a:tc>
                <a:tc>
                  <a:txBody>
                    <a:bodyPr/>
                    <a:lstStyle/>
                    <a:p>
                      <a:pPr algn="l"/>
                      <a:r>
                        <a:rPr sz="1350" b="0">
                          <a:solidFill>
                            <a:srgbClr val="1F2D2C"/>
                          </a:solidFill>
                          <a:latin typeface="Aptos"/>
                        </a:rPr>
                        <a:t>Kết quả của con</a:t>
                      </a:r>
                    </a:p>
                  </a:txBody>
                  <a:tcPr marL="73152" marR="73152" marT="18288" marB="18288" anchor="ctr">
                    <a:lnL w="0">
                      <a:noFill/>
                    </a:lnL>
                    <a:lnR w="0">
                      <a:noFill/>
                    </a:lnR>
                    <a:lnT w="0">
                      <a:noFill/>
                    </a:lnT>
                    <a:lnB w="12700">
                      <a:solidFill>
                        <a:srgbClr val="D5E3E2"/>
                      </a:solidFill>
                    </a:lnB>
                    <a:noFill/>
                  </a:tcPr>
                </a:tc>
              </a:tr>
            </a:tbl>
          </a:graphicData>
        </a:graphic>
      </p:graphicFrame>
      <p:sp>
        <p:nvSpPr>
          <p:cNvPr id="15" name="Oval 14"/>
          <p:cNvSpPr/>
          <p:nvPr/>
        </p:nvSpPr>
        <p:spPr>
          <a:xfrm>
            <a:off x="420624" y="4343400"/>
            <a:ext cx="438912" cy="438912"/>
          </a:xfrm>
          <a:prstGeom prst="ellipse">
            <a:avLst/>
          </a:prstGeom>
          <a:solidFill>
            <a:srgbClr val="E0F2F1"/>
          </a:solidFill>
          <a:ln>
            <a:noFill/>
          </a:ln>
          <a:effectLst/>
        </p:spPr>
        <p:txBody>
          <a:bodyPr rtlCol="0" anchor="ctr"/>
          <a:lstStyle/>
          <a:p>
            <a:pPr algn="ctr"/>
          </a:p>
        </p:txBody>
      </p:sp>
      <p:pic>
        <p:nvPicPr>
          <p:cNvPr id="16" name="Picture 15" descr="shield_2A9D8F.png"/>
          <p:cNvPicPr>
            <a:picLocks noChangeAspect="1"/>
          </p:cNvPicPr>
          <p:nvPr/>
        </p:nvPicPr>
        <p:blipFill>
          <a:blip r:embed="rId2"/>
          <a:stretch>
            <a:fillRect/>
          </a:stretch>
        </p:blipFill>
        <p:spPr>
          <a:xfrm>
            <a:off x="517184" y="4439960"/>
            <a:ext cx="245790" cy="245790"/>
          </a:xfrm>
          <a:prstGeom prst="rect">
            <a:avLst/>
          </a:prstGeom>
        </p:spPr>
      </p:pic>
      <p:sp>
        <p:nvSpPr>
          <p:cNvPr id="17" name="TextBox 16"/>
          <p:cNvSpPr txBox="1"/>
          <p:nvPr/>
        </p:nvSpPr>
        <p:spPr>
          <a:xfrm>
            <a:off x="1014984" y="4343400"/>
            <a:ext cx="6949440" cy="438912"/>
          </a:xfrm>
          <a:prstGeom prst="rect">
            <a:avLst/>
          </a:prstGeom>
          <a:noFill/>
        </p:spPr>
        <p:txBody>
          <a:bodyPr wrap="square" anchor="ctr" lIns="0" rIns="0" tIns="0" bIns="0">
            <a:spAutoFit/>
          </a:bodyPr>
          <a:lstStyle/>
          <a:p>
            <a:pPr algn="l"/>
            <a:r>
              <a:rPr sz="1300" b="0" i="0">
                <a:solidFill>
                  <a:srgbClr val="1F2D2C"/>
                </a:solidFill>
                <a:latin typeface="Aptos"/>
              </a:rPr>
              <a:t>Đăng nhập bằng email và mã 6 số, không cần mật khẩu</a:t>
            </a:r>
          </a:p>
        </p:txBody>
      </p:sp>
      <p:sp>
        <p:nvSpPr>
          <p:cNvPr id="18" name="Oval 17"/>
          <p:cNvSpPr/>
          <p:nvPr/>
        </p:nvSpPr>
        <p:spPr>
          <a:xfrm>
            <a:off x="420624" y="4892040"/>
            <a:ext cx="438912" cy="438912"/>
          </a:xfrm>
          <a:prstGeom prst="ellipse">
            <a:avLst/>
          </a:prstGeom>
          <a:solidFill>
            <a:srgbClr val="E0F2F1"/>
          </a:solidFill>
          <a:ln>
            <a:noFill/>
          </a:ln>
          <a:effectLst/>
        </p:spPr>
        <p:txBody>
          <a:bodyPr rtlCol="0" anchor="ctr"/>
          <a:lstStyle/>
          <a:p>
            <a:pPr algn="ctr"/>
          </a:p>
        </p:txBody>
      </p:sp>
      <p:pic>
        <p:nvPicPr>
          <p:cNvPr id="19" name="Picture 18" descr="users_2A9D8F.png"/>
          <p:cNvPicPr>
            <a:picLocks noChangeAspect="1"/>
          </p:cNvPicPr>
          <p:nvPr/>
        </p:nvPicPr>
        <p:blipFill>
          <a:blip r:embed="rId3"/>
          <a:stretch>
            <a:fillRect/>
          </a:stretch>
        </p:blipFill>
        <p:spPr>
          <a:xfrm>
            <a:off x="517184" y="4988600"/>
            <a:ext cx="245790" cy="245790"/>
          </a:xfrm>
          <a:prstGeom prst="rect">
            <a:avLst/>
          </a:prstGeom>
        </p:spPr>
      </p:pic>
      <p:sp>
        <p:nvSpPr>
          <p:cNvPr id="20" name="TextBox 19"/>
          <p:cNvSpPr txBox="1"/>
          <p:nvPr/>
        </p:nvSpPr>
        <p:spPr>
          <a:xfrm>
            <a:off x="1014984" y="4892040"/>
            <a:ext cx="6949440" cy="438912"/>
          </a:xfrm>
          <a:prstGeom prst="rect">
            <a:avLst/>
          </a:prstGeom>
          <a:noFill/>
        </p:spPr>
        <p:txBody>
          <a:bodyPr wrap="square" anchor="ctr" lIns="0" rIns="0" tIns="0" bIns="0">
            <a:spAutoFit/>
          </a:bodyPr>
          <a:lstStyle/>
          <a:p>
            <a:pPr algn="l"/>
            <a:r>
              <a:rPr sz="1300" b="0" i="0">
                <a:solidFill>
                  <a:srgbClr val="1F2D2C"/>
                </a:solidFill>
                <a:latin typeface="Aptos"/>
              </a:rPr>
              <a:t>Giáo viên chủ nhiệm cấp quyền và có thể khoá tài khoản</a:t>
            </a:r>
          </a:p>
        </p:txBody>
      </p:sp>
      <p:sp>
        <p:nvSpPr>
          <p:cNvPr id="21" name="Oval 20"/>
          <p:cNvSpPr/>
          <p:nvPr/>
        </p:nvSpPr>
        <p:spPr>
          <a:xfrm>
            <a:off x="420624" y="5440680"/>
            <a:ext cx="438912" cy="438912"/>
          </a:xfrm>
          <a:prstGeom prst="ellipse">
            <a:avLst/>
          </a:prstGeom>
          <a:solidFill>
            <a:srgbClr val="E0F2F1"/>
          </a:solidFill>
          <a:ln>
            <a:noFill/>
          </a:ln>
          <a:effectLst/>
        </p:spPr>
        <p:txBody>
          <a:bodyPr rtlCol="0" anchor="ctr"/>
          <a:lstStyle/>
          <a:p>
            <a:pPr algn="ctr"/>
          </a:p>
        </p:txBody>
      </p:sp>
      <p:pic>
        <p:nvPicPr>
          <p:cNvPr id="22" name="Picture 21" descr="eye_2A9D8F.png"/>
          <p:cNvPicPr>
            <a:picLocks noChangeAspect="1"/>
          </p:cNvPicPr>
          <p:nvPr/>
        </p:nvPicPr>
        <p:blipFill>
          <a:blip r:embed="rId4"/>
          <a:stretch>
            <a:fillRect/>
          </a:stretch>
        </p:blipFill>
        <p:spPr>
          <a:xfrm>
            <a:off x="517184" y="5537240"/>
            <a:ext cx="245790" cy="245790"/>
          </a:xfrm>
          <a:prstGeom prst="rect">
            <a:avLst/>
          </a:prstGeom>
        </p:spPr>
      </p:pic>
      <p:sp>
        <p:nvSpPr>
          <p:cNvPr id="23" name="TextBox 22"/>
          <p:cNvSpPr txBox="1"/>
          <p:nvPr/>
        </p:nvSpPr>
        <p:spPr>
          <a:xfrm>
            <a:off x="1014984" y="5440680"/>
            <a:ext cx="6949440" cy="438912"/>
          </a:xfrm>
          <a:prstGeom prst="rect">
            <a:avLst/>
          </a:prstGeom>
          <a:noFill/>
        </p:spPr>
        <p:txBody>
          <a:bodyPr wrap="square" anchor="ctr" lIns="0" rIns="0" tIns="0" bIns="0">
            <a:spAutoFit/>
          </a:bodyPr>
          <a:lstStyle/>
          <a:p>
            <a:pPr algn="l"/>
            <a:r>
              <a:rPr sz="1300" b="0" i="0">
                <a:solidFill>
                  <a:srgbClr val="1F2D2C"/>
                </a:solidFill>
                <a:latin typeface="Aptos"/>
              </a:rPr>
              <a:t>Phụ huynh chỉ xem, không sửa được dữ liệu</a:t>
            </a:r>
          </a:p>
        </p:txBody>
      </p:sp>
      <p:sp>
        <p:nvSpPr>
          <p:cNvPr id="24" name="Rounded Rectangle 23"/>
          <p:cNvSpPr/>
          <p:nvPr/>
        </p:nvSpPr>
        <p:spPr>
          <a:xfrm>
            <a:off x="9555718" y="1197864"/>
            <a:ext cx="2249185" cy="4782312"/>
          </a:xfrm>
          <a:prstGeom prst="roundRect">
            <a:avLst>
              <a:gd name="adj" fmla="val 2000"/>
            </a:avLst>
          </a:prstGeom>
          <a:solidFill>
            <a:srgbClr val="D5E3E2"/>
          </a:solidFill>
          <a:ln>
            <a:noFill/>
          </a:ln>
          <a:effectLst/>
        </p:spPr>
        <p:txBody>
          <a:bodyPr rtlCol="0" anchor="ctr"/>
          <a:lstStyle/>
          <a:p>
            <a:pPr algn="ctr"/>
          </a:p>
        </p:txBody>
      </p:sp>
      <p:pic>
        <p:nvPicPr>
          <p:cNvPr id="25" name="Picture 24" descr="quyen.png"/>
          <p:cNvPicPr>
            <a:picLocks noChangeAspect="1"/>
          </p:cNvPicPr>
          <p:nvPr/>
        </p:nvPicPr>
        <p:blipFill>
          <a:blip r:embed="rId5"/>
          <a:stretch>
            <a:fillRect/>
          </a:stretch>
        </p:blipFill>
        <p:spPr>
          <a:xfrm>
            <a:off x="9592294" y="1234440"/>
            <a:ext cx="2176033" cy="47091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II · GIẢI PHÁP</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10</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Vòng thông tin: ghi nhận, tổng hợp, nhận xét, báo tin</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8" name="TextBox 7"/>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9" name="Rounded Rectangle 8"/>
          <p:cNvSpPr/>
          <p:nvPr/>
        </p:nvSpPr>
        <p:spPr>
          <a:xfrm>
            <a:off x="4227576"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0" name="TextBox 9"/>
          <p:cNvSpPr txBox="1"/>
          <p:nvPr/>
        </p:nvSpPr>
        <p:spPr>
          <a:xfrm>
            <a:off x="4319015"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II · GIẢI PHÁP</a:t>
            </a:r>
          </a:p>
        </p:txBody>
      </p:sp>
      <p:sp>
        <p:nvSpPr>
          <p:cNvPr id="11" name="TextBox 10"/>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2" name="TextBox 11"/>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3" name="TextBox 12"/>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sp>
        <p:nvSpPr>
          <p:cNvPr id="14" name="Pentagon 13"/>
          <p:cNvSpPr/>
          <p:nvPr/>
        </p:nvSpPr>
        <p:spPr>
          <a:xfrm>
            <a:off x="420624" y="1280160"/>
            <a:ext cx="2743200" cy="685800"/>
          </a:xfrm>
          <a:prstGeom prst="homePlate">
            <a:avLst>
              <a:gd name="adj" fmla="val 30000"/>
            </a:avLst>
          </a:prstGeom>
          <a:solidFill>
            <a:srgbClr val="0F766E"/>
          </a:solidFill>
          <a:ln>
            <a:noFill/>
          </a:ln>
          <a:effectLst/>
        </p:spPr>
        <p:txBody>
          <a:bodyPr rtlCol="0" anchor="ctr"/>
          <a:lstStyle/>
          <a:p>
            <a:pPr algn="ctr"/>
          </a:p>
        </p:txBody>
      </p:sp>
      <p:sp>
        <p:nvSpPr>
          <p:cNvPr id="15" name="TextBox 14"/>
          <p:cNvSpPr txBox="1"/>
          <p:nvPr/>
        </p:nvSpPr>
        <p:spPr>
          <a:xfrm>
            <a:off x="740664" y="1280160"/>
            <a:ext cx="2194560" cy="685800"/>
          </a:xfrm>
          <a:prstGeom prst="rect">
            <a:avLst/>
          </a:prstGeom>
          <a:noFill/>
        </p:spPr>
        <p:txBody>
          <a:bodyPr wrap="square" anchor="ctr" lIns="0" rIns="0" tIns="0" bIns="0">
            <a:spAutoFit/>
          </a:bodyPr>
          <a:lstStyle/>
          <a:p>
            <a:pPr algn="ctr"/>
            <a:r>
              <a:rPr sz="1700" b="1" i="0">
                <a:solidFill>
                  <a:srgbClr val="FFFFFF"/>
                </a:solidFill>
                <a:latin typeface="Aptos"/>
              </a:rPr>
              <a:t>Ghi nhận</a:t>
            </a:r>
          </a:p>
        </p:txBody>
      </p:sp>
      <p:sp>
        <p:nvSpPr>
          <p:cNvPr id="16" name="Rounded Rectangle 15"/>
          <p:cNvSpPr/>
          <p:nvPr/>
        </p:nvSpPr>
        <p:spPr>
          <a:xfrm>
            <a:off x="420624" y="2103120"/>
            <a:ext cx="1041169" cy="274320"/>
          </a:xfrm>
          <a:prstGeom prst="roundRect">
            <a:avLst>
              <a:gd name="adj" fmla="val 50000"/>
            </a:avLst>
          </a:prstGeom>
          <a:solidFill>
            <a:srgbClr val="E0F2F1"/>
          </a:solidFill>
          <a:ln>
            <a:noFill/>
          </a:ln>
          <a:effectLst/>
        </p:spPr>
        <p:txBody>
          <a:bodyPr rtlCol="0" anchor="ctr"/>
          <a:lstStyle/>
          <a:p>
            <a:pPr algn="ctr"/>
          </a:p>
        </p:txBody>
      </p:sp>
      <p:sp>
        <p:nvSpPr>
          <p:cNvPr id="17" name="TextBox 16"/>
          <p:cNvSpPr txBox="1"/>
          <p:nvPr/>
        </p:nvSpPr>
        <p:spPr>
          <a:xfrm>
            <a:off x="420624" y="2103120"/>
            <a:ext cx="1041169" cy="274320"/>
          </a:xfrm>
          <a:prstGeom prst="rect">
            <a:avLst/>
          </a:prstGeom>
          <a:noFill/>
        </p:spPr>
        <p:txBody>
          <a:bodyPr wrap="square" anchor="ctr" lIns="0" rIns="0" tIns="0" bIns="0">
            <a:spAutoFit/>
          </a:bodyPr>
          <a:lstStyle/>
          <a:p>
            <a:pPr algn="ctr"/>
            <a:r>
              <a:rPr sz="1150" b="1" i="0">
                <a:solidFill>
                  <a:srgbClr val="0F4C47"/>
                </a:solidFill>
                <a:latin typeface="Aptos"/>
              </a:rPr>
              <a:t>Cán bộ lớp</a:t>
            </a:r>
          </a:p>
        </p:txBody>
      </p:sp>
      <p:sp>
        <p:nvSpPr>
          <p:cNvPr id="18" name="Oval 17"/>
          <p:cNvSpPr/>
          <p:nvPr/>
        </p:nvSpPr>
        <p:spPr>
          <a:xfrm>
            <a:off x="420624" y="2578608"/>
            <a:ext cx="292608" cy="292608"/>
          </a:xfrm>
          <a:prstGeom prst="ellipse">
            <a:avLst/>
          </a:prstGeom>
          <a:solidFill>
            <a:srgbClr val="99D5CF"/>
          </a:solidFill>
          <a:ln>
            <a:noFill/>
          </a:ln>
          <a:effectLst/>
        </p:spPr>
        <p:txBody>
          <a:bodyPr rtlCol="0" anchor="ctr"/>
          <a:lstStyle/>
          <a:p>
            <a:pPr algn="ctr"/>
          </a:p>
        </p:txBody>
      </p:sp>
      <p:sp>
        <p:nvSpPr>
          <p:cNvPr id="19" name="TextBox 18"/>
          <p:cNvSpPr txBox="1"/>
          <p:nvPr/>
        </p:nvSpPr>
        <p:spPr>
          <a:xfrm>
            <a:off x="420624" y="2578608"/>
            <a:ext cx="292608" cy="292608"/>
          </a:xfrm>
          <a:prstGeom prst="rect">
            <a:avLst/>
          </a:prstGeom>
          <a:noFill/>
        </p:spPr>
        <p:txBody>
          <a:bodyPr wrap="square" anchor="ctr" lIns="0" rIns="0" tIns="0" bIns="0">
            <a:spAutoFit/>
          </a:bodyPr>
          <a:lstStyle/>
          <a:p>
            <a:pPr algn="ctr"/>
            <a:r>
              <a:rPr sz="1150" b="1" i="0">
                <a:solidFill>
                  <a:srgbClr val="0F4C47"/>
                </a:solidFill>
                <a:latin typeface="Aptos"/>
              </a:rPr>
              <a:t>1</a:t>
            </a:r>
          </a:p>
        </p:txBody>
      </p:sp>
      <p:sp>
        <p:nvSpPr>
          <p:cNvPr id="20" name="TextBox 19"/>
          <p:cNvSpPr txBox="1"/>
          <p:nvPr/>
        </p:nvSpPr>
        <p:spPr>
          <a:xfrm>
            <a:off x="804672" y="2560320"/>
            <a:ext cx="2331720" cy="347472"/>
          </a:xfrm>
          <a:prstGeom prst="rect">
            <a:avLst/>
          </a:prstGeom>
          <a:noFill/>
        </p:spPr>
        <p:txBody>
          <a:bodyPr wrap="square" anchor="ctr" lIns="0" rIns="0" tIns="0" bIns="0">
            <a:spAutoFit/>
          </a:bodyPr>
          <a:lstStyle/>
          <a:p>
            <a:pPr algn="l"/>
            <a:r>
              <a:rPr sz="1300" b="0" i="0">
                <a:solidFill>
                  <a:srgbClr val="1F2D2C"/>
                </a:solidFill>
                <a:latin typeface="Aptos"/>
              </a:rPr>
              <a:t>Chạm tên học sinh</a:t>
            </a:r>
          </a:p>
        </p:txBody>
      </p:sp>
      <p:sp>
        <p:nvSpPr>
          <p:cNvPr id="21" name="Oval 20"/>
          <p:cNvSpPr/>
          <p:nvPr/>
        </p:nvSpPr>
        <p:spPr>
          <a:xfrm>
            <a:off x="420624" y="3035808"/>
            <a:ext cx="292608" cy="292608"/>
          </a:xfrm>
          <a:prstGeom prst="ellipse">
            <a:avLst/>
          </a:prstGeom>
          <a:solidFill>
            <a:srgbClr val="99D5CF"/>
          </a:solidFill>
          <a:ln>
            <a:noFill/>
          </a:ln>
          <a:effectLst/>
        </p:spPr>
        <p:txBody>
          <a:bodyPr rtlCol="0" anchor="ctr"/>
          <a:lstStyle/>
          <a:p>
            <a:pPr algn="ctr"/>
          </a:p>
        </p:txBody>
      </p:sp>
      <p:sp>
        <p:nvSpPr>
          <p:cNvPr id="22" name="TextBox 21"/>
          <p:cNvSpPr txBox="1"/>
          <p:nvPr/>
        </p:nvSpPr>
        <p:spPr>
          <a:xfrm>
            <a:off x="420624" y="3035808"/>
            <a:ext cx="292608" cy="292608"/>
          </a:xfrm>
          <a:prstGeom prst="rect">
            <a:avLst/>
          </a:prstGeom>
          <a:noFill/>
        </p:spPr>
        <p:txBody>
          <a:bodyPr wrap="square" anchor="ctr" lIns="0" rIns="0" tIns="0" bIns="0">
            <a:spAutoFit/>
          </a:bodyPr>
          <a:lstStyle/>
          <a:p>
            <a:pPr algn="ctr"/>
            <a:r>
              <a:rPr sz="1150" b="1" i="0">
                <a:solidFill>
                  <a:srgbClr val="0F4C47"/>
                </a:solidFill>
                <a:latin typeface="Aptos"/>
              </a:rPr>
              <a:t>2</a:t>
            </a:r>
          </a:p>
        </p:txBody>
      </p:sp>
      <p:sp>
        <p:nvSpPr>
          <p:cNvPr id="23" name="TextBox 22"/>
          <p:cNvSpPr txBox="1"/>
          <p:nvPr/>
        </p:nvSpPr>
        <p:spPr>
          <a:xfrm>
            <a:off x="804672" y="3017520"/>
            <a:ext cx="2331720" cy="347472"/>
          </a:xfrm>
          <a:prstGeom prst="rect">
            <a:avLst/>
          </a:prstGeom>
          <a:noFill/>
        </p:spPr>
        <p:txBody>
          <a:bodyPr wrap="square" anchor="ctr" lIns="0" rIns="0" tIns="0" bIns="0">
            <a:spAutoFit/>
          </a:bodyPr>
          <a:lstStyle/>
          <a:p>
            <a:pPr algn="l"/>
            <a:r>
              <a:rPr sz="1300" b="0" i="0">
                <a:solidFill>
                  <a:srgbClr val="1F2D2C"/>
                </a:solidFill>
                <a:latin typeface="Aptos"/>
              </a:rPr>
              <a:t>Chọn lỗi hoặc điểm cộng</a:t>
            </a:r>
          </a:p>
        </p:txBody>
      </p:sp>
      <p:sp>
        <p:nvSpPr>
          <p:cNvPr id="24" name="Rounded Rectangle 23"/>
          <p:cNvSpPr/>
          <p:nvPr/>
        </p:nvSpPr>
        <p:spPr>
          <a:xfrm>
            <a:off x="384048" y="3575304"/>
            <a:ext cx="812580" cy="1673352"/>
          </a:xfrm>
          <a:prstGeom prst="roundRect">
            <a:avLst>
              <a:gd name="adj" fmla="val 2000"/>
            </a:avLst>
          </a:prstGeom>
          <a:solidFill>
            <a:srgbClr val="D5E3E2"/>
          </a:solidFill>
          <a:ln>
            <a:noFill/>
          </a:ln>
          <a:effectLst/>
        </p:spPr>
        <p:txBody>
          <a:bodyPr rtlCol="0" anchor="ctr"/>
          <a:lstStyle/>
          <a:p>
            <a:pPr algn="ctr"/>
          </a:p>
        </p:txBody>
      </p:sp>
      <p:pic>
        <p:nvPicPr>
          <p:cNvPr id="25" name="Picture 24" descr="m_panel.png"/>
          <p:cNvPicPr>
            <a:picLocks noChangeAspect="1"/>
          </p:cNvPicPr>
          <p:nvPr/>
        </p:nvPicPr>
        <p:blipFill>
          <a:blip r:embed="rId2"/>
          <a:stretch>
            <a:fillRect/>
          </a:stretch>
        </p:blipFill>
        <p:spPr>
          <a:xfrm>
            <a:off x="420624" y="3611880"/>
            <a:ext cx="739428" cy="1600200"/>
          </a:xfrm>
          <a:prstGeom prst="rect">
            <a:avLst/>
          </a:prstGeom>
        </p:spPr>
      </p:pic>
      <p:sp>
        <p:nvSpPr>
          <p:cNvPr id="26" name="Chevron 25"/>
          <p:cNvSpPr/>
          <p:nvPr/>
        </p:nvSpPr>
        <p:spPr>
          <a:xfrm>
            <a:off x="3273552" y="1280160"/>
            <a:ext cx="2743200" cy="685800"/>
          </a:xfrm>
          <a:prstGeom prst="chevron">
            <a:avLst>
              <a:gd name="adj" fmla="val 30000"/>
            </a:avLst>
          </a:prstGeom>
          <a:solidFill>
            <a:srgbClr val="2A9D8F"/>
          </a:solidFill>
          <a:ln>
            <a:noFill/>
          </a:ln>
          <a:effectLst/>
        </p:spPr>
        <p:txBody>
          <a:bodyPr rtlCol="0" anchor="ctr"/>
          <a:lstStyle/>
          <a:p>
            <a:pPr algn="ctr"/>
          </a:p>
        </p:txBody>
      </p:sp>
      <p:sp>
        <p:nvSpPr>
          <p:cNvPr id="27" name="TextBox 26"/>
          <p:cNvSpPr txBox="1"/>
          <p:nvPr/>
        </p:nvSpPr>
        <p:spPr>
          <a:xfrm>
            <a:off x="3593592" y="1280160"/>
            <a:ext cx="2194560" cy="685800"/>
          </a:xfrm>
          <a:prstGeom prst="rect">
            <a:avLst/>
          </a:prstGeom>
          <a:noFill/>
        </p:spPr>
        <p:txBody>
          <a:bodyPr wrap="square" anchor="ctr" lIns="0" rIns="0" tIns="0" bIns="0">
            <a:spAutoFit/>
          </a:bodyPr>
          <a:lstStyle/>
          <a:p>
            <a:pPr algn="ctr"/>
            <a:r>
              <a:rPr sz="1700" b="1" i="0">
                <a:solidFill>
                  <a:srgbClr val="FFFFFF"/>
                </a:solidFill>
                <a:latin typeface="Aptos"/>
              </a:rPr>
              <a:t>Tổng hợp</a:t>
            </a:r>
          </a:p>
        </p:txBody>
      </p:sp>
      <p:sp>
        <p:nvSpPr>
          <p:cNvPr id="28" name="Rounded Rectangle 27"/>
          <p:cNvSpPr/>
          <p:nvPr/>
        </p:nvSpPr>
        <p:spPr>
          <a:xfrm>
            <a:off x="3273552" y="2103120"/>
            <a:ext cx="797398" cy="274320"/>
          </a:xfrm>
          <a:prstGeom prst="roundRect">
            <a:avLst>
              <a:gd name="adj" fmla="val 50000"/>
            </a:avLst>
          </a:prstGeom>
          <a:solidFill>
            <a:srgbClr val="E0F2F1"/>
          </a:solidFill>
          <a:ln>
            <a:noFill/>
          </a:ln>
          <a:effectLst/>
        </p:spPr>
        <p:txBody>
          <a:bodyPr rtlCol="0" anchor="ctr"/>
          <a:lstStyle/>
          <a:p>
            <a:pPr algn="ctr"/>
          </a:p>
        </p:txBody>
      </p:sp>
      <p:sp>
        <p:nvSpPr>
          <p:cNvPr id="29" name="TextBox 28"/>
          <p:cNvSpPr txBox="1"/>
          <p:nvPr/>
        </p:nvSpPr>
        <p:spPr>
          <a:xfrm>
            <a:off x="3273552" y="2103120"/>
            <a:ext cx="797398" cy="274320"/>
          </a:xfrm>
          <a:prstGeom prst="rect">
            <a:avLst/>
          </a:prstGeom>
          <a:noFill/>
        </p:spPr>
        <p:txBody>
          <a:bodyPr wrap="square" anchor="ctr" lIns="0" rIns="0" tIns="0" bIns="0">
            <a:spAutoFit/>
          </a:bodyPr>
          <a:lstStyle/>
          <a:p>
            <a:pPr algn="ctr"/>
            <a:r>
              <a:rPr sz="1150" b="1" i="0">
                <a:solidFill>
                  <a:srgbClr val="0F4C47"/>
                </a:solidFill>
                <a:latin typeface="Aptos"/>
              </a:rPr>
              <a:t>Tự động</a:t>
            </a:r>
          </a:p>
        </p:txBody>
      </p:sp>
      <p:sp>
        <p:nvSpPr>
          <p:cNvPr id="30" name="Oval 29"/>
          <p:cNvSpPr/>
          <p:nvPr/>
        </p:nvSpPr>
        <p:spPr>
          <a:xfrm>
            <a:off x="3273552" y="2578608"/>
            <a:ext cx="292608" cy="292608"/>
          </a:xfrm>
          <a:prstGeom prst="ellipse">
            <a:avLst/>
          </a:prstGeom>
          <a:solidFill>
            <a:srgbClr val="99D5CF"/>
          </a:solidFill>
          <a:ln>
            <a:noFill/>
          </a:ln>
          <a:effectLst/>
        </p:spPr>
        <p:txBody>
          <a:bodyPr rtlCol="0" anchor="ctr"/>
          <a:lstStyle/>
          <a:p>
            <a:pPr algn="ctr"/>
          </a:p>
        </p:txBody>
      </p:sp>
      <p:sp>
        <p:nvSpPr>
          <p:cNvPr id="31" name="TextBox 30"/>
          <p:cNvSpPr txBox="1"/>
          <p:nvPr/>
        </p:nvSpPr>
        <p:spPr>
          <a:xfrm>
            <a:off x="3273552" y="2578608"/>
            <a:ext cx="292608" cy="292608"/>
          </a:xfrm>
          <a:prstGeom prst="rect">
            <a:avLst/>
          </a:prstGeom>
          <a:noFill/>
        </p:spPr>
        <p:txBody>
          <a:bodyPr wrap="square" anchor="ctr" lIns="0" rIns="0" tIns="0" bIns="0">
            <a:spAutoFit/>
          </a:bodyPr>
          <a:lstStyle/>
          <a:p>
            <a:pPr algn="ctr"/>
            <a:r>
              <a:rPr sz="1150" b="1" i="0">
                <a:solidFill>
                  <a:srgbClr val="0F4C47"/>
                </a:solidFill>
                <a:latin typeface="Aptos"/>
              </a:rPr>
              <a:t>1</a:t>
            </a:r>
          </a:p>
        </p:txBody>
      </p:sp>
      <p:sp>
        <p:nvSpPr>
          <p:cNvPr id="32" name="TextBox 31"/>
          <p:cNvSpPr txBox="1"/>
          <p:nvPr/>
        </p:nvSpPr>
        <p:spPr>
          <a:xfrm>
            <a:off x="3657600" y="2560320"/>
            <a:ext cx="2331720" cy="347472"/>
          </a:xfrm>
          <a:prstGeom prst="rect">
            <a:avLst/>
          </a:prstGeom>
          <a:noFill/>
        </p:spPr>
        <p:txBody>
          <a:bodyPr wrap="square" anchor="ctr" lIns="0" rIns="0" tIns="0" bIns="0">
            <a:spAutoFit/>
          </a:bodyPr>
          <a:lstStyle/>
          <a:p>
            <a:pPr algn="l"/>
            <a:r>
              <a:rPr sz="1300" b="0" i="0">
                <a:solidFill>
                  <a:srgbClr val="1F2D2C"/>
                </a:solidFill>
                <a:latin typeface="Aptos"/>
              </a:rPr>
              <a:t>Điểm tuần, tháng, học kỳ</a:t>
            </a:r>
          </a:p>
        </p:txBody>
      </p:sp>
      <p:sp>
        <p:nvSpPr>
          <p:cNvPr id="33" name="Oval 32"/>
          <p:cNvSpPr/>
          <p:nvPr/>
        </p:nvSpPr>
        <p:spPr>
          <a:xfrm>
            <a:off x="3273552" y="3035808"/>
            <a:ext cx="292608" cy="292608"/>
          </a:xfrm>
          <a:prstGeom prst="ellipse">
            <a:avLst/>
          </a:prstGeom>
          <a:solidFill>
            <a:srgbClr val="99D5CF"/>
          </a:solidFill>
          <a:ln>
            <a:noFill/>
          </a:ln>
          <a:effectLst/>
        </p:spPr>
        <p:txBody>
          <a:bodyPr rtlCol="0" anchor="ctr"/>
          <a:lstStyle/>
          <a:p>
            <a:pPr algn="ctr"/>
          </a:p>
        </p:txBody>
      </p:sp>
      <p:sp>
        <p:nvSpPr>
          <p:cNvPr id="34" name="TextBox 33"/>
          <p:cNvSpPr txBox="1"/>
          <p:nvPr/>
        </p:nvSpPr>
        <p:spPr>
          <a:xfrm>
            <a:off x="3273552" y="3035808"/>
            <a:ext cx="292608" cy="292608"/>
          </a:xfrm>
          <a:prstGeom prst="rect">
            <a:avLst/>
          </a:prstGeom>
          <a:noFill/>
        </p:spPr>
        <p:txBody>
          <a:bodyPr wrap="square" anchor="ctr" lIns="0" rIns="0" tIns="0" bIns="0">
            <a:spAutoFit/>
          </a:bodyPr>
          <a:lstStyle/>
          <a:p>
            <a:pPr algn="ctr"/>
            <a:r>
              <a:rPr sz="1150" b="1" i="0">
                <a:solidFill>
                  <a:srgbClr val="0F4C47"/>
                </a:solidFill>
                <a:latin typeface="Aptos"/>
              </a:rPr>
              <a:t>2</a:t>
            </a:r>
          </a:p>
        </p:txBody>
      </p:sp>
      <p:sp>
        <p:nvSpPr>
          <p:cNvPr id="35" name="TextBox 34"/>
          <p:cNvSpPr txBox="1"/>
          <p:nvPr/>
        </p:nvSpPr>
        <p:spPr>
          <a:xfrm>
            <a:off x="3657600" y="3017520"/>
            <a:ext cx="2331720" cy="347472"/>
          </a:xfrm>
          <a:prstGeom prst="rect">
            <a:avLst/>
          </a:prstGeom>
          <a:noFill/>
        </p:spPr>
        <p:txBody>
          <a:bodyPr wrap="square" anchor="ctr" lIns="0" rIns="0" tIns="0" bIns="0">
            <a:spAutoFit/>
          </a:bodyPr>
          <a:lstStyle/>
          <a:p>
            <a:pPr algn="l"/>
            <a:r>
              <a:rPr sz="1300" b="0" i="0">
                <a:solidFill>
                  <a:srgbClr val="1F2D2C"/>
                </a:solidFill>
                <a:latin typeface="Aptos"/>
              </a:rPr>
              <a:t>Mọi máy cập nhật ngay</a:t>
            </a:r>
          </a:p>
        </p:txBody>
      </p:sp>
      <p:sp>
        <p:nvSpPr>
          <p:cNvPr id="36" name="Rounded Rectangle 35"/>
          <p:cNvSpPr/>
          <p:nvPr/>
        </p:nvSpPr>
        <p:spPr>
          <a:xfrm>
            <a:off x="3236976" y="3575304"/>
            <a:ext cx="2633472" cy="1673352"/>
          </a:xfrm>
          <a:prstGeom prst="roundRect">
            <a:avLst>
              <a:gd name="adj" fmla="val 2000"/>
            </a:avLst>
          </a:prstGeom>
          <a:solidFill>
            <a:srgbClr val="D5E3E2"/>
          </a:solidFill>
          <a:ln>
            <a:noFill/>
          </a:ln>
          <a:effectLst/>
        </p:spPr>
        <p:txBody>
          <a:bodyPr rtlCol="0" anchor="ctr"/>
          <a:lstStyle/>
          <a:p>
            <a:pPr algn="ctr"/>
          </a:p>
        </p:txBody>
      </p:sp>
      <p:pic>
        <p:nvPicPr>
          <p:cNvPr id="37" name="Picture 36" descr="d_bang.png"/>
          <p:cNvPicPr>
            <a:picLocks noChangeAspect="1"/>
          </p:cNvPicPr>
          <p:nvPr/>
        </p:nvPicPr>
        <p:blipFill>
          <a:blip r:embed="rId3"/>
          <a:stretch>
            <a:fillRect/>
          </a:stretch>
        </p:blipFill>
        <p:spPr>
          <a:xfrm>
            <a:off x="3273552" y="3611880"/>
            <a:ext cx="2560320" cy="1600200"/>
          </a:xfrm>
          <a:prstGeom prst="rect">
            <a:avLst/>
          </a:prstGeom>
        </p:spPr>
      </p:pic>
      <p:sp>
        <p:nvSpPr>
          <p:cNvPr id="38" name="Chevron 37"/>
          <p:cNvSpPr/>
          <p:nvPr/>
        </p:nvSpPr>
        <p:spPr>
          <a:xfrm>
            <a:off x="6126480" y="1280160"/>
            <a:ext cx="2743200" cy="685800"/>
          </a:xfrm>
          <a:prstGeom prst="chevron">
            <a:avLst>
              <a:gd name="adj" fmla="val 30000"/>
            </a:avLst>
          </a:prstGeom>
          <a:solidFill>
            <a:srgbClr val="2A9D8F"/>
          </a:solidFill>
          <a:ln>
            <a:noFill/>
          </a:ln>
          <a:effectLst/>
        </p:spPr>
        <p:txBody>
          <a:bodyPr rtlCol="0" anchor="ctr"/>
          <a:lstStyle/>
          <a:p>
            <a:pPr algn="ctr"/>
          </a:p>
        </p:txBody>
      </p:sp>
      <p:sp>
        <p:nvSpPr>
          <p:cNvPr id="39" name="TextBox 38"/>
          <p:cNvSpPr txBox="1"/>
          <p:nvPr/>
        </p:nvSpPr>
        <p:spPr>
          <a:xfrm>
            <a:off x="6446520" y="1280160"/>
            <a:ext cx="2194560" cy="685800"/>
          </a:xfrm>
          <a:prstGeom prst="rect">
            <a:avLst/>
          </a:prstGeom>
          <a:noFill/>
        </p:spPr>
        <p:txBody>
          <a:bodyPr wrap="square" anchor="ctr" lIns="0" rIns="0" tIns="0" bIns="0">
            <a:spAutoFit/>
          </a:bodyPr>
          <a:lstStyle/>
          <a:p>
            <a:pPr algn="ctr"/>
            <a:r>
              <a:rPr sz="1700" b="1" i="0">
                <a:solidFill>
                  <a:srgbClr val="FFFFFF"/>
                </a:solidFill>
                <a:latin typeface="Aptos"/>
              </a:rPr>
              <a:t>Nhận xét</a:t>
            </a:r>
          </a:p>
        </p:txBody>
      </p:sp>
      <p:sp>
        <p:nvSpPr>
          <p:cNvPr id="40" name="Rounded Rectangle 39"/>
          <p:cNvSpPr/>
          <p:nvPr/>
        </p:nvSpPr>
        <p:spPr>
          <a:xfrm>
            <a:off x="6126480" y="2103120"/>
            <a:ext cx="1772481" cy="274320"/>
          </a:xfrm>
          <a:prstGeom prst="roundRect">
            <a:avLst>
              <a:gd name="adj" fmla="val 50000"/>
            </a:avLst>
          </a:prstGeom>
          <a:solidFill>
            <a:srgbClr val="E0F2F1"/>
          </a:solidFill>
          <a:ln>
            <a:noFill/>
          </a:ln>
          <a:effectLst/>
        </p:spPr>
        <p:txBody>
          <a:bodyPr rtlCol="0" anchor="ctr"/>
          <a:lstStyle/>
          <a:p>
            <a:pPr algn="ctr"/>
          </a:p>
        </p:txBody>
      </p:sp>
      <p:sp>
        <p:nvSpPr>
          <p:cNvPr id="41" name="TextBox 40"/>
          <p:cNvSpPr txBox="1"/>
          <p:nvPr/>
        </p:nvSpPr>
        <p:spPr>
          <a:xfrm>
            <a:off x="6126480" y="2103120"/>
            <a:ext cx="1772481" cy="274320"/>
          </a:xfrm>
          <a:prstGeom prst="rect">
            <a:avLst/>
          </a:prstGeom>
          <a:noFill/>
        </p:spPr>
        <p:txBody>
          <a:bodyPr wrap="square" anchor="ctr" lIns="0" rIns="0" tIns="0" bIns="0">
            <a:spAutoFit/>
          </a:bodyPr>
          <a:lstStyle/>
          <a:p>
            <a:pPr algn="ctr"/>
            <a:r>
              <a:rPr sz="1150" b="1" i="0">
                <a:solidFill>
                  <a:srgbClr val="0F4C47"/>
                </a:solidFill>
                <a:latin typeface="Aptos"/>
              </a:rPr>
              <a:t>Giáo viên chủ nhiệm</a:t>
            </a:r>
          </a:p>
        </p:txBody>
      </p:sp>
      <p:sp>
        <p:nvSpPr>
          <p:cNvPr id="42" name="Oval 41"/>
          <p:cNvSpPr/>
          <p:nvPr/>
        </p:nvSpPr>
        <p:spPr>
          <a:xfrm>
            <a:off x="6126480" y="2578608"/>
            <a:ext cx="292608" cy="292608"/>
          </a:xfrm>
          <a:prstGeom prst="ellipse">
            <a:avLst/>
          </a:prstGeom>
          <a:solidFill>
            <a:srgbClr val="99D5CF"/>
          </a:solidFill>
          <a:ln>
            <a:noFill/>
          </a:ln>
          <a:effectLst/>
        </p:spPr>
        <p:txBody>
          <a:bodyPr rtlCol="0" anchor="ctr"/>
          <a:lstStyle/>
          <a:p>
            <a:pPr algn="ctr"/>
          </a:p>
        </p:txBody>
      </p:sp>
      <p:sp>
        <p:nvSpPr>
          <p:cNvPr id="43" name="TextBox 42"/>
          <p:cNvSpPr txBox="1"/>
          <p:nvPr/>
        </p:nvSpPr>
        <p:spPr>
          <a:xfrm>
            <a:off x="6126480" y="2578608"/>
            <a:ext cx="292608" cy="292608"/>
          </a:xfrm>
          <a:prstGeom prst="rect">
            <a:avLst/>
          </a:prstGeom>
          <a:noFill/>
        </p:spPr>
        <p:txBody>
          <a:bodyPr wrap="square" anchor="ctr" lIns="0" rIns="0" tIns="0" bIns="0">
            <a:spAutoFit/>
          </a:bodyPr>
          <a:lstStyle/>
          <a:p>
            <a:pPr algn="ctr"/>
            <a:r>
              <a:rPr sz="1150" b="1" i="0">
                <a:solidFill>
                  <a:srgbClr val="0F4C47"/>
                </a:solidFill>
                <a:latin typeface="Aptos"/>
              </a:rPr>
              <a:t>1</a:t>
            </a:r>
          </a:p>
        </p:txBody>
      </p:sp>
      <p:sp>
        <p:nvSpPr>
          <p:cNvPr id="44" name="TextBox 43"/>
          <p:cNvSpPr txBox="1"/>
          <p:nvPr/>
        </p:nvSpPr>
        <p:spPr>
          <a:xfrm>
            <a:off x="6510528" y="2560320"/>
            <a:ext cx="2331720" cy="347472"/>
          </a:xfrm>
          <a:prstGeom prst="rect">
            <a:avLst/>
          </a:prstGeom>
          <a:noFill/>
        </p:spPr>
        <p:txBody>
          <a:bodyPr wrap="square" anchor="ctr" lIns="0" rIns="0" tIns="0" bIns="0">
            <a:spAutoFit/>
          </a:bodyPr>
          <a:lstStyle/>
          <a:p>
            <a:pPr algn="l"/>
            <a:r>
              <a:rPr sz="1300" b="0" i="0">
                <a:solidFill>
                  <a:srgbClr val="1F2D2C"/>
                </a:solidFill>
                <a:latin typeface="Aptos"/>
              </a:rPr>
              <a:t>Xem nguồn từng điểm</a:t>
            </a:r>
          </a:p>
        </p:txBody>
      </p:sp>
      <p:sp>
        <p:nvSpPr>
          <p:cNvPr id="45" name="Oval 44"/>
          <p:cNvSpPr/>
          <p:nvPr/>
        </p:nvSpPr>
        <p:spPr>
          <a:xfrm>
            <a:off x="6126480" y="3035808"/>
            <a:ext cx="292608" cy="292608"/>
          </a:xfrm>
          <a:prstGeom prst="ellipse">
            <a:avLst/>
          </a:prstGeom>
          <a:solidFill>
            <a:srgbClr val="99D5CF"/>
          </a:solidFill>
          <a:ln>
            <a:noFill/>
          </a:ln>
          <a:effectLst/>
        </p:spPr>
        <p:txBody>
          <a:bodyPr rtlCol="0" anchor="ctr"/>
          <a:lstStyle/>
          <a:p>
            <a:pPr algn="ctr"/>
          </a:p>
        </p:txBody>
      </p:sp>
      <p:sp>
        <p:nvSpPr>
          <p:cNvPr id="46" name="TextBox 45"/>
          <p:cNvSpPr txBox="1"/>
          <p:nvPr/>
        </p:nvSpPr>
        <p:spPr>
          <a:xfrm>
            <a:off x="6126480" y="3035808"/>
            <a:ext cx="292608" cy="292608"/>
          </a:xfrm>
          <a:prstGeom prst="rect">
            <a:avLst/>
          </a:prstGeom>
          <a:noFill/>
        </p:spPr>
        <p:txBody>
          <a:bodyPr wrap="square" anchor="ctr" lIns="0" rIns="0" tIns="0" bIns="0">
            <a:spAutoFit/>
          </a:bodyPr>
          <a:lstStyle/>
          <a:p>
            <a:pPr algn="ctr"/>
            <a:r>
              <a:rPr sz="1150" b="1" i="0">
                <a:solidFill>
                  <a:srgbClr val="0F4C47"/>
                </a:solidFill>
                <a:latin typeface="Aptos"/>
              </a:rPr>
              <a:t>2</a:t>
            </a:r>
          </a:p>
        </p:txBody>
      </p:sp>
      <p:sp>
        <p:nvSpPr>
          <p:cNvPr id="47" name="TextBox 46"/>
          <p:cNvSpPr txBox="1"/>
          <p:nvPr/>
        </p:nvSpPr>
        <p:spPr>
          <a:xfrm>
            <a:off x="6510528" y="3017520"/>
            <a:ext cx="2331720" cy="347472"/>
          </a:xfrm>
          <a:prstGeom prst="rect">
            <a:avLst/>
          </a:prstGeom>
          <a:noFill/>
        </p:spPr>
        <p:txBody>
          <a:bodyPr wrap="square" anchor="ctr" lIns="0" rIns="0" tIns="0" bIns="0">
            <a:spAutoFit/>
          </a:bodyPr>
          <a:lstStyle/>
          <a:p>
            <a:pPr algn="l"/>
            <a:r>
              <a:rPr sz="1300" b="0" i="0">
                <a:solidFill>
                  <a:srgbClr val="1F2D2C"/>
                </a:solidFill>
                <a:latin typeface="Aptos"/>
              </a:rPr>
              <a:t>Viết nhận xét, khoá sổ</a:t>
            </a:r>
          </a:p>
        </p:txBody>
      </p:sp>
      <p:sp>
        <p:nvSpPr>
          <p:cNvPr id="48" name="Rounded Rectangle 47"/>
          <p:cNvSpPr/>
          <p:nvPr/>
        </p:nvSpPr>
        <p:spPr>
          <a:xfrm>
            <a:off x="6089904" y="3575304"/>
            <a:ext cx="2633472" cy="1673352"/>
          </a:xfrm>
          <a:prstGeom prst="roundRect">
            <a:avLst>
              <a:gd name="adj" fmla="val 2000"/>
            </a:avLst>
          </a:prstGeom>
          <a:solidFill>
            <a:srgbClr val="D5E3E2"/>
          </a:solidFill>
          <a:ln>
            <a:noFill/>
          </a:ln>
          <a:effectLst/>
        </p:spPr>
        <p:txBody>
          <a:bodyPr rtlCol="0" anchor="ctr"/>
          <a:lstStyle/>
          <a:p>
            <a:pPr algn="ctr"/>
          </a:p>
        </p:txBody>
      </p:sp>
      <p:pic>
        <p:nvPicPr>
          <p:cNvPr id="49" name="Picture 48" descr="dm_nx.png"/>
          <p:cNvPicPr>
            <a:picLocks noChangeAspect="1"/>
          </p:cNvPicPr>
          <p:nvPr/>
        </p:nvPicPr>
        <p:blipFill>
          <a:blip r:embed="rId4"/>
          <a:stretch>
            <a:fillRect/>
          </a:stretch>
        </p:blipFill>
        <p:spPr>
          <a:xfrm>
            <a:off x="6126480" y="3611880"/>
            <a:ext cx="2560320" cy="1600200"/>
          </a:xfrm>
          <a:prstGeom prst="rect">
            <a:avLst/>
          </a:prstGeom>
        </p:spPr>
      </p:pic>
      <p:sp>
        <p:nvSpPr>
          <p:cNvPr id="50" name="Chevron 49"/>
          <p:cNvSpPr/>
          <p:nvPr/>
        </p:nvSpPr>
        <p:spPr>
          <a:xfrm>
            <a:off x="8979408" y="1280160"/>
            <a:ext cx="2743200" cy="685800"/>
          </a:xfrm>
          <a:prstGeom prst="chevron">
            <a:avLst>
              <a:gd name="adj" fmla="val 30000"/>
            </a:avLst>
          </a:prstGeom>
          <a:solidFill>
            <a:srgbClr val="0F766E"/>
          </a:solidFill>
          <a:ln>
            <a:noFill/>
          </a:ln>
          <a:effectLst/>
        </p:spPr>
        <p:txBody>
          <a:bodyPr rtlCol="0" anchor="ctr"/>
          <a:lstStyle/>
          <a:p>
            <a:pPr algn="ctr"/>
          </a:p>
        </p:txBody>
      </p:sp>
      <p:sp>
        <p:nvSpPr>
          <p:cNvPr id="51" name="TextBox 50"/>
          <p:cNvSpPr txBox="1"/>
          <p:nvPr/>
        </p:nvSpPr>
        <p:spPr>
          <a:xfrm>
            <a:off x="9299448" y="1280160"/>
            <a:ext cx="2194560" cy="685800"/>
          </a:xfrm>
          <a:prstGeom prst="rect">
            <a:avLst/>
          </a:prstGeom>
          <a:noFill/>
        </p:spPr>
        <p:txBody>
          <a:bodyPr wrap="square" anchor="ctr" lIns="0" rIns="0" tIns="0" bIns="0">
            <a:spAutoFit/>
          </a:bodyPr>
          <a:lstStyle/>
          <a:p>
            <a:pPr algn="ctr"/>
            <a:r>
              <a:rPr sz="1700" b="1" i="0">
                <a:solidFill>
                  <a:srgbClr val="FFFFFF"/>
                </a:solidFill>
                <a:latin typeface="Aptos"/>
              </a:rPr>
              <a:t>Báo tin</a:t>
            </a:r>
          </a:p>
        </p:txBody>
      </p:sp>
      <p:sp>
        <p:nvSpPr>
          <p:cNvPr id="52" name="Rounded Rectangle 51"/>
          <p:cNvSpPr/>
          <p:nvPr/>
        </p:nvSpPr>
        <p:spPr>
          <a:xfrm>
            <a:off x="8979408" y="2103120"/>
            <a:ext cx="959912" cy="274320"/>
          </a:xfrm>
          <a:prstGeom prst="roundRect">
            <a:avLst>
              <a:gd name="adj" fmla="val 50000"/>
            </a:avLst>
          </a:prstGeom>
          <a:solidFill>
            <a:srgbClr val="E0F2F1"/>
          </a:solidFill>
          <a:ln>
            <a:noFill/>
          </a:ln>
          <a:effectLst/>
        </p:spPr>
        <p:txBody>
          <a:bodyPr rtlCol="0" anchor="ctr"/>
          <a:lstStyle/>
          <a:p>
            <a:pPr algn="ctr"/>
          </a:p>
        </p:txBody>
      </p:sp>
      <p:sp>
        <p:nvSpPr>
          <p:cNvPr id="53" name="TextBox 52"/>
          <p:cNvSpPr txBox="1"/>
          <p:nvPr/>
        </p:nvSpPr>
        <p:spPr>
          <a:xfrm>
            <a:off x="8979408" y="2103120"/>
            <a:ext cx="959912" cy="274320"/>
          </a:xfrm>
          <a:prstGeom prst="rect">
            <a:avLst/>
          </a:prstGeom>
          <a:noFill/>
        </p:spPr>
        <p:txBody>
          <a:bodyPr wrap="square" anchor="ctr" lIns="0" rIns="0" tIns="0" bIns="0">
            <a:spAutoFit/>
          </a:bodyPr>
          <a:lstStyle/>
          <a:p>
            <a:pPr algn="ctr"/>
            <a:r>
              <a:rPr sz="1150" b="1" i="0">
                <a:solidFill>
                  <a:srgbClr val="0F4C47"/>
                </a:solidFill>
                <a:latin typeface="Aptos"/>
              </a:rPr>
              <a:t>Phụ huynh</a:t>
            </a:r>
          </a:p>
        </p:txBody>
      </p:sp>
      <p:sp>
        <p:nvSpPr>
          <p:cNvPr id="54" name="Oval 53"/>
          <p:cNvSpPr/>
          <p:nvPr/>
        </p:nvSpPr>
        <p:spPr>
          <a:xfrm>
            <a:off x="8979408" y="2578608"/>
            <a:ext cx="292608" cy="292608"/>
          </a:xfrm>
          <a:prstGeom prst="ellipse">
            <a:avLst/>
          </a:prstGeom>
          <a:solidFill>
            <a:srgbClr val="99D5CF"/>
          </a:solidFill>
          <a:ln>
            <a:noFill/>
          </a:ln>
          <a:effectLst/>
        </p:spPr>
        <p:txBody>
          <a:bodyPr rtlCol="0" anchor="ctr"/>
          <a:lstStyle/>
          <a:p>
            <a:pPr algn="ctr"/>
          </a:p>
        </p:txBody>
      </p:sp>
      <p:sp>
        <p:nvSpPr>
          <p:cNvPr id="55" name="TextBox 54"/>
          <p:cNvSpPr txBox="1"/>
          <p:nvPr/>
        </p:nvSpPr>
        <p:spPr>
          <a:xfrm>
            <a:off x="8979408" y="2578608"/>
            <a:ext cx="292608" cy="292608"/>
          </a:xfrm>
          <a:prstGeom prst="rect">
            <a:avLst/>
          </a:prstGeom>
          <a:noFill/>
        </p:spPr>
        <p:txBody>
          <a:bodyPr wrap="square" anchor="ctr" lIns="0" rIns="0" tIns="0" bIns="0">
            <a:spAutoFit/>
          </a:bodyPr>
          <a:lstStyle/>
          <a:p>
            <a:pPr algn="ctr"/>
            <a:r>
              <a:rPr sz="1150" b="1" i="0">
                <a:solidFill>
                  <a:srgbClr val="0F4C47"/>
                </a:solidFill>
                <a:latin typeface="Aptos"/>
              </a:rPr>
              <a:t>1</a:t>
            </a:r>
          </a:p>
        </p:txBody>
      </p:sp>
      <p:sp>
        <p:nvSpPr>
          <p:cNvPr id="56" name="TextBox 55"/>
          <p:cNvSpPr txBox="1"/>
          <p:nvPr/>
        </p:nvSpPr>
        <p:spPr>
          <a:xfrm>
            <a:off x="9363456" y="2560320"/>
            <a:ext cx="2331720" cy="347472"/>
          </a:xfrm>
          <a:prstGeom prst="rect">
            <a:avLst/>
          </a:prstGeom>
          <a:noFill/>
        </p:spPr>
        <p:txBody>
          <a:bodyPr wrap="square" anchor="ctr" lIns="0" rIns="0" tIns="0" bIns="0">
            <a:spAutoFit/>
          </a:bodyPr>
          <a:lstStyle/>
          <a:p>
            <a:pPr algn="l"/>
            <a:r>
              <a:rPr sz="1300" b="0" i="0">
                <a:solidFill>
                  <a:srgbClr val="1F2D2C"/>
                </a:solidFill>
                <a:latin typeface="Aptos"/>
              </a:rPr>
              <a:t>Nhận email từ cô</a:t>
            </a:r>
          </a:p>
        </p:txBody>
      </p:sp>
      <p:sp>
        <p:nvSpPr>
          <p:cNvPr id="57" name="Oval 56"/>
          <p:cNvSpPr/>
          <p:nvPr/>
        </p:nvSpPr>
        <p:spPr>
          <a:xfrm>
            <a:off x="8979408" y="3035808"/>
            <a:ext cx="292608" cy="292608"/>
          </a:xfrm>
          <a:prstGeom prst="ellipse">
            <a:avLst/>
          </a:prstGeom>
          <a:solidFill>
            <a:srgbClr val="99D5CF"/>
          </a:solidFill>
          <a:ln>
            <a:noFill/>
          </a:ln>
          <a:effectLst/>
        </p:spPr>
        <p:txBody>
          <a:bodyPr rtlCol="0" anchor="ctr"/>
          <a:lstStyle/>
          <a:p>
            <a:pPr algn="ctr"/>
          </a:p>
        </p:txBody>
      </p:sp>
      <p:sp>
        <p:nvSpPr>
          <p:cNvPr id="58" name="TextBox 57"/>
          <p:cNvSpPr txBox="1"/>
          <p:nvPr/>
        </p:nvSpPr>
        <p:spPr>
          <a:xfrm>
            <a:off x="8979408" y="3035808"/>
            <a:ext cx="292608" cy="292608"/>
          </a:xfrm>
          <a:prstGeom prst="rect">
            <a:avLst/>
          </a:prstGeom>
          <a:noFill/>
        </p:spPr>
        <p:txBody>
          <a:bodyPr wrap="square" anchor="ctr" lIns="0" rIns="0" tIns="0" bIns="0">
            <a:spAutoFit/>
          </a:bodyPr>
          <a:lstStyle/>
          <a:p>
            <a:pPr algn="ctr"/>
            <a:r>
              <a:rPr sz="1150" b="1" i="0">
                <a:solidFill>
                  <a:srgbClr val="0F4C47"/>
                </a:solidFill>
                <a:latin typeface="Aptos"/>
              </a:rPr>
              <a:t>2</a:t>
            </a:r>
          </a:p>
        </p:txBody>
      </p:sp>
      <p:sp>
        <p:nvSpPr>
          <p:cNvPr id="59" name="TextBox 58"/>
          <p:cNvSpPr txBox="1"/>
          <p:nvPr/>
        </p:nvSpPr>
        <p:spPr>
          <a:xfrm>
            <a:off x="9363456" y="3017520"/>
            <a:ext cx="2331720" cy="347472"/>
          </a:xfrm>
          <a:prstGeom prst="rect">
            <a:avLst/>
          </a:prstGeom>
          <a:noFill/>
        </p:spPr>
        <p:txBody>
          <a:bodyPr wrap="square" anchor="ctr" lIns="0" rIns="0" tIns="0" bIns="0">
            <a:spAutoFit/>
          </a:bodyPr>
          <a:lstStyle/>
          <a:p>
            <a:pPr algn="l"/>
            <a:r>
              <a:rPr sz="1300" b="0" i="0">
                <a:solidFill>
                  <a:srgbClr val="1F2D2C"/>
                </a:solidFill>
                <a:latin typeface="Aptos"/>
              </a:rPr>
              <a:t>Xem, tải PDF kết quả</a:t>
            </a:r>
          </a:p>
        </p:txBody>
      </p:sp>
      <p:sp>
        <p:nvSpPr>
          <p:cNvPr id="60" name="Rounded Rectangle 59"/>
          <p:cNvSpPr/>
          <p:nvPr/>
        </p:nvSpPr>
        <p:spPr>
          <a:xfrm>
            <a:off x="8942832" y="3647717"/>
            <a:ext cx="2679192" cy="1528525"/>
          </a:xfrm>
          <a:prstGeom prst="roundRect">
            <a:avLst>
              <a:gd name="adj" fmla="val 2000"/>
            </a:avLst>
          </a:prstGeom>
          <a:solidFill>
            <a:srgbClr val="D5E3E2"/>
          </a:solidFill>
          <a:ln>
            <a:noFill/>
          </a:ln>
          <a:effectLst/>
        </p:spPr>
        <p:txBody>
          <a:bodyPr rtlCol="0" anchor="ctr"/>
          <a:lstStyle/>
          <a:p>
            <a:pPr algn="ctr"/>
          </a:p>
        </p:txBody>
      </p:sp>
      <p:pic>
        <p:nvPicPr>
          <p:cNvPr id="61" name="Picture 60" descr="mail.jpg"/>
          <p:cNvPicPr>
            <a:picLocks noChangeAspect="1"/>
          </p:cNvPicPr>
          <p:nvPr/>
        </p:nvPicPr>
        <p:blipFill>
          <a:blip r:embed="rId5"/>
          <a:stretch>
            <a:fillRect/>
          </a:stretch>
        </p:blipFill>
        <p:spPr>
          <a:xfrm>
            <a:off x="8979408" y="3684293"/>
            <a:ext cx="2606040" cy="1455373"/>
          </a:xfrm>
          <a:prstGeom prst="rect">
            <a:avLst/>
          </a:prstGeom>
        </p:spPr>
      </p:pic>
      <p:sp>
        <p:nvSpPr>
          <p:cNvPr id="62" name="Rounded Rectangle 61"/>
          <p:cNvSpPr/>
          <p:nvPr/>
        </p:nvSpPr>
        <p:spPr>
          <a:xfrm>
            <a:off x="420624" y="5440680"/>
            <a:ext cx="11347704" cy="502920"/>
          </a:xfrm>
          <a:prstGeom prst="roundRect">
            <a:avLst>
              <a:gd name="adj" fmla="val 14000"/>
            </a:avLst>
          </a:prstGeom>
          <a:solidFill>
            <a:srgbClr val="FFF1E0"/>
          </a:solidFill>
          <a:ln>
            <a:noFill/>
          </a:ln>
          <a:effectLst/>
        </p:spPr>
        <p:txBody>
          <a:bodyPr rtlCol="0" anchor="ctr"/>
          <a:lstStyle/>
          <a:p>
            <a:pPr algn="ctr"/>
          </a:p>
        </p:txBody>
      </p:sp>
      <p:sp>
        <p:nvSpPr>
          <p:cNvPr id="63" name="TextBox 62"/>
          <p:cNvSpPr txBox="1"/>
          <p:nvPr/>
        </p:nvSpPr>
        <p:spPr>
          <a:xfrm>
            <a:off x="685800" y="5440680"/>
            <a:ext cx="10881360" cy="502920"/>
          </a:xfrm>
          <a:prstGeom prst="rect">
            <a:avLst/>
          </a:prstGeom>
          <a:noFill/>
        </p:spPr>
        <p:txBody>
          <a:bodyPr wrap="square" anchor="ctr" lIns="0" rIns="0" tIns="0" bIns="0">
            <a:spAutoFit/>
          </a:bodyPr>
          <a:lstStyle/>
          <a:p>
            <a:pPr algn="l"/>
            <a:r>
              <a:rPr sz="1400" b="1" i="0">
                <a:solidFill>
                  <a:srgbClr val="0F4C47"/>
                </a:solidFill>
                <a:latin typeface="Aptos"/>
              </a:rPr>
              <a:t>Kết quả: </a:t>
            </a:r>
            <a:r>
              <a:rPr sz="1400" b="0" i="0">
                <a:solidFill>
                  <a:srgbClr val="1F2D2C"/>
                </a:solidFill>
                <a:latin typeface="Aptos"/>
              </a:rPr>
              <a:t>thông tin đi từ lớp học đến gia đình ngay trong ngày, không phải chờ đến cuối tháng.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III · SỬ DỤNG</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11</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Cán bộ lớp ghi điểm trên điện thoại chỉ vài lần chạm</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20624" y="6089904"/>
            <a:ext cx="11338560" cy="228600"/>
          </a:xfrm>
          <a:prstGeom prst="rect">
            <a:avLst/>
          </a:prstGeom>
          <a:noFill/>
        </p:spPr>
        <p:txBody>
          <a:bodyPr wrap="square" anchor="t" lIns="0" rIns="0" tIns="0" bIns="0">
            <a:spAutoFit/>
          </a:bodyPr>
          <a:lstStyle/>
          <a:p>
            <a:pPr algn="l"/>
            <a:r>
              <a:rPr sz="1000" b="0" i="1">
                <a:solidFill>
                  <a:srgbClr val="5F7472"/>
                </a:solidFill>
                <a:latin typeface="Aptos"/>
              </a:rPr>
              <a:t>Ảnh chụp từ ứng dụng · dữ liệu mẫu</a:t>
            </a:r>
          </a:p>
        </p:txBody>
      </p:sp>
      <p:sp>
        <p:nvSpPr>
          <p:cNvPr id="8" name="TextBox 7"/>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9" name="TextBox 8"/>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10" name="TextBox 9"/>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1" name="Rounded Rectangle 10"/>
          <p:cNvSpPr/>
          <p:nvPr/>
        </p:nvSpPr>
        <p:spPr>
          <a:xfrm>
            <a:off x="6131051"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2" name="TextBox 11"/>
          <p:cNvSpPr txBox="1"/>
          <p:nvPr/>
        </p:nvSpPr>
        <p:spPr>
          <a:xfrm>
            <a:off x="6222491"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III · SỬ DỤNG</a:t>
            </a:r>
          </a:p>
        </p:txBody>
      </p:sp>
      <p:sp>
        <p:nvSpPr>
          <p:cNvPr id="13" name="TextBox 12"/>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4" name="TextBox 13"/>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sp>
        <p:nvSpPr>
          <p:cNvPr id="15" name="Oval 14"/>
          <p:cNvSpPr/>
          <p:nvPr/>
        </p:nvSpPr>
        <p:spPr>
          <a:xfrm>
            <a:off x="420624" y="1234440"/>
            <a:ext cx="329184" cy="329184"/>
          </a:xfrm>
          <a:prstGeom prst="ellipse">
            <a:avLst/>
          </a:prstGeom>
          <a:solidFill>
            <a:srgbClr val="F4A261"/>
          </a:solidFill>
          <a:ln>
            <a:noFill/>
          </a:ln>
          <a:effectLst/>
        </p:spPr>
        <p:txBody>
          <a:bodyPr rtlCol="0" anchor="ctr"/>
          <a:lstStyle/>
          <a:p>
            <a:pPr algn="ctr"/>
          </a:p>
        </p:txBody>
      </p:sp>
      <p:sp>
        <p:nvSpPr>
          <p:cNvPr id="16" name="TextBox 15"/>
          <p:cNvSpPr txBox="1"/>
          <p:nvPr/>
        </p:nvSpPr>
        <p:spPr>
          <a:xfrm>
            <a:off x="420624" y="1234440"/>
            <a:ext cx="329184" cy="329184"/>
          </a:xfrm>
          <a:prstGeom prst="rect">
            <a:avLst/>
          </a:prstGeom>
          <a:noFill/>
        </p:spPr>
        <p:txBody>
          <a:bodyPr wrap="square" anchor="ctr" lIns="0" rIns="0" tIns="0" bIns="0">
            <a:spAutoFit/>
          </a:bodyPr>
          <a:lstStyle/>
          <a:p>
            <a:pPr algn="ctr"/>
            <a:r>
              <a:rPr sz="1200" b="1" i="0">
                <a:solidFill>
                  <a:srgbClr val="FFFFFF"/>
                </a:solidFill>
                <a:latin typeface="Aptos"/>
              </a:rPr>
              <a:t>1</a:t>
            </a:r>
          </a:p>
        </p:txBody>
      </p:sp>
      <p:sp>
        <p:nvSpPr>
          <p:cNvPr id="17" name="Rounded Rectangle 16"/>
          <p:cNvSpPr/>
          <p:nvPr/>
        </p:nvSpPr>
        <p:spPr>
          <a:xfrm>
            <a:off x="384048" y="1655064"/>
            <a:ext cx="2037920" cy="4325112"/>
          </a:xfrm>
          <a:prstGeom prst="roundRect">
            <a:avLst>
              <a:gd name="adj" fmla="val 2000"/>
            </a:avLst>
          </a:prstGeom>
          <a:solidFill>
            <a:srgbClr val="D5E3E2"/>
          </a:solidFill>
          <a:ln>
            <a:noFill/>
          </a:ln>
          <a:effectLst/>
        </p:spPr>
        <p:txBody>
          <a:bodyPr rtlCol="0" anchor="ctr"/>
          <a:lstStyle/>
          <a:p>
            <a:pPr algn="ctr"/>
          </a:p>
        </p:txBody>
      </p:sp>
      <p:pic>
        <p:nvPicPr>
          <p:cNvPr id="18" name="Picture 17" descr="m_ghi.png"/>
          <p:cNvPicPr>
            <a:picLocks noChangeAspect="1"/>
          </p:cNvPicPr>
          <p:nvPr/>
        </p:nvPicPr>
        <p:blipFill>
          <a:blip r:embed="rId2"/>
          <a:stretch>
            <a:fillRect/>
          </a:stretch>
        </p:blipFill>
        <p:spPr>
          <a:xfrm>
            <a:off x="420624" y="1691640"/>
            <a:ext cx="1964768" cy="4251960"/>
          </a:xfrm>
          <a:prstGeom prst="rect">
            <a:avLst/>
          </a:prstGeom>
        </p:spPr>
      </p:pic>
      <p:sp>
        <p:nvSpPr>
          <p:cNvPr id="19" name="Oval 18"/>
          <p:cNvSpPr/>
          <p:nvPr/>
        </p:nvSpPr>
        <p:spPr>
          <a:xfrm>
            <a:off x="2569464" y="1234440"/>
            <a:ext cx="329184" cy="329184"/>
          </a:xfrm>
          <a:prstGeom prst="ellipse">
            <a:avLst/>
          </a:prstGeom>
          <a:solidFill>
            <a:srgbClr val="F4A261"/>
          </a:solidFill>
          <a:ln>
            <a:noFill/>
          </a:ln>
          <a:effectLst/>
        </p:spPr>
        <p:txBody>
          <a:bodyPr rtlCol="0" anchor="ctr"/>
          <a:lstStyle/>
          <a:p>
            <a:pPr algn="ctr"/>
          </a:p>
        </p:txBody>
      </p:sp>
      <p:sp>
        <p:nvSpPr>
          <p:cNvPr id="20" name="TextBox 19"/>
          <p:cNvSpPr txBox="1"/>
          <p:nvPr/>
        </p:nvSpPr>
        <p:spPr>
          <a:xfrm>
            <a:off x="2569464" y="1234440"/>
            <a:ext cx="329184" cy="329184"/>
          </a:xfrm>
          <a:prstGeom prst="rect">
            <a:avLst/>
          </a:prstGeom>
          <a:noFill/>
        </p:spPr>
        <p:txBody>
          <a:bodyPr wrap="square" anchor="ctr" lIns="0" rIns="0" tIns="0" bIns="0">
            <a:spAutoFit/>
          </a:bodyPr>
          <a:lstStyle/>
          <a:p>
            <a:pPr algn="ctr"/>
            <a:r>
              <a:rPr sz="1200" b="1" i="0">
                <a:solidFill>
                  <a:srgbClr val="FFFFFF"/>
                </a:solidFill>
                <a:latin typeface="Aptos"/>
              </a:rPr>
              <a:t>2</a:t>
            </a:r>
          </a:p>
        </p:txBody>
      </p:sp>
      <p:sp>
        <p:nvSpPr>
          <p:cNvPr id="21" name="Rounded Rectangle 20"/>
          <p:cNvSpPr/>
          <p:nvPr/>
        </p:nvSpPr>
        <p:spPr>
          <a:xfrm>
            <a:off x="2532888" y="1655064"/>
            <a:ext cx="2037920" cy="4325112"/>
          </a:xfrm>
          <a:prstGeom prst="roundRect">
            <a:avLst>
              <a:gd name="adj" fmla="val 2000"/>
            </a:avLst>
          </a:prstGeom>
          <a:solidFill>
            <a:srgbClr val="D5E3E2"/>
          </a:solidFill>
          <a:ln>
            <a:noFill/>
          </a:ln>
          <a:effectLst/>
        </p:spPr>
        <p:txBody>
          <a:bodyPr rtlCol="0" anchor="ctr"/>
          <a:lstStyle/>
          <a:p>
            <a:pPr algn="ctr"/>
          </a:p>
        </p:txBody>
      </p:sp>
      <p:pic>
        <p:nvPicPr>
          <p:cNvPr id="22" name="Picture 21" descr="m_panel.png"/>
          <p:cNvPicPr>
            <a:picLocks noChangeAspect="1"/>
          </p:cNvPicPr>
          <p:nvPr/>
        </p:nvPicPr>
        <p:blipFill>
          <a:blip r:embed="rId3"/>
          <a:stretch>
            <a:fillRect/>
          </a:stretch>
        </p:blipFill>
        <p:spPr>
          <a:xfrm>
            <a:off x="2569464" y="1691640"/>
            <a:ext cx="1964768" cy="4251960"/>
          </a:xfrm>
          <a:prstGeom prst="rect">
            <a:avLst/>
          </a:prstGeom>
        </p:spPr>
      </p:pic>
      <p:sp>
        <p:nvSpPr>
          <p:cNvPr id="23" name="Oval 22"/>
          <p:cNvSpPr/>
          <p:nvPr/>
        </p:nvSpPr>
        <p:spPr>
          <a:xfrm>
            <a:off x="4718304" y="1234440"/>
            <a:ext cx="329184" cy="329184"/>
          </a:xfrm>
          <a:prstGeom prst="ellipse">
            <a:avLst/>
          </a:prstGeom>
          <a:solidFill>
            <a:srgbClr val="F4A261"/>
          </a:solidFill>
          <a:ln>
            <a:noFill/>
          </a:ln>
          <a:effectLst/>
        </p:spPr>
        <p:txBody>
          <a:bodyPr rtlCol="0" anchor="ctr"/>
          <a:lstStyle/>
          <a:p>
            <a:pPr algn="ctr"/>
          </a:p>
        </p:txBody>
      </p:sp>
      <p:sp>
        <p:nvSpPr>
          <p:cNvPr id="24" name="TextBox 23"/>
          <p:cNvSpPr txBox="1"/>
          <p:nvPr/>
        </p:nvSpPr>
        <p:spPr>
          <a:xfrm>
            <a:off x="4718304" y="1234440"/>
            <a:ext cx="329184" cy="329184"/>
          </a:xfrm>
          <a:prstGeom prst="rect">
            <a:avLst/>
          </a:prstGeom>
          <a:noFill/>
        </p:spPr>
        <p:txBody>
          <a:bodyPr wrap="square" anchor="ctr" lIns="0" rIns="0" tIns="0" bIns="0">
            <a:spAutoFit/>
          </a:bodyPr>
          <a:lstStyle/>
          <a:p>
            <a:pPr algn="ctr"/>
            <a:r>
              <a:rPr sz="1200" b="1" i="0">
                <a:solidFill>
                  <a:srgbClr val="FFFFFF"/>
                </a:solidFill>
                <a:latin typeface="Aptos"/>
              </a:rPr>
              <a:t>3</a:t>
            </a:r>
          </a:p>
        </p:txBody>
      </p:sp>
      <p:sp>
        <p:nvSpPr>
          <p:cNvPr id="25" name="Rounded Rectangle 24"/>
          <p:cNvSpPr/>
          <p:nvPr/>
        </p:nvSpPr>
        <p:spPr>
          <a:xfrm>
            <a:off x="4681728" y="1655064"/>
            <a:ext cx="2037920" cy="4325112"/>
          </a:xfrm>
          <a:prstGeom prst="roundRect">
            <a:avLst>
              <a:gd name="adj" fmla="val 2000"/>
            </a:avLst>
          </a:prstGeom>
          <a:solidFill>
            <a:srgbClr val="D5E3E2"/>
          </a:solidFill>
          <a:ln>
            <a:noFill/>
          </a:ln>
          <a:effectLst/>
        </p:spPr>
        <p:txBody>
          <a:bodyPr rtlCol="0" anchor="ctr"/>
          <a:lstStyle/>
          <a:p>
            <a:pPr algn="ctr"/>
          </a:p>
        </p:txBody>
      </p:sp>
      <p:pic>
        <p:nvPicPr>
          <p:cNvPr id="26" name="Picture 25" descr="m_saved.png"/>
          <p:cNvPicPr>
            <a:picLocks noChangeAspect="1"/>
          </p:cNvPicPr>
          <p:nvPr/>
        </p:nvPicPr>
        <p:blipFill>
          <a:blip r:embed="rId4"/>
          <a:stretch>
            <a:fillRect/>
          </a:stretch>
        </p:blipFill>
        <p:spPr>
          <a:xfrm>
            <a:off x="4718304" y="1691640"/>
            <a:ext cx="1964768" cy="4251960"/>
          </a:xfrm>
          <a:prstGeom prst="rect">
            <a:avLst/>
          </a:prstGeom>
        </p:spPr>
      </p:pic>
      <p:sp>
        <p:nvSpPr>
          <p:cNvPr id="27" name="Oval 26"/>
          <p:cNvSpPr/>
          <p:nvPr/>
        </p:nvSpPr>
        <p:spPr>
          <a:xfrm>
            <a:off x="7086600" y="1435608"/>
            <a:ext cx="347472" cy="347472"/>
          </a:xfrm>
          <a:prstGeom prst="ellipse">
            <a:avLst/>
          </a:prstGeom>
          <a:solidFill>
            <a:srgbClr val="F4A261"/>
          </a:solidFill>
          <a:ln>
            <a:noFill/>
          </a:ln>
          <a:effectLst/>
        </p:spPr>
        <p:txBody>
          <a:bodyPr rtlCol="0" anchor="ctr"/>
          <a:lstStyle/>
          <a:p>
            <a:pPr algn="ctr"/>
          </a:p>
        </p:txBody>
      </p:sp>
      <p:sp>
        <p:nvSpPr>
          <p:cNvPr id="28" name="TextBox 27"/>
          <p:cNvSpPr txBox="1"/>
          <p:nvPr/>
        </p:nvSpPr>
        <p:spPr>
          <a:xfrm>
            <a:off x="7086600" y="1435608"/>
            <a:ext cx="347472" cy="347472"/>
          </a:xfrm>
          <a:prstGeom prst="rect">
            <a:avLst/>
          </a:prstGeom>
          <a:noFill/>
        </p:spPr>
        <p:txBody>
          <a:bodyPr wrap="square" anchor="ctr" lIns="0" rIns="0" tIns="0" bIns="0">
            <a:spAutoFit/>
          </a:bodyPr>
          <a:lstStyle/>
          <a:p>
            <a:pPr algn="ctr"/>
            <a:r>
              <a:rPr sz="1300" b="1" i="0">
                <a:solidFill>
                  <a:srgbClr val="FFFFFF"/>
                </a:solidFill>
                <a:latin typeface="Aptos"/>
              </a:rPr>
              <a:t>1</a:t>
            </a:r>
          </a:p>
        </p:txBody>
      </p:sp>
      <p:sp>
        <p:nvSpPr>
          <p:cNvPr id="29" name="TextBox 28"/>
          <p:cNvSpPr txBox="1"/>
          <p:nvPr/>
        </p:nvSpPr>
        <p:spPr>
          <a:xfrm>
            <a:off x="7589520" y="1417320"/>
            <a:ext cx="4160520" cy="310896"/>
          </a:xfrm>
          <a:prstGeom prst="rect">
            <a:avLst/>
          </a:prstGeom>
          <a:noFill/>
        </p:spPr>
        <p:txBody>
          <a:bodyPr wrap="square" anchor="t" lIns="0" rIns="0" tIns="0" bIns="0">
            <a:spAutoFit/>
          </a:bodyPr>
          <a:lstStyle/>
          <a:p>
            <a:pPr algn="l"/>
            <a:r>
              <a:rPr sz="1500" b="1" i="0">
                <a:solidFill>
                  <a:srgbClr val="0F4C47"/>
                </a:solidFill>
                <a:latin typeface="Aptos"/>
              </a:rPr>
              <a:t>Chọn học sinh</a:t>
            </a:r>
          </a:p>
        </p:txBody>
      </p:sp>
      <p:sp>
        <p:nvSpPr>
          <p:cNvPr id="30" name="TextBox 29"/>
          <p:cNvSpPr txBox="1"/>
          <p:nvPr/>
        </p:nvSpPr>
        <p:spPr>
          <a:xfrm>
            <a:off x="7589520" y="1746504"/>
            <a:ext cx="4160520" cy="640080"/>
          </a:xfrm>
          <a:prstGeom prst="rect">
            <a:avLst/>
          </a:prstGeom>
          <a:noFill/>
        </p:spPr>
        <p:txBody>
          <a:bodyPr wrap="square" anchor="t" lIns="0" rIns="0" tIns="0" bIns="0">
            <a:spAutoFit/>
          </a:bodyPr>
          <a:lstStyle/>
          <a:p>
            <a:pPr algn="l"/>
            <a:r>
              <a:rPr sz="1300" b="0" i="0">
                <a:solidFill>
                  <a:srgbClr val="1F2D2C"/>
                </a:solidFill>
                <a:latin typeface="Aptos"/>
              </a:rPr>
              <a:t>Danh sách theo tổ, tìm nhanh theo tên; tổ trưởng chỉ thấy tổ mình.</a:t>
            </a:r>
          </a:p>
        </p:txBody>
      </p:sp>
      <p:sp>
        <p:nvSpPr>
          <p:cNvPr id="31" name="Oval 30"/>
          <p:cNvSpPr/>
          <p:nvPr/>
        </p:nvSpPr>
        <p:spPr>
          <a:xfrm>
            <a:off x="7086600" y="2898648"/>
            <a:ext cx="347472" cy="347472"/>
          </a:xfrm>
          <a:prstGeom prst="ellipse">
            <a:avLst/>
          </a:prstGeom>
          <a:solidFill>
            <a:srgbClr val="F4A261"/>
          </a:solidFill>
          <a:ln>
            <a:noFill/>
          </a:ln>
          <a:effectLst/>
        </p:spPr>
        <p:txBody>
          <a:bodyPr rtlCol="0" anchor="ctr"/>
          <a:lstStyle/>
          <a:p>
            <a:pPr algn="ctr"/>
          </a:p>
        </p:txBody>
      </p:sp>
      <p:sp>
        <p:nvSpPr>
          <p:cNvPr id="32" name="TextBox 31"/>
          <p:cNvSpPr txBox="1"/>
          <p:nvPr/>
        </p:nvSpPr>
        <p:spPr>
          <a:xfrm>
            <a:off x="7086600" y="2898648"/>
            <a:ext cx="347472" cy="347472"/>
          </a:xfrm>
          <a:prstGeom prst="rect">
            <a:avLst/>
          </a:prstGeom>
          <a:noFill/>
        </p:spPr>
        <p:txBody>
          <a:bodyPr wrap="square" anchor="ctr" lIns="0" rIns="0" tIns="0" bIns="0">
            <a:spAutoFit/>
          </a:bodyPr>
          <a:lstStyle/>
          <a:p>
            <a:pPr algn="ctr"/>
            <a:r>
              <a:rPr sz="1300" b="1" i="0">
                <a:solidFill>
                  <a:srgbClr val="FFFFFF"/>
                </a:solidFill>
                <a:latin typeface="Aptos"/>
              </a:rPr>
              <a:t>2</a:t>
            </a:r>
          </a:p>
        </p:txBody>
      </p:sp>
      <p:sp>
        <p:nvSpPr>
          <p:cNvPr id="33" name="TextBox 32"/>
          <p:cNvSpPr txBox="1"/>
          <p:nvPr/>
        </p:nvSpPr>
        <p:spPr>
          <a:xfrm>
            <a:off x="7589520" y="2880360"/>
            <a:ext cx="4160520" cy="310896"/>
          </a:xfrm>
          <a:prstGeom prst="rect">
            <a:avLst/>
          </a:prstGeom>
          <a:noFill/>
        </p:spPr>
        <p:txBody>
          <a:bodyPr wrap="square" anchor="t" lIns="0" rIns="0" tIns="0" bIns="0">
            <a:spAutoFit/>
          </a:bodyPr>
          <a:lstStyle/>
          <a:p>
            <a:pPr algn="l"/>
            <a:r>
              <a:rPr sz="1500" b="1" i="0">
                <a:solidFill>
                  <a:srgbClr val="0F4C47"/>
                </a:solidFill>
                <a:latin typeface="Aptos"/>
              </a:rPr>
              <a:t>Chọn lỗi hoặc điểm cộng</a:t>
            </a:r>
          </a:p>
        </p:txBody>
      </p:sp>
      <p:sp>
        <p:nvSpPr>
          <p:cNvPr id="34" name="TextBox 33"/>
          <p:cNvSpPr txBox="1"/>
          <p:nvPr/>
        </p:nvSpPr>
        <p:spPr>
          <a:xfrm>
            <a:off x="7589520" y="3209544"/>
            <a:ext cx="4160520" cy="640080"/>
          </a:xfrm>
          <a:prstGeom prst="rect">
            <a:avLst/>
          </a:prstGeom>
          <a:noFill/>
        </p:spPr>
        <p:txBody>
          <a:bodyPr wrap="square" anchor="t" lIns="0" rIns="0" tIns="0" bIns="0">
            <a:spAutoFit/>
          </a:bodyPr>
          <a:lstStyle/>
          <a:p>
            <a:pPr algn="l"/>
            <a:r>
              <a:rPr sz="1300" b="0" i="0">
                <a:solidFill>
                  <a:srgbClr val="1F2D2C"/>
                </a:solidFill>
                <a:latin typeface="Aptos"/>
              </a:rPr>
              <a:t>Danh mục do giáo viên quy định sẵn; có thể ghi chú, chụp ảnh bằng chứng.</a:t>
            </a:r>
          </a:p>
        </p:txBody>
      </p:sp>
      <p:sp>
        <p:nvSpPr>
          <p:cNvPr id="35" name="Oval 34"/>
          <p:cNvSpPr/>
          <p:nvPr/>
        </p:nvSpPr>
        <p:spPr>
          <a:xfrm>
            <a:off x="7086600" y="4361688"/>
            <a:ext cx="347472" cy="347472"/>
          </a:xfrm>
          <a:prstGeom prst="ellipse">
            <a:avLst/>
          </a:prstGeom>
          <a:solidFill>
            <a:srgbClr val="F4A261"/>
          </a:solidFill>
          <a:ln>
            <a:noFill/>
          </a:ln>
          <a:effectLst/>
        </p:spPr>
        <p:txBody>
          <a:bodyPr rtlCol="0" anchor="ctr"/>
          <a:lstStyle/>
          <a:p>
            <a:pPr algn="ctr"/>
          </a:p>
        </p:txBody>
      </p:sp>
      <p:sp>
        <p:nvSpPr>
          <p:cNvPr id="36" name="TextBox 35"/>
          <p:cNvSpPr txBox="1"/>
          <p:nvPr/>
        </p:nvSpPr>
        <p:spPr>
          <a:xfrm>
            <a:off x="7086600" y="4361688"/>
            <a:ext cx="347472" cy="347472"/>
          </a:xfrm>
          <a:prstGeom prst="rect">
            <a:avLst/>
          </a:prstGeom>
          <a:noFill/>
        </p:spPr>
        <p:txBody>
          <a:bodyPr wrap="square" anchor="ctr" lIns="0" rIns="0" tIns="0" bIns="0">
            <a:spAutoFit/>
          </a:bodyPr>
          <a:lstStyle/>
          <a:p>
            <a:pPr algn="ctr"/>
            <a:r>
              <a:rPr sz="1300" b="1" i="0">
                <a:solidFill>
                  <a:srgbClr val="FFFFFF"/>
                </a:solidFill>
                <a:latin typeface="Aptos"/>
              </a:rPr>
              <a:t>3</a:t>
            </a:r>
          </a:p>
        </p:txBody>
      </p:sp>
      <p:sp>
        <p:nvSpPr>
          <p:cNvPr id="37" name="TextBox 36"/>
          <p:cNvSpPr txBox="1"/>
          <p:nvPr/>
        </p:nvSpPr>
        <p:spPr>
          <a:xfrm>
            <a:off x="7589520" y="4343400"/>
            <a:ext cx="4160520" cy="310896"/>
          </a:xfrm>
          <a:prstGeom prst="rect">
            <a:avLst/>
          </a:prstGeom>
          <a:noFill/>
        </p:spPr>
        <p:txBody>
          <a:bodyPr wrap="square" anchor="t" lIns="0" rIns="0" tIns="0" bIns="0">
            <a:spAutoFit/>
          </a:bodyPr>
          <a:lstStyle/>
          <a:p>
            <a:pPr algn="l"/>
            <a:r>
              <a:rPr sz="1500" b="1" i="0">
                <a:solidFill>
                  <a:srgbClr val="0F4C47"/>
                </a:solidFill>
                <a:latin typeface="Aptos"/>
              </a:rPr>
              <a:t>Lưu là xong</a:t>
            </a:r>
          </a:p>
        </p:txBody>
      </p:sp>
      <p:sp>
        <p:nvSpPr>
          <p:cNvPr id="38" name="TextBox 37"/>
          <p:cNvSpPr txBox="1"/>
          <p:nvPr/>
        </p:nvSpPr>
        <p:spPr>
          <a:xfrm>
            <a:off x="7589520" y="4672584"/>
            <a:ext cx="4160520" cy="640080"/>
          </a:xfrm>
          <a:prstGeom prst="rect">
            <a:avLst/>
          </a:prstGeom>
          <a:noFill/>
        </p:spPr>
        <p:txBody>
          <a:bodyPr wrap="square" anchor="t" lIns="0" rIns="0" tIns="0" bIns="0">
            <a:spAutoFit/>
          </a:bodyPr>
          <a:lstStyle/>
          <a:p>
            <a:pPr algn="l"/>
            <a:r>
              <a:rPr sz="1300" b="0" i="0">
                <a:solidFill>
                  <a:srgbClr val="1F2D2C"/>
                </a:solidFill>
                <a:latin typeface="Aptos"/>
              </a:rPr>
              <a:t>Điểm hiện ngay. Mạng yếu thì ứng dụng tự gửi lại sau, không mất dữ liệu.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III · SỬ DỤNG</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12</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Giáo viên thấy cả lớp, biết từng điểm đến từ đâu</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20624" y="6089904"/>
            <a:ext cx="11338560" cy="228600"/>
          </a:xfrm>
          <a:prstGeom prst="rect">
            <a:avLst/>
          </a:prstGeom>
          <a:noFill/>
        </p:spPr>
        <p:txBody>
          <a:bodyPr wrap="square" anchor="t" lIns="0" rIns="0" tIns="0" bIns="0">
            <a:spAutoFit/>
          </a:bodyPr>
          <a:lstStyle/>
          <a:p>
            <a:pPr algn="l"/>
            <a:r>
              <a:rPr sz="1000" b="0" i="1">
                <a:solidFill>
                  <a:srgbClr val="5F7472"/>
                </a:solidFill>
                <a:latin typeface="Aptos"/>
              </a:rPr>
              <a:t>Ảnh chụp từ ứng dụng · dữ liệu mẫu</a:t>
            </a:r>
          </a:p>
        </p:txBody>
      </p:sp>
      <p:sp>
        <p:nvSpPr>
          <p:cNvPr id="8" name="TextBox 7"/>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9" name="TextBox 8"/>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10" name="TextBox 9"/>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1" name="Rounded Rectangle 10"/>
          <p:cNvSpPr/>
          <p:nvPr/>
        </p:nvSpPr>
        <p:spPr>
          <a:xfrm>
            <a:off x="6131051"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2" name="TextBox 11"/>
          <p:cNvSpPr txBox="1"/>
          <p:nvPr/>
        </p:nvSpPr>
        <p:spPr>
          <a:xfrm>
            <a:off x="6222491"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III · SỬ DỤNG</a:t>
            </a:r>
          </a:p>
        </p:txBody>
      </p:sp>
      <p:sp>
        <p:nvSpPr>
          <p:cNvPr id="13" name="TextBox 12"/>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4" name="TextBox 13"/>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sp>
        <p:nvSpPr>
          <p:cNvPr id="15" name="Rounded Rectangle 14"/>
          <p:cNvSpPr/>
          <p:nvPr/>
        </p:nvSpPr>
        <p:spPr>
          <a:xfrm>
            <a:off x="384048" y="1392174"/>
            <a:ext cx="6839712" cy="4302252"/>
          </a:xfrm>
          <a:prstGeom prst="roundRect">
            <a:avLst>
              <a:gd name="adj" fmla="val 2000"/>
            </a:avLst>
          </a:prstGeom>
          <a:solidFill>
            <a:srgbClr val="D5E3E2"/>
          </a:solidFill>
          <a:ln>
            <a:noFill/>
          </a:ln>
          <a:effectLst/>
        </p:spPr>
        <p:txBody>
          <a:bodyPr rtlCol="0" anchor="ctr"/>
          <a:lstStyle/>
          <a:p>
            <a:pPr algn="ctr"/>
          </a:p>
        </p:txBody>
      </p:sp>
      <p:pic>
        <p:nvPicPr>
          <p:cNvPr id="16" name="Picture 15" descr="d_tip.png"/>
          <p:cNvPicPr>
            <a:picLocks noChangeAspect="1"/>
          </p:cNvPicPr>
          <p:nvPr/>
        </p:nvPicPr>
        <p:blipFill>
          <a:blip r:embed="rId2"/>
          <a:stretch>
            <a:fillRect/>
          </a:stretch>
        </p:blipFill>
        <p:spPr>
          <a:xfrm>
            <a:off x="420624" y="1428750"/>
            <a:ext cx="6766560" cy="4229100"/>
          </a:xfrm>
          <a:prstGeom prst="rect">
            <a:avLst/>
          </a:prstGeom>
        </p:spPr>
      </p:pic>
      <p:sp>
        <p:nvSpPr>
          <p:cNvPr id="17" name="Oval 16"/>
          <p:cNvSpPr/>
          <p:nvPr/>
        </p:nvSpPr>
        <p:spPr>
          <a:xfrm>
            <a:off x="7498079" y="1280160"/>
            <a:ext cx="512064" cy="512064"/>
          </a:xfrm>
          <a:prstGeom prst="ellipse">
            <a:avLst/>
          </a:prstGeom>
          <a:solidFill>
            <a:srgbClr val="E0F2F1"/>
          </a:solidFill>
          <a:ln>
            <a:noFill/>
          </a:ln>
          <a:effectLst/>
        </p:spPr>
        <p:txBody>
          <a:bodyPr rtlCol="0" anchor="ctr"/>
          <a:lstStyle/>
          <a:p>
            <a:pPr algn="ctr"/>
          </a:p>
        </p:txBody>
      </p:sp>
      <p:pic>
        <p:nvPicPr>
          <p:cNvPr id="18" name="Picture 17" descr="chart_2A9D8F.png"/>
          <p:cNvPicPr>
            <a:picLocks noChangeAspect="1"/>
          </p:cNvPicPr>
          <p:nvPr/>
        </p:nvPicPr>
        <p:blipFill>
          <a:blip r:embed="rId3"/>
          <a:stretch>
            <a:fillRect/>
          </a:stretch>
        </p:blipFill>
        <p:spPr>
          <a:xfrm>
            <a:off x="7610734" y="1392814"/>
            <a:ext cx="286755" cy="286755"/>
          </a:xfrm>
          <a:prstGeom prst="rect">
            <a:avLst/>
          </a:prstGeom>
        </p:spPr>
      </p:pic>
      <p:sp>
        <p:nvSpPr>
          <p:cNvPr id="19" name="TextBox 18"/>
          <p:cNvSpPr txBox="1"/>
          <p:nvPr/>
        </p:nvSpPr>
        <p:spPr>
          <a:xfrm>
            <a:off x="8156448" y="1243584"/>
            <a:ext cx="3611880" cy="292608"/>
          </a:xfrm>
          <a:prstGeom prst="rect">
            <a:avLst/>
          </a:prstGeom>
          <a:noFill/>
        </p:spPr>
        <p:txBody>
          <a:bodyPr wrap="square" anchor="t" lIns="0" rIns="0" tIns="0" bIns="0">
            <a:spAutoFit/>
          </a:bodyPr>
          <a:lstStyle/>
          <a:p>
            <a:pPr algn="l"/>
            <a:r>
              <a:rPr sz="1500" b="1" i="0">
                <a:solidFill>
                  <a:srgbClr val="0F4C47"/>
                </a:solidFill>
                <a:latin typeface="Aptos"/>
              </a:rPr>
              <a:t>Bảng tổng hợp theo tuần</a:t>
            </a:r>
          </a:p>
        </p:txBody>
      </p:sp>
      <p:sp>
        <p:nvSpPr>
          <p:cNvPr id="20" name="TextBox 19"/>
          <p:cNvSpPr txBox="1"/>
          <p:nvPr/>
        </p:nvSpPr>
        <p:spPr>
          <a:xfrm>
            <a:off x="8156448" y="1554480"/>
            <a:ext cx="3611880" cy="548640"/>
          </a:xfrm>
          <a:prstGeom prst="rect">
            <a:avLst/>
          </a:prstGeom>
          <a:noFill/>
        </p:spPr>
        <p:txBody>
          <a:bodyPr wrap="square" anchor="t" lIns="0" rIns="0" tIns="0" bIns="0">
            <a:spAutoFit/>
          </a:bodyPr>
          <a:lstStyle/>
          <a:p>
            <a:pPr algn="l"/>
            <a:r>
              <a:rPr sz="1250" b="0" i="0">
                <a:solidFill>
                  <a:srgbClr val="1F2D2C"/>
                </a:solidFill>
                <a:latin typeface="Aptos"/>
              </a:rPr>
              <a:t>Điểm, xếp loại từng học sinh, so sánh giữa các tổ.</a:t>
            </a:r>
          </a:p>
        </p:txBody>
      </p:sp>
      <p:sp>
        <p:nvSpPr>
          <p:cNvPr id="21" name="Oval 20"/>
          <p:cNvSpPr/>
          <p:nvPr/>
        </p:nvSpPr>
        <p:spPr>
          <a:xfrm>
            <a:off x="7498079" y="2194560"/>
            <a:ext cx="512064" cy="512064"/>
          </a:xfrm>
          <a:prstGeom prst="ellipse">
            <a:avLst/>
          </a:prstGeom>
          <a:solidFill>
            <a:srgbClr val="E0F2F1"/>
          </a:solidFill>
          <a:ln>
            <a:noFill/>
          </a:ln>
          <a:effectLst/>
        </p:spPr>
        <p:txBody>
          <a:bodyPr rtlCol="0" anchor="ctr"/>
          <a:lstStyle/>
          <a:p>
            <a:pPr algn="ctr"/>
          </a:p>
        </p:txBody>
      </p:sp>
      <p:pic>
        <p:nvPicPr>
          <p:cNvPr id="22" name="Picture 21" descr="eye_2A9D8F.png"/>
          <p:cNvPicPr>
            <a:picLocks noChangeAspect="1"/>
          </p:cNvPicPr>
          <p:nvPr/>
        </p:nvPicPr>
        <p:blipFill>
          <a:blip r:embed="rId4"/>
          <a:stretch>
            <a:fillRect/>
          </a:stretch>
        </p:blipFill>
        <p:spPr>
          <a:xfrm>
            <a:off x="7610734" y="2307214"/>
            <a:ext cx="286755" cy="286755"/>
          </a:xfrm>
          <a:prstGeom prst="rect">
            <a:avLst/>
          </a:prstGeom>
        </p:spPr>
      </p:pic>
      <p:sp>
        <p:nvSpPr>
          <p:cNvPr id="23" name="TextBox 22"/>
          <p:cNvSpPr txBox="1"/>
          <p:nvPr/>
        </p:nvSpPr>
        <p:spPr>
          <a:xfrm>
            <a:off x="8156448" y="2157984"/>
            <a:ext cx="3611880" cy="292608"/>
          </a:xfrm>
          <a:prstGeom prst="rect">
            <a:avLst/>
          </a:prstGeom>
          <a:noFill/>
        </p:spPr>
        <p:txBody>
          <a:bodyPr wrap="square" anchor="t" lIns="0" rIns="0" tIns="0" bIns="0">
            <a:spAutoFit/>
          </a:bodyPr>
          <a:lstStyle/>
          <a:p>
            <a:pPr algn="l"/>
            <a:r>
              <a:rPr sz="1500" b="1" i="0">
                <a:solidFill>
                  <a:srgbClr val="0F4C47"/>
                </a:solidFill>
                <a:latin typeface="Aptos"/>
              </a:rPr>
              <a:t>Rê chuột xem nguồn điểm</a:t>
            </a:r>
          </a:p>
        </p:txBody>
      </p:sp>
      <p:sp>
        <p:nvSpPr>
          <p:cNvPr id="24" name="TextBox 23"/>
          <p:cNvSpPr txBox="1"/>
          <p:nvPr/>
        </p:nvSpPr>
        <p:spPr>
          <a:xfrm>
            <a:off x="8156448" y="2468879"/>
            <a:ext cx="3611880" cy="548640"/>
          </a:xfrm>
          <a:prstGeom prst="rect">
            <a:avLst/>
          </a:prstGeom>
          <a:noFill/>
        </p:spPr>
        <p:txBody>
          <a:bodyPr wrap="square" anchor="t" lIns="0" rIns="0" tIns="0" bIns="0">
            <a:spAutoFit/>
          </a:bodyPr>
          <a:lstStyle/>
          <a:p>
            <a:pPr algn="l"/>
            <a:r>
              <a:rPr sz="1250" b="0" i="0">
                <a:solidFill>
                  <a:srgbClr val="1F2D2C"/>
                </a:solidFill>
                <a:latin typeface="Aptos"/>
              </a:rPr>
              <a:t>Biết ngay mỗi điểm cộng, trừ đến từ việc gì, ngày nào, ai ghi.</a:t>
            </a:r>
          </a:p>
        </p:txBody>
      </p:sp>
      <p:sp>
        <p:nvSpPr>
          <p:cNvPr id="25" name="Oval 24"/>
          <p:cNvSpPr/>
          <p:nvPr/>
        </p:nvSpPr>
        <p:spPr>
          <a:xfrm>
            <a:off x="7498079" y="3108960"/>
            <a:ext cx="512064" cy="512064"/>
          </a:xfrm>
          <a:prstGeom prst="ellipse">
            <a:avLst/>
          </a:prstGeom>
          <a:solidFill>
            <a:srgbClr val="E0F2F1"/>
          </a:solidFill>
          <a:ln>
            <a:noFill/>
          </a:ln>
          <a:effectLst/>
        </p:spPr>
        <p:txBody>
          <a:bodyPr rtlCol="0" anchor="ctr"/>
          <a:lstStyle/>
          <a:p>
            <a:pPr algn="ctr"/>
          </a:p>
        </p:txBody>
      </p:sp>
      <p:pic>
        <p:nvPicPr>
          <p:cNvPr id="26" name="Picture 25" descr="search_2A9D8F.png"/>
          <p:cNvPicPr>
            <a:picLocks noChangeAspect="1"/>
          </p:cNvPicPr>
          <p:nvPr/>
        </p:nvPicPr>
        <p:blipFill>
          <a:blip r:embed="rId5"/>
          <a:stretch>
            <a:fillRect/>
          </a:stretch>
        </p:blipFill>
        <p:spPr>
          <a:xfrm>
            <a:off x="7610734" y="3221614"/>
            <a:ext cx="286755" cy="286755"/>
          </a:xfrm>
          <a:prstGeom prst="rect">
            <a:avLst/>
          </a:prstGeom>
        </p:spPr>
      </p:pic>
      <p:sp>
        <p:nvSpPr>
          <p:cNvPr id="27" name="TextBox 26"/>
          <p:cNvSpPr txBox="1"/>
          <p:nvPr/>
        </p:nvSpPr>
        <p:spPr>
          <a:xfrm>
            <a:off x="8156448" y="3072384"/>
            <a:ext cx="3611880" cy="292608"/>
          </a:xfrm>
          <a:prstGeom prst="rect">
            <a:avLst/>
          </a:prstGeom>
          <a:noFill/>
        </p:spPr>
        <p:txBody>
          <a:bodyPr wrap="square" anchor="t" lIns="0" rIns="0" tIns="0" bIns="0">
            <a:spAutoFit/>
          </a:bodyPr>
          <a:lstStyle/>
          <a:p>
            <a:pPr algn="l"/>
            <a:r>
              <a:rPr sz="1500" b="1" i="0">
                <a:solidFill>
                  <a:srgbClr val="0F4C47"/>
                </a:solidFill>
                <a:latin typeface="Aptos"/>
              </a:rPr>
              <a:t>Tìm kiếm thông minh</a:t>
            </a:r>
          </a:p>
        </p:txBody>
      </p:sp>
      <p:sp>
        <p:nvSpPr>
          <p:cNvPr id="28" name="TextBox 27"/>
          <p:cNvSpPr txBox="1"/>
          <p:nvPr/>
        </p:nvSpPr>
        <p:spPr>
          <a:xfrm>
            <a:off x="8156448" y="3383279"/>
            <a:ext cx="3611880" cy="548640"/>
          </a:xfrm>
          <a:prstGeom prst="rect">
            <a:avLst/>
          </a:prstGeom>
          <a:noFill/>
        </p:spPr>
        <p:txBody>
          <a:bodyPr wrap="square" anchor="t" lIns="0" rIns="0" tIns="0" bIns="0">
            <a:spAutoFit/>
          </a:bodyPr>
          <a:lstStyle/>
          <a:p>
            <a:pPr algn="l"/>
            <a:r>
              <a:rPr sz="1250" b="0" i="0">
                <a:solidFill>
                  <a:srgbClr val="1F2D2C"/>
                </a:solidFill>
                <a:latin typeface="Aptos"/>
              </a:rPr>
              <a:t>Gõ "tổ 2 vi phạm" hoặc tên học sinh là ra kết quả.</a:t>
            </a:r>
          </a:p>
        </p:txBody>
      </p:sp>
      <p:sp>
        <p:nvSpPr>
          <p:cNvPr id="29" name="Oval 28"/>
          <p:cNvSpPr/>
          <p:nvPr/>
        </p:nvSpPr>
        <p:spPr>
          <a:xfrm>
            <a:off x="7498079" y="4023360"/>
            <a:ext cx="512064" cy="512064"/>
          </a:xfrm>
          <a:prstGeom prst="ellipse">
            <a:avLst/>
          </a:prstGeom>
          <a:solidFill>
            <a:srgbClr val="E0F2F1"/>
          </a:solidFill>
          <a:ln>
            <a:noFill/>
          </a:ln>
          <a:effectLst/>
        </p:spPr>
        <p:txBody>
          <a:bodyPr rtlCol="0" anchor="ctr"/>
          <a:lstStyle/>
          <a:p>
            <a:pPr algn="ctr"/>
          </a:p>
        </p:txBody>
      </p:sp>
      <p:pic>
        <p:nvPicPr>
          <p:cNvPr id="30" name="Picture 29" descr="clock_2A9D8F.png"/>
          <p:cNvPicPr>
            <a:picLocks noChangeAspect="1"/>
          </p:cNvPicPr>
          <p:nvPr/>
        </p:nvPicPr>
        <p:blipFill>
          <a:blip r:embed="rId6"/>
          <a:stretch>
            <a:fillRect/>
          </a:stretch>
        </p:blipFill>
        <p:spPr>
          <a:xfrm>
            <a:off x="7610734" y="4136014"/>
            <a:ext cx="286755" cy="286755"/>
          </a:xfrm>
          <a:prstGeom prst="rect">
            <a:avLst/>
          </a:prstGeom>
        </p:spPr>
      </p:pic>
      <p:sp>
        <p:nvSpPr>
          <p:cNvPr id="31" name="TextBox 30"/>
          <p:cNvSpPr txBox="1"/>
          <p:nvPr/>
        </p:nvSpPr>
        <p:spPr>
          <a:xfrm>
            <a:off x="8156448" y="3986784"/>
            <a:ext cx="3611880" cy="292608"/>
          </a:xfrm>
          <a:prstGeom prst="rect">
            <a:avLst/>
          </a:prstGeom>
          <a:noFill/>
        </p:spPr>
        <p:txBody>
          <a:bodyPr wrap="square" anchor="t" lIns="0" rIns="0" tIns="0" bIns="0">
            <a:spAutoFit/>
          </a:bodyPr>
          <a:lstStyle/>
          <a:p>
            <a:pPr algn="l"/>
            <a:r>
              <a:rPr sz="1500" b="1" i="0">
                <a:solidFill>
                  <a:srgbClr val="0F4C47"/>
                </a:solidFill>
                <a:latin typeface="Aptos"/>
              </a:rPr>
              <a:t>Cập nhật tức thì</a:t>
            </a:r>
          </a:p>
        </p:txBody>
      </p:sp>
      <p:sp>
        <p:nvSpPr>
          <p:cNvPr id="32" name="TextBox 31"/>
          <p:cNvSpPr txBox="1"/>
          <p:nvPr/>
        </p:nvSpPr>
        <p:spPr>
          <a:xfrm>
            <a:off x="8156448" y="4297680"/>
            <a:ext cx="3611880" cy="548640"/>
          </a:xfrm>
          <a:prstGeom prst="rect">
            <a:avLst/>
          </a:prstGeom>
          <a:noFill/>
        </p:spPr>
        <p:txBody>
          <a:bodyPr wrap="square" anchor="t" lIns="0" rIns="0" tIns="0" bIns="0">
            <a:spAutoFit/>
          </a:bodyPr>
          <a:lstStyle/>
          <a:p>
            <a:pPr algn="l"/>
            <a:r>
              <a:rPr sz="1250" b="0" i="0">
                <a:solidFill>
                  <a:srgbClr val="1F2D2C"/>
                </a:solidFill>
                <a:latin typeface="Aptos"/>
              </a:rPr>
              <a:t>Lớp vừa ghi điểm, màn hình của giáo viên tự thay đổi.</a:t>
            </a:r>
          </a:p>
        </p:txBody>
      </p:sp>
      <p:sp>
        <p:nvSpPr>
          <p:cNvPr id="33" name="Oval 32"/>
          <p:cNvSpPr/>
          <p:nvPr/>
        </p:nvSpPr>
        <p:spPr>
          <a:xfrm>
            <a:off x="7498079" y="4937760"/>
            <a:ext cx="512064" cy="512064"/>
          </a:xfrm>
          <a:prstGeom prst="ellipse">
            <a:avLst/>
          </a:prstGeom>
          <a:solidFill>
            <a:srgbClr val="E0F2F1"/>
          </a:solidFill>
          <a:ln>
            <a:noFill/>
          </a:ln>
          <a:effectLst/>
        </p:spPr>
        <p:txBody>
          <a:bodyPr rtlCol="0" anchor="ctr"/>
          <a:lstStyle/>
          <a:p>
            <a:pPr algn="ctr"/>
          </a:p>
        </p:txBody>
      </p:sp>
      <p:pic>
        <p:nvPicPr>
          <p:cNvPr id="34" name="Picture 33" descr="shield_2A9D8F.png"/>
          <p:cNvPicPr>
            <a:picLocks noChangeAspect="1"/>
          </p:cNvPicPr>
          <p:nvPr/>
        </p:nvPicPr>
        <p:blipFill>
          <a:blip r:embed="rId7"/>
          <a:stretch>
            <a:fillRect/>
          </a:stretch>
        </p:blipFill>
        <p:spPr>
          <a:xfrm>
            <a:off x="7610734" y="5050414"/>
            <a:ext cx="286755" cy="286755"/>
          </a:xfrm>
          <a:prstGeom prst="rect">
            <a:avLst/>
          </a:prstGeom>
        </p:spPr>
      </p:pic>
      <p:sp>
        <p:nvSpPr>
          <p:cNvPr id="35" name="TextBox 34"/>
          <p:cNvSpPr txBox="1"/>
          <p:nvPr/>
        </p:nvSpPr>
        <p:spPr>
          <a:xfrm>
            <a:off x="8156448" y="4901184"/>
            <a:ext cx="3611880" cy="292608"/>
          </a:xfrm>
          <a:prstGeom prst="rect">
            <a:avLst/>
          </a:prstGeom>
          <a:noFill/>
        </p:spPr>
        <p:txBody>
          <a:bodyPr wrap="square" anchor="t" lIns="0" rIns="0" tIns="0" bIns="0">
            <a:spAutoFit/>
          </a:bodyPr>
          <a:lstStyle/>
          <a:p>
            <a:pPr algn="l"/>
            <a:r>
              <a:rPr sz="1500" b="1" i="0">
                <a:solidFill>
                  <a:srgbClr val="0F4C47"/>
                </a:solidFill>
                <a:latin typeface="Aptos"/>
              </a:rPr>
              <a:t>Khoá sổ cuối tháng</a:t>
            </a:r>
          </a:p>
        </p:txBody>
      </p:sp>
      <p:sp>
        <p:nvSpPr>
          <p:cNvPr id="36" name="TextBox 35"/>
          <p:cNvSpPr txBox="1"/>
          <p:nvPr/>
        </p:nvSpPr>
        <p:spPr>
          <a:xfrm>
            <a:off x="8156448" y="5212080"/>
            <a:ext cx="3611880" cy="548640"/>
          </a:xfrm>
          <a:prstGeom prst="rect">
            <a:avLst/>
          </a:prstGeom>
          <a:noFill/>
        </p:spPr>
        <p:txBody>
          <a:bodyPr wrap="square" anchor="t" lIns="0" rIns="0" tIns="0" bIns="0">
            <a:spAutoFit/>
          </a:bodyPr>
          <a:lstStyle/>
          <a:p>
            <a:pPr algn="l"/>
            <a:r>
              <a:rPr sz="1250" b="0" i="0">
                <a:solidFill>
                  <a:srgbClr val="1F2D2C"/>
                </a:solidFill>
                <a:latin typeface="Aptos"/>
              </a:rPr>
              <a:t>Xếp loại xong thì khoá lại; chỉ giáo viên chủ nhiệm mở được.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III · SỬ DỤNG</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13</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Báo cáo tự soạn, xuất PDF ngay, luôn có lời nhận xét</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20624" y="6089904"/>
            <a:ext cx="11338560" cy="228600"/>
          </a:xfrm>
          <a:prstGeom prst="rect">
            <a:avLst/>
          </a:prstGeom>
          <a:noFill/>
        </p:spPr>
        <p:txBody>
          <a:bodyPr wrap="square" anchor="t" lIns="0" rIns="0" tIns="0" bIns="0">
            <a:spAutoFit/>
          </a:bodyPr>
          <a:lstStyle/>
          <a:p>
            <a:pPr algn="l"/>
            <a:r>
              <a:rPr sz="1000" b="0" i="1">
                <a:solidFill>
                  <a:srgbClr val="5F7472"/>
                </a:solidFill>
                <a:latin typeface="Aptos"/>
              </a:rPr>
              <a:t>Ảnh chụp từ ứng dụng · dữ liệu mẫu</a:t>
            </a:r>
          </a:p>
        </p:txBody>
      </p:sp>
      <p:sp>
        <p:nvSpPr>
          <p:cNvPr id="8" name="TextBox 7"/>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9" name="TextBox 8"/>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10" name="TextBox 9"/>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1" name="Rounded Rectangle 10"/>
          <p:cNvSpPr/>
          <p:nvPr/>
        </p:nvSpPr>
        <p:spPr>
          <a:xfrm>
            <a:off x="6131051"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2" name="TextBox 11"/>
          <p:cNvSpPr txBox="1"/>
          <p:nvPr/>
        </p:nvSpPr>
        <p:spPr>
          <a:xfrm>
            <a:off x="6222491"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III · SỬ DỤNG</a:t>
            </a:r>
          </a:p>
        </p:txBody>
      </p:sp>
      <p:sp>
        <p:nvSpPr>
          <p:cNvPr id="13" name="TextBox 12"/>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4" name="TextBox 13"/>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sp>
        <p:nvSpPr>
          <p:cNvPr id="15" name="Rounded Rectangle 14"/>
          <p:cNvSpPr/>
          <p:nvPr/>
        </p:nvSpPr>
        <p:spPr>
          <a:xfrm>
            <a:off x="384048" y="1243584"/>
            <a:ext cx="5925312" cy="3730752"/>
          </a:xfrm>
          <a:prstGeom prst="roundRect">
            <a:avLst>
              <a:gd name="adj" fmla="val 2000"/>
            </a:avLst>
          </a:prstGeom>
          <a:solidFill>
            <a:srgbClr val="D5E3E2"/>
          </a:solidFill>
          <a:ln>
            <a:noFill/>
          </a:ln>
          <a:effectLst/>
        </p:spPr>
        <p:txBody>
          <a:bodyPr rtlCol="0" anchor="ctr"/>
          <a:lstStyle/>
          <a:p>
            <a:pPr algn="ctr"/>
          </a:p>
        </p:txBody>
      </p:sp>
      <p:pic>
        <p:nvPicPr>
          <p:cNvPr id="16" name="Picture 15" descr="d_bc.png"/>
          <p:cNvPicPr>
            <a:picLocks noChangeAspect="1"/>
          </p:cNvPicPr>
          <p:nvPr/>
        </p:nvPicPr>
        <p:blipFill>
          <a:blip r:embed="rId2"/>
          <a:stretch>
            <a:fillRect/>
          </a:stretch>
        </p:blipFill>
        <p:spPr>
          <a:xfrm>
            <a:off x="420624" y="1280160"/>
            <a:ext cx="5852160" cy="3657600"/>
          </a:xfrm>
          <a:prstGeom prst="rect">
            <a:avLst/>
          </a:prstGeom>
        </p:spPr>
      </p:pic>
      <p:sp>
        <p:nvSpPr>
          <p:cNvPr id="17" name="Rounded Rectangle 16"/>
          <p:cNvSpPr/>
          <p:nvPr/>
        </p:nvSpPr>
        <p:spPr>
          <a:xfrm>
            <a:off x="6501384" y="1243584"/>
            <a:ext cx="2658019" cy="1901952"/>
          </a:xfrm>
          <a:prstGeom prst="roundRect">
            <a:avLst>
              <a:gd name="adj" fmla="val 2000"/>
            </a:avLst>
          </a:prstGeom>
          <a:solidFill>
            <a:srgbClr val="D5E3E2"/>
          </a:solidFill>
          <a:ln>
            <a:noFill/>
          </a:ln>
          <a:effectLst/>
        </p:spPr>
        <p:txBody>
          <a:bodyPr rtlCol="0" anchor="ctr"/>
          <a:lstStyle/>
          <a:p>
            <a:pPr algn="ctr"/>
          </a:p>
        </p:txBody>
      </p:sp>
      <p:pic>
        <p:nvPicPr>
          <p:cNvPr id="18" name="Picture 17" descr="dm_bcpdf.png"/>
          <p:cNvPicPr>
            <a:picLocks noChangeAspect="1"/>
          </p:cNvPicPr>
          <p:nvPr/>
        </p:nvPicPr>
        <p:blipFill>
          <a:blip r:embed="rId3"/>
          <a:stretch>
            <a:fillRect/>
          </a:stretch>
        </p:blipFill>
        <p:spPr>
          <a:xfrm>
            <a:off x="6537960" y="1280160"/>
            <a:ext cx="2584867" cy="1828800"/>
          </a:xfrm>
          <a:prstGeom prst="rect">
            <a:avLst/>
          </a:prstGeom>
        </p:spPr>
      </p:pic>
      <p:sp>
        <p:nvSpPr>
          <p:cNvPr id="19" name="Rounded Rectangle 18"/>
          <p:cNvSpPr/>
          <p:nvPr/>
        </p:nvSpPr>
        <p:spPr>
          <a:xfrm>
            <a:off x="6501384" y="3255264"/>
            <a:ext cx="2658019" cy="1901952"/>
          </a:xfrm>
          <a:prstGeom prst="roundRect">
            <a:avLst>
              <a:gd name="adj" fmla="val 2000"/>
            </a:avLst>
          </a:prstGeom>
          <a:solidFill>
            <a:srgbClr val="D5E3E2"/>
          </a:solidFill>
          <a:ln>
            <a:noFill/>
          </a:ln>
          <a:effectLst/>
        </p:spPr>
        <p:txBody>
          <a:bodyPr rtlCol="0" anchor="ctr"/>
          <a:lstStyle/>
          <a:p>
            <a:pPr algn="ctr"/>
          </a:p>
        </p:txBody>
      </p:sp>
      <p:pic>
        <p:nvPicPr>
          <p:cNvPr id="20" name="Picture 19" descr="dm_hspdf.png"/>
          <p:cNvPicPr>
            <a:picLocks noChangeAspect="1"/>
          </p:cNvPicPr>
          <p:nvPr/>
        </p:nvPicPr>
        <p:blipFill>
          <a:blip r:embed="rId4"/>
          <a:stretch>
            <a:fillRect/>
          </a:stretch>
        </p:blipFill>
        <p:spPr>
          <a:xfrm>
            <a:off x="6537960" y="3291840"/>
            <a:ext cx="2584867" cy="1828800"/>
          </a:xfrm>
          <a:prstGeom prst="rect">
            <a:avLst/>
          </a:prstGeom>
        </p:spPr>
      </p:pic>
      <p:sp>
        <p:nvSpPr>
          <p:cNvPr id="21" name="TextBox 20"/>
          <p:cNvSpPr txBox="1"/>
          <p:nvPr/>
        </p:nvSpPr>
        <p:spPr>
          <a:xfrm>
            <a:off x="420624" y="5257800"/>
            <a:ext cx="5852160" cy="548640"/>
          </a:xfrm>
          <a:prstGeom prst="rect">
            <a:avLst/>
          </a:prstGeom>
          <a:noFill/>
        </p:spPr>
        <p:txBody>
          <a:bodyPr wrap="square" anchor="t" lIns="0" rIns="0" tIns="0" bIns="0">
            <a:spAutoFit/>
          </a:bodyPr>
          <a:lstStyle/>
          <a:p>
            <a:pPr algn="l"/>
            <a:r>
              <a:rPr sz="1300" b="0" i="0">
                <a:solidFill>
                  <a:srgbClr val="1F2D2C"/>
                </a:solidFill>
                <a:latin typeface="Aptos"/>
              </a:rPr>
              <a:t>Màn hình Báo cáo: theo tuần, tháng, học kỳ, cả năm; so sánh với kỳ trước.</a:t>
            </a:r>
          </a:p>
        </p:txBody>
      </p:sp>
      <p:sp>
        <p:nvSpPr>
          <p:cNvPr id="22" name="TextBox 21"/>
          <p:cNvSpPr txBox="1"/>
          <p:nvPr/>
        </p:nvSpPr>
        <p:spPr>
          <a:xfrm>
            <a:off x="6537960" y="5257800"/>
            <a:ext cx="5230368" cy="548640"/>
          </a:xfrm>
          <a:prstGeom prst="rect">
            <a:avLst/>
          </a:prstGeom>
          <a:noFill/>
        </p:spPr>
        <p:txBody>
          <a:bodyPr wrap="square" anchor="t" lIns="0" rIns="0" tIns="0" bIns="0">
            <a:spAutoFit/>
          </a:bodyPr>
          <a:lstStyle/>
          <a:p>
            <a:pPr algn="l"/>
            <a:r>
              <a:rPr sz="1300" b="0" i="0">
                <a:solidFill>
                  <a:srgbClr val="1F2D2C"/>
                </a:solidFill>
                <a:latin typeface="Aptos"/>
              </a:rPr>
              <a:t>PDF báo cáo của lớp và PDF riêng của từng học sinh.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III · SỬ DỤNG</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14</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Phụ huynh nhận tin ngay, xem kết quả của con mọi lúc</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20624" y="6089904"/>
            <a:ext cx="11338560" cy="228600"/>
          </a:xfrm>
          <a:prstGeom prst="rect">
            <a:avLst/>
          </a:prstGeom>
          <a:noFill/>
        </p:spPr>
        <p:txBody>
          <a:bodyPr wrap="square" anchor="t" lIns="0" rIns="0" tIns="0" bIns="0">
            <a:spAutoFit/>
          </a:bodyPr>
          <a:lstStyle/>
          <a:p>
            <a:pPr algn="l"/>
            <a:r>
              <a:rPr sz="1000" b="0" i="1">
                <a:solidFill>
                  <a:srgbClr val="5F7472"/>
                </a:solidFill>
                <a:latin typeface="Aptos"/>
              </a:rPr>
              <a:t>Ảnh chụp từ ứng dụng · dữ liệu mẫu</a:t>
            </a:r>
          </a:p>
        </p:txBody>
      </p:sp>
      <p:sp>
        <p:nvSpPr>
          <p:cNvPr id="8" name="TextBox 7"/>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9" name="TextBox 8"/>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10" name="TextBox 9"/>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1" name="Rounded Rectangle 10"/>
          <p:cNvSpPr/>
          <p:nvPr/>
        </p:nvSpPr>
        <p:spPr>
          <a:xfrm>
            <a:off x="6131051"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2" name="TextBox 11"/>
          <p:cNvSpPr txBox="1"/>
          <p:nvPr/>
        </p:nvSpPr>
        <p:spPr>
          <a:xfrm>
            <a:off x="6222491"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III · SỬ DỤNG</a:t>
            </a:r>
          </a:p>
        </p:txBody>
      </p:sp>
      <p:sp>
        <p:nvSpPr>
          <p:cNvPr id="13" name="TextBox 12"/>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4" name="TextBox 13"/>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sp>
        <p:nvSpPr>
          <p:cNvPr id="15" name="Rounded Rectangle 14"/>
          <p:cNvSpPr/>
          <p:nvPr/>
        </p:nvSpPr>
        <p:spPr>
          <a:xfrm>
            <a:off x="420624" y="1280160"/>
            <a:ext cx="3657600" cy="4663440"/>
          </a:xfrm>
          <a:prstGeom prst="roundRect">
            <a:avLst>
              <a:gd name="adj" fmla="val 6000"/>
            </a:avLst>
          </a:prstGeom>
          <a:solidFill>
            <a:srgbClr val="F4F7F7"/>
          </a:solidFill>
          <a:ln>
            <a:noFill/>
          </a:ln>
          <a:effectLst/>
        </p:spPr>
        <p:txBody>
          <a:bodyPr rtlCol="0" anchor="ctr"/>
          <a:lstStyle/>
          <a:p>
            <a:pPr algn="ctr"/>
          </a:p>
        </p:txBody>
      </p:sp>
      <p:sp>
        <p:nvSpPr>
          <p:cNvPr id="16" name="Rounded Rectangle 15"/>
          <p:cNvSpPr/>
          <p:nvPr/>
        </p:nvSpPr>
        <p:spPr>
          <a:xfrm>
            <a:off x="649224" y="1463040"/>
            <a:ext cx="772668" cy="274320"/>
          </a:xfrm>
          <a:prstGeom prst="roundRect">
            <a:avLst>
              <a:gd name="adj" fmla="val 50000"/>
            </a:avLst>
          </a:prstGeom>
          <a:solidFill>
            <a:srgbClr val="0F766E"/>
          </a:solidFill>
          <a:ln>
            <a:noFill/>
          </a:ln>
          <a:effectLst/>
        </p:spPr>
        <p:txBody>
          <a:bodyPr rtlCol="0" anchor="ctr"/>
          <a:lstStyle/>
          <a:p>
            <a:pPr algn="ctr"/>
          </a:p>
        </p:txBody>
      </p:sp>
      <p:sp>
        <p:nvSpPr>
          <p:cNvPr id="17" name="TextBox 16"/>
          <p:cNvSpPr txBox="1"/>
          <p:nvPr/>
        </p:nvSpPr>
        <p:spPr>
          <a:xfrm>
            <a:off x="649224" y="1463040"/>
            <a:ext cx="772668" cy="274320"/>
          </a:xfrm>
          <a:prstGeom prst="rect">
            <a:avLst/>
          </a:prstGeom>
          <a:noFill/>
        </p:spPr>
        <p:txBody>
          <a:bodyPr wrap="square" anchor="ctr" lIns="0" rIns="0" tIns="0" bIns="0">
            <a:spAutoFit/>
          </a:bodyPr>
          <a:lstStyle/>
          <a:p>
            <a:pPr algn="ctr"/>
            <a:r>
              <a:rPr sz="1100" b="1" i="0">
                <a:solidFill>
                  <a:srgbClr val="FFFFFF"/>
                </a:solidFill>
                <a:latin typeface="Aptos"/>
              </a:rPr>
              <a:t>ĐĂNG KÝ</a:t>
            </a:r>
          </a:p>
        </p:txBody>
      </p:sp>
      <p:sp>
        <p:nvSpPr>
          <p:cNvPr id="18" name="TextBox 17"/>
          <p:cNvSpPr txBox="1"/>
          <p:nvPr/>
        </p:nvSpPr>
        <p:spPr>
          <a:xfrm>
            <a:off x="649224" y="1874519"/>
            <a:ext cx="3200400" cy="914400"/>
          </a:xfrm>
          <a:prstGeom prst="rect">
            <a:avLst/>
          </a:prstGeom>
          <a:noFill/>
        </p:spPr>
        <p:txBody>
          <a:bodyPr wrap="square" anchor="t" lIns="0" rIns="0" tIns="0" bIns="0">
            <a:spAutoFit/>
          </a:bodyPr>
          <a:lstStyle/>
          <a:p>
            <a:pPr algn="l"/>
            <a:r>
              <a:rPr sz="1300" b="0" i="0">
                <a:solidFill>
                  <a:srgbClr val="1F2D2C"/>
                </a:solidFill>
                <a:latin typeface="Aptos"/>
              </a:rPr>
              <a:t>Phụ huynh tự đăng ký email bằng mã 6 số; giáo viên duyệt, phụ huynh nhận thư kèm hướng dẫn.</a:t>
            </a:r>
          </a:p>
        </p:txBody>
      </p:sp>
      <p:sp>
        <p:nvSpPr>
          <p:cNvPr id="19" name="Rounded Rectangle 18"/>
          <p:cNvSpPr/>
          <p:nvPr/>
        </p:nvSpPr>
        <p:spPr>
          <a:xfrm>
            <a:off x="1547361" y="2843784"/>
            <a:ext cx="1404124" cy="2953512"/>
          </a:xfrm>
          <a:prstGeom prst="roundRect">
            <a:avLst>
              <a:gd name="adj" fmla="val 2000"/>
            </a:avLst>
          </a:prstGeom>
          <a:solidFill>
            <a:srgbClr val="D5E3E2"/>
          </a:solidFill>
          <a:ln>
            <a:noFill/>
          </a:ln>
          <a:effectLst/>
        </p:spPr>
        <p:txBody>
          <a:bodyPr rtlCol="0" anchor="ctr"/>
          <a:lstStyle/>
          <a:p>
            <a:pPr algn="ctr"/>
          </a:p>
        </p:txBody>
      </p:sp>
      <p:pic>
        <p:nvPicPr>
          <p:cNvPr id="20" name="Picture 19" descr="dm_dk1.png"/>
          <p:cNvPicPr>
            <a:picLocks noChangeAspect="1"/>
          </p:cNvPicPr>
          <p:nvPr/>
        </p:nvPicPr>
        <p:blipFill>
          <a:blip r:embed="rId2"/>
          <a:stretch>
            <a:fillRect/>
          </a:stretch>
        </p:blipFill>
        <p:spPr>
          <a:xfrm>
            <a:off x="1583937" y="2880360"/>
            <a:ext cx="1330972" cy="2880360"/>
          </a:xfrm>
          <a:prstGeom prst="rect">
            <a:avLst/>
          </a:prstGeom>
        </p:spPr>
      </p:pic>
      <p:sp>
        <p:nvSpPr>
          <p:cNvPr id="21" name="Rounded Rectangle 20"/>
          <p:cNvSpPr/>
          <p:nvPr/>
        </p:nvSpPr>
        <p:spPr>
          <a:xfrm>
            <a:off x="4233672" y="1280160"/>
            <a:ext cx="3657600" cy="4663440"/>
          </a:xfrm>
          <a:prstGeom prst="roundRect">
            <a:avLst>
              <a:gd name="adj" fmla="val 6000"/>
            </a:avLst>
          </a:prstGeom>
          <a:solidFill>
            <a:srgbClr val="F4F7F7"/>
          </a:solidFill>
          <a:ln>
            <a:noFill/>
          </a:ln>
          <a:effectLst/>
        </p:spPr>
        <p:txBody>
          <a:bodyPr rtlCol="0" anchor="ctr"/>
          <a:lstStyle/>
          <a:p>
            <a:pPr algn="ctr"/>
          </a:p>
        </p:txBody>
      </p:sp>
      <p:sp>
        <p:nvSpPr>
          <p:cNvPr id="22" name="Rounded Rectangle 21"/>
          <p:cNvSpPr/>
          <p:nvPr/>
        </p:nvSpPr>
        <p:spPr>
          <a:xfrm>
            <a:off x="4462272" y="1463040"/>
            <a:ext cx="1005840" cy="274320"/>
          </a:xfrm>
          <a:prstGeom prst="roundRect">
            <a:avLst>
              <a:gd name="adj" fmla="val 50000"/>
            </a:avLst>
          </a:prstGeom>
          <a:solidFill>
            <a:srgbClr val="0F766E"/>
          </a:solidFill>
          <a:ln>
            <a:noFill/>
          </a:ln>
          <a:effectLst/>
        </p:spPr>
        <p:txBody>
          <a:bodyPr rtlCol="0" anchor="ctr"/>
          <a:lstStyle/>
          <a:p>
            <a:pPr algn="ctr"/>
          </a:p>
        </p:txBody>
      </p:sp>
      <p:sp>
        <p:nvSpPr>
          <p:cNvPr id="23" name="TextBox 22"/>
          <p:cNvSpPr txBox="1"/>
          <p:nvPr/>
        </p:nvSpPr>
        <p:spPr>
          <a:xfrm>
            <a:off x="4462272" y="1463040"/>
            <a:ext cx="1005840" cy="274320"/>
          </a:xfrm>
          <a:prstGeom prst="rect">
            <a:avLst/>
          </a:prstGeom>
          <a:noFill/>
        </p:spPr>
        <p:txBody>
          <a:bodyPr wrap="square" anchor="ctr" lIns="0" rIns="0" tIns="0" bIns="0">
            <a:spAutoFit/>
          </a:bodyPr>
          <a:lstStyle/>
          <a:p>
            <a:pPr algn="ctr"/>
            <a:r>
              <a:rPr sz="1100" b="1" i="0">
                <a:solidFill>
                  <a:srgbClr val="FFFFFF"/>
                </a:solidFill>
                <a:latin typeface="Aptos"/>
              </a:rPr>
              <a:t>NHẬN EMAIL</a:t>
            </a:r>
          </a:p>
        </p:txBody>
      </p:sp>
      <p:sp>
        <p:nvSpPr>
          <p:cNvPr id="24" name="TextBox 23"/>
          <p:cNvSpPr txBox="1"/>
          <p:nvPr/>
        </p:nvSpPr>
        <p:spPr>
          <a:xfrm>
            <a:off x="4462272" y="1874519"/>
            <a:ext cx="3200400" cy="914400"/>
          </a:xfrm>
          <a:prstGeom prst="rect">
            <a:avLst/>
          </a:prstGeom>
          <a:noFill/>
        </p:spPr>
        <p:txBody>
          <a:bodyPr wrap="square" anchor="t" lIns="0" rIns="0" tIns="0" bIns="0">
            <a:spAutoFit/>
          </a:bodyPr>
          <a:lstStyle/>
          <a:p>
            <a:pPr algn="l"/>
            <a:r>
              <a:rPr sz="1300" b="0" i="0">
                <a:solidFill>
                  <a:srgbClr val="1F2D2C"/>
                </a:solidFill>
                <a:latin typeface="Aptos"/>
              </a:rPr>
              <a:t>Mỗi lần con được ghi điểm, phụ huynh nhận thư kèm lời nhắn của cô Thảo.</a:t>
            </a:r>
          </a:p>
        </p:txBody>
      </p:sp>
      <p:sp>
        <p:nvSpPr>
          <p:cNvPr id="25" name="Rounded Rectangle 24"/>
          <p:cNvSpPr/>
          <p:nvPr/>
        </p:nvSpPr>
        <p:spPr>
          <a:xfrm>
            <a:off x="4425696" y="3390313"/>
            <a:ext cx="3273552" cy="1860452"/>
          </a:xfrm>
          <a:prstGeom prst="roundRect">
            <a:avLst>
              <a:gd name="adj" fmla="val 2000"/>
            </a:avLst>
          </a:prstGeom>
          <a:solidFill>
            <a:srgbClr val="D5E3E2"/>
          </a:solidFill>
          <a:ln>
            <a:noFill/>
          </a:ln>
          <a:effectLst/>
        </p:spPr>
        <p:txBody>
          <a:bodyPr rtlCol="0" anchor="ctr"/>
          <a:lstStyle/>
          <a:p>
            <a:pPr algn="ctr"/>
          </a:p>
        </p:txBody>
      </p:sp>
      <p:pic>
        <p:nvPicPr>
          <p:cNvPr id="26" name="Picture 25" descr="mail.jpg"/>
          <p:cNvPicPr>
            <a:picLocks noChangeAspect="1"/>
          </p:cNvPicPr>
          <p:nvPr/>
        </p:nvPicPr>
        <p:blipFill>
          <a:blip r:embed="rId3"/>
          <a:stretch>
            <a:fillRect/>
          </a:stretch>
        </p:blipFill>
        <p:spPr>
          <a:xfrm>
            <a:off x="4462272" y="3426889"/>
            <a:ext cx="3200400" cy="1787300"/>
          </a:xfrm>
          <a:prstGeom prst="rect">
            <a:avLst/>
          </a:prstGeom>
        </p:spPr>
      </p:pic>
      <p:sp>
        <p:nvSpPr>
          <p:cNvPr id="27" name="Rounded Rectangle 26"/>
          <p:cNvSpPr/>
          <p:nvPr/>
        </p:nvSpPr>
        <p:spPr>
          <a:xfrm>
            <a:off x="8046720" y="1280160"/>
            <a:ext cx="3657600" cy="4663440"/>
          </a:xfrm>
          <a:prstGeom prst="roundRect">
            <a:avLst>
              <a:gd name="adj" fmla="val 6000"/>
            </a:avLst>
          </a:prstGeom>
          <a:solidFill>
            <a:srgbClr val="F4F7F7"/>
          </a:solidFill>
          <a:ln>
            <a:noFill/>
          </a:ln>
          <a:effectLst/>
        </p:spPr>
        <p:txBody>
          <a:bodyPr rtlCol="0" anchor="ctr"/>
          <a:lstStyle/>
          <a:p>
            <a:pPr algn="ctr"/>
          </a:p>
        </p:txBody>
      </p:sp>
      <p:sp>
        <p:nvSpPr>
          <p:cNvPr id="28" name="Rounded Rectangle 27"/>
          <p:cNvSpPr/>
          <p:nvPr/>
        </p:nvSpPr>
        <p:spPr>
          <a:xfrm>
            <a:off x="8275320" y="1463040"/>
            <a:ext cx="1005840" cy="274320"/>
          </a:xfrm>
          <a:prstGeom prst="roundRect">
            <a:avLst>
              <a:gd name="adj" fmla="val 50000"/>
            </a:avLst>
          </a:prstGeom>
          <a:solidFill>
            <a:srgbClr val="0F766E"/>
          </a:solidFill>
          <a:ln>
            <a:noFill/>
          </a:ln>
          <a:effectLst/>
        </p:spPr>
        <p:txBody>
          <a:bodyPr rtlCol="0" anchor="ctr"/>
          <a:lstStyle/>
          <a:p>
            <a:pPr algn="ctr"/>
          </a:p>
        </p:txBody>
      </p:sp>
      <p:sp>
        <p:nvSpPr>
          <p:cNvPr id="29" name="TextBox 28"/>
          <p:cNvSpPr txBox="1"/>
          <p:nvPr/>
        </p:nvSpPr>
        <p:spPr>
          <a:xfrm>
            <a:off x="8275320" y="1463040"/>
            <a:ext cx="1005840" cy="274320"/>
          </a:xfrm>
          <a:prstGeom prst="rect">
            <a:avLst/>
          </a:prstGeom>
          <a:noFill/>
        </p:spPr>
        <p:txBody>
          <a:bodyPr wrap="square" anchor="ctr" lIns="0" rIns="0" tIns="0" bIns="0">
            <a:spAutoFit/>
          </a:bodyPr>
          <a:lstStyle/>
          <a:p>
            <a:pPr algn="ctr"/>
            <a:r>
              <a:rPr sz="1100" b="1" i="0">
                <a:solidFill>
                  <a:srgbClr val="FFFFFF"/>
                </a:solidFill>
                <a:latin typeface="Aptos"/>
              </a:rPr>
              <a:t>XEM VÀ TẢI</a:t>
            </a:r>
          </a:p>
        </p:txBody>
      </p:sp>
      <p:sp>
        <p:nvSpPr>
          <p:cNvPr id="30" name="TextBox 29"/>
          <p:cNvSpPr txBox="1"/>
          <p:nvPr/>
        </p:nvSpPr>
        <p:spPr>
          <a:xfrm>
            <a:off x="8275320" y="1874519"/>
            <a:ext cx="3200400" cy="914400"/>
          </a:xfrm>
          <a:prstGeom prst="rect">
            <a:avLst/>
          </a:prstGeom>
          <a:noFill/>
        </p:spPr>
        <p:txBody>
          <a:bodyPr wrap="square" anchor="t" lIns="0" rIns="0" tIns="0" bIns="0">
            <a:spAutoFit/>
          </a:bodyPr>
          <a:lstStyle/>
          <a:p>
            <a:pPr algn="l"/>
            <a:r>
              <a:rPr sz="1300" b="0" i="0">
                <a:solidFill>
                  <a:srgbClr val="1F2D2C"/>
                </a:solidFill>
                <a:latin typeface="Aptos"/>
              </a:rPr>
              <a:t>Xem kết quả của con theo tuần, tháng; tải PDF thông báo và báo cáo.</a:t>
            </a:r>
          </a:p>
        </p:txBody>
      </p:sp>
      <p:sp>
        <p:nvSpPr>
          <p:cNvPr id="31" name="Rounded Rectangle 30"/>
          <p:cNvSpPr/>
          <p:nvPr/>
        </p:nvSpPr>
        <p:spPr>
          <a:xfrm>
            <a:off x="8238744" y="3151818"/>
            <a:ext cx="3273552" cy="2337442"/>
          </a:xfrm>
          <a:prstGeom prst="roundRect">
            <a:avLst>
              <a:gd name="adj" fmla="val 2000"/>
            </a:avLst>
          </a:prstGeom>
          <a:solidFill>
            <a:srgbClr val="D5E3E2"/>
          </a:solidFill>
          <a:ln>
            <a:noFill/>
          </a:ln>
          <a:effectLst/>
        </p:spPr>
        <p:txBody>
          <a:bodyPr rtlCol="0" anchor="ctr"/>
          <a:lstStyle/>
          <a:p>
            <a:pPr algn="ctr"/>
          </a:p>
        </p:txBody>
      </p:sp>
      <p:pic>
        <p:nvPicPr>
          <p:cNvPr id="32" name="Picture 31" descr="dm_tbpdf.png"/>
          <p:cNvPicPr>
            <a:picLocks noChangeAspect="1"/>
          </p:cNvPicPr>
          <p:nvPr/>
        </p:nvPicPr>
        <p:blipFill>
          <a:blip r:embed="rId4"/>
          <a:stretch>
            <a:fillRect/>
          </a:stretch>
        </p:blipFill>
        <p:spPr>
          <a:xfrm>
            <a:off x="8275320" y="3188394"/>
            <a:ext cx="3200400" cy="226429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III · SỬ DỤNG</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15</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Giao diện thân thiện, dễ sử dụng</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20624" y="6089904"/>
            <a:ext cx="11338560" cy="228600"/>
          </a:xfrm>
          <a:prstGeom prst="rect">
            <a:avLst/>
          </a:prstGeom>
          <a:noFill/>
        </p:spPr>
        <p:txBody>
          <a:bodyPr wrap="square" anchor="t" lIns="0" rIns="0" tIns="0" bIns="0">
            <a:spAutoFit/>
          </a:bodyPr>
          <a:lstStyle/>
          <a:p>
            <a:pPr algn="l"/>
            <a:r>
              <a:rPr sz="1000" b="0" i="1">
                <a:solidFill>
                  <a:srgbClr val="5F7472"/>
                </a:solidFill>
                <a:latin typeface="Aptos"/>
              </a:rPr>
              <a:t>Ảnh chụp từ ứng dụng · dữ liệu mẫu</a:t>
            </a:r>
          </a:p>
        </p:txBody>
      </p:sp>
      <p:sp>
        <p:nvSpPr>
          <p:cNvPr id="8" name="TextBox 7"/>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9" name="TextBox 8"/>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10" name="TextBox 9"/>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1" name="Rounded Rectangle 10"/>
          <p:cNvSpPr/>
          <p:nvPr/>
        </p:nvSpPr>
        <p:spPr>
          <a:xfrm>
            <a:off x="6131051"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2" name="TextBox 11"/>
          <p:cNvSpPr txBox="1"/>
          <p:nvPr/>
        </p:nvSpPr>
        <p:spPr>
          <a:xfrm>
            <a:off x="6222491"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III · SỬ DỤNG</a:t>
            </a:r>
          </a:p>
        </p:txBody>
      </p:sp>
      <p:sp>
        <p:nvSpPr>
          <p:cNvPr id="13" name="TextBox 12"/>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4" name="TextBox 13"/>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sp>
        <p:nvSpPr>
          <p:cNvPr id="15" name="Rounded Rectangle 14"/>
          <p:cNvSpPr/>
          <p:nvPr/>
        </p:nvSpPr>
        <p:spPr>
          <a:xfrm>
            <a:off x="384048" y="1255014"/>
            <a:ext cx="6473952" cy="4073652"/>
          </a:xfrm>
          <a:prstGeom prst="roundRect">
            <a:avLst>
              <a:gd name="adj" fmla="val 2000"/>
            </a:avLst>
          </a:prstGeom>
          <a:solidFill>
            <a:srgbClr val="D5E3E2"/>
          </a:solidFill>
          <a:ln>
            <a:noFill/>
          </a:ln>
          <a:effectLst/>
        </p:spPr>
        <p:txBody>
          <a:bodyPr rtlCol="0" anchor="ctr"/>
          <a:lstStyle/>
          <a:p>
            <a:pPr algn="ctr"/>
          </a:p>
        </p:txBody>
      </p:sp>
      <p:pic>
        <p:nvPicPr>
          <p:cNvPr id="16" name="Picture 15" descr="ui_tour.png"/>
          <p:cNvPicPr>
            <a:picLocks noChangeAspect="1"/>
          </p:cNvPicPr>
          <p:nvPr/>
        </p:nvPicPr>
        <p:blipFill>
          <a:blip r:embed="rId2"/>
          <a:stretch>
            <a:fillRect/>
          </a:stretch>
        </p:blipFill>
        <p:spPr>
          <a:xfrm>
            <a:off x="420624" y="1291590"/>
            <a:ext cx="6400800" cy="4000500"/>
          </a:xfrm>
          <a:prstGeom prst="rect">
            <a:avLst/>
          </a:prstGeom>
        </p:spPr>
      </p:pic>
      <p:sp>
        <p:nvSpPr>
          <p:cNvPr id="17" name="TextBox 16"/>
          <p:cNvSpPr txBox="1"/>
          <p:nvPr/>
        </p:nvSpPr>
        <p:spPr>
          <a:xfrm>
            <a:off x="420624" y="5394960"/>
            <a:ext cx="6400800" cy="548640"/>
          </a:xfrm>
          <a:prstGeom prst="rect">
            <a:avLst/>
          </a:prstGeom>
          <a:noFill/>
        </p:spPr>
        <p:txBody>
          <a:bodyPr wrap="square" anchor="t" lIns="0" rIns="0" tIns="0" bIns="0">
            <a:spAutoFit/>
          </a:bodyPr>
          <a:lstStyle/>
          <a:p>
            <a:pPr algn="l"/>
            <a:r>
              <a:rPr sz="1300" b="1" i="0">
                <a:solidFill>
                  <a:srgbClr val="0F4C47"/>
                </a:solidFill>
                <a:latin typeface="Aptos"/>
              </a:rPr>
              <a:t>Hướng dẫn từng bước: </a:t>
            </a:r>
            <a:r>
              <a:rPr sz="1300" b="0" i="0">
                <a:solidFill>
                  <a:srgbClr val="1F2D2C"/>
                </a:solidFill>
                <a:latin typeface="Aptos"/>
              </a:rPr>
              <a:t>lần đầu mở, cô Thảo chỉ từng nút, bấm Tiếp để đi tiếp.</a:t>
            </a:r>
          </a:p>
        </p:txBody>
      </p:sp>
      <p:sp>
        <p:nvSpPr>
          <p:cNvPr id="18" name="Rounded Rectangle 17"/>
          <p:cNvSpPr/>
          <p:nvPr/>
        </p:nvSpPr>
        <p:spPr>
          <a:xfrm>
            <a:off x="7050024" y="1322663"/>
            <a:ext cx="2267712" cy="2932513"/>
          </a:xfrm>
          <a:prstGeom prst="roundRect">
            <a:avLst>
              <a:gd name="adj" fmla="val 2000"/>
            </a:avLst>
          </a:prstGeom>
          <a:solidFill>
            <a:srgbClr val="D5E3E2"/>
          </a:solidFill>
          <a:ln>
            <a:noFill/>
          </a:ln>
          <a:effectLst/>
        </p:spPr>
        <p:txBody>
          <a:bodyPr rtlCol="0" anchor="ctr"/>
          <a:lstStyle/>
          <a:p>
            <a:pPr algn="ctr"/>
          </a:p>
        </p:txBody>
      </p:sp>
      <p:pic>
        <p:nvPicPr>
          <p:cNvPr id="19" name="Picture 18" descr="ui_upd_c.png"/>
          <p:cNvPicPr>
            <a:picLocks noChangeAspect="1"/>
          </p:cNvPicPr>
          <p:nvPr/>
        </p:nvPicPr>
        <p:blipFill>
          <a:blip r:embed="rId3"/>
          <a:stretch>
            <a:fillRect/>
          </a:stretch>
        </p:blipFill>
        <p:spPr>
          <a:xfrm>
            <a:off x="7086600" y="1359239"/>
            <a:ext cx="2194560" cy="2859361"/>
          </a:xfrm>
          <a:prstGeom prst="rect">
            <a:avLst/>
          </a:prstGeom>
        </p:spPr>
      </p:pic>
      <p:sp>
        <p:nvSpPr>
          <p:cNvPr id="20" name="Rounded Rectangle 19"/>
          <p:cNvSpPr/>
          <p:nvPr/>
        </p:nvSpPr>
        <p:spPr>
          <a:xfrm>
            <a:off x="9427464" y="1921728"/>
            <a:ext cx="2377440" cy="1734382"/>
          </a:xfrm>
          <a:prstGeom prst="roundRect">
            <a:avLst>
              <a:gd name="adj" fmla="val 2000"/>
            </a:avLst>
          </a:prstGeom>
          <a:solidFill>
            <a:srgbClr val="D5E3E2"/>
          </a:solidFill>
          <a:ln>
            <a:noFill/>
          </a:ln>
          <a:effectLst/>
        </p:spPr>
        <p:txBody>
          <a:bodyPr rtlCol="0" anchor="ctr"/>
          <a:lstStyle/>
          <a:p>
            <a:pPr algn="ctr"/>
          </a:p>
        </p:txBody>
      </p:sp>
      <p:pic>
        <p:nvPicPr>
          <p:cNvPr id="21" name="Picture 20" descr="ui_tkm.png"/>
          <p:cNvPicPr>
            <a:picLocks noChangeAspect="1"/>
          </p:cNvPicPr>
          <p:nvPr/>
        </p:nvPicPr>
        <p:blipFill>
          <a:blip r:embed="rId4"/>
          <a:stretch>
            <a:fillRect/>
          </a:stretch>
        </p:blipFill>
        <p:spPr>
          <a:xfrm>
            <a:off x="9464040" y="1958304"/>
            <a:ext cx="2304288" cy="1661230"/>
          </a:xfrm>
          <a:prstGeom prst="rect">
            <a:avLst/>
          </a:prstGeom>
        </p:spPr>
      </p:pic>
      <p:sp>
        <p:nvSpPr>
          <p:cNvPr id="22" name="TextBox 21"/>
          <p:cNvSpPr txBox="1"/>
          <p:nvPr/>
        </p:nvSpPr>
        <p:spPr>
          <a:xfrm>
            <a:off x="7086600" y="4434840"/>
            <a:ext cx="2194560" cy="914400"/>
          </a:xfrm>
          <a:prstGeom prst="rect">
            <a:avLst/>
          </a:prstGeom>
          <a:noFill/>
        </p:spPr>
        <p:txBody>
          <a:bodyPr wrap="square" anchor="t" lIns="0" rIns="0" tIns="0" bIns="0">
            <a:spAutoFit/>
          </a:bodyPr>
          <a:lstStyle/>
          <a:p>
            <a:pPr algn="l"/>
            <a:r>
              <a:rPr sz="1300" b="1" i="0">
                <a:solidFill>
                  <a:srgbClr val="0F4C47"/>
                </a:solidFill>
                <a:latin typeface="Aptos"/>
              </a:rPr>
              <a:t>Thông báo cập nhật: </a:t>
            </a:r>
            <a:r>
              <a:rPr sz="1300" b="0" i="0">
                <a:solidFill>
                  <a:srgbClr val="1F2D2C"/>
                </a:solidFill>
                <a:latin typeface="Aptos"/>
              </a:rPr>
              <a:t>có gì mới, kèm ảnh minh hoạ.</a:t>
            </a:r>
          </a:p>
        </p:txBody>
      </p:sp>
      <p:sp>
        <p:nvSpPr>
          <p:cNvPr id="23" name="TextBox 22"/>
          <p:cNvSpPr txBox="1"/>
          <p:nvPr/>
        </p:nvSpPr>
        <p:spPr>
          <a:xfrm>
            <a:off x="9464040" y="4434840"/>
            <a:ext cx="2304288" cy="914400"/>
          </a:xfrm>
          <a:prstGeom prst="rect">
            <a:avLst/>
          </a:prstGeom>
          <a:noFill/>
        </p:spPr>
        <p:txBody>
          <a:bodyPr wrap="square" anchor="t" lIns="0" rIns="0" tIns="0" bIns="0">
            <a:spAutoFit/>
          </a:bodyPr>
          <a:lstStyle/>
          <a:p>
            <a:pPr algn="l"/>
            <a:r>
              <a:rPr sz="1300" b="1" i="0">
                <a:solidFill>
                  <a:srgbClr val="0F4C47"/>
                </a:solidFill>
                <a:latin typeface="Aptos"/>
              </a:rPr>
              <a:t>Sửa nhanh: </a:t>
            </a:r>
            <a:r>
              <a:rPr sz="1300" b="0" i="0">
                <a:solidFill>
                  <a:srgbClr val="1F2D2C"/>
                </a:solidFill>
                <a:latin typeface="Aptos"/>
              </a:rPr>
              <a:t>bấm một lượt điểm để xem, sửa, xoá.</a:t>
            </a:r>
          </a:p>
        </p:txBody>
      </p:sp>
      <p:sp>
        <p:nvSpPr>
          <p:cNvPr id="24" name="TextBox 23"/>
          <p:cNvSpPr txBox="1"/>
          <p:nvPr/>
        </p:nvSpPr>
        <p:spPr>
          <a:xfrm>
            <a:off x="7086600" y="5394960"/>
            <a:ext cx="4681728" cy="548640"/>
          </a:xfrm>
          <a:prstGeom prst="rect">
            <a:avLst/>
          </a:prstGeom>
          <a:noFill/>
        </p:spPr>
        <p:txBody>
          <a:bodyPr wrap="square" anchor="t" lIns="0" rIns="0" tIns="0" bIns="0">
            <a:spAutoFit/>
          </a:bodyPr>
          <a:lstStyle/>
          <a:p>
            <a:pPr algn="l"/>
            <a:r>
              <a:rPr sz="1300" b="1" i="0">
                <a:solidFill>
                  <a:srgbClr val="0F4C47"/>
                </a:solidFill>
                <a:latin typeface="Aptos"/>
              </a:rPr>
              <a:t>Đổi màu giao diện, </a:t>
            </a:r>
            <a:r>
              <a:rPr sz="1300" b="0" i="0">
                <a:solidFill>
                  <a:srgbClr val="1F2D2C"/>
                </a:solidFill>
                <a:latin typeface="Aptos"/>
              </a:rPr>
              <a:t>chạy tốt trên điện thoại và máy tính.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III · SỬ DỤNG</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16</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Dữ liệu an toàn: đúng người, đúng quyền, không bị sửa</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8" name="TextBox 7"/>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9" name="TextBox 8"/>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0" name="Rounded Rectangle 9"/>
          <p:cNvSpPr/>
          <p:nvPr/>
        </p:nvSpPr>
        <p:spPr>
          <a:xfrm>
            <a:off x="6131051"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1" name="TextBox 10"/>
          <p:cNvSpPr txBox="1"/>
          <p:nvPr/>
        </p:nvSpPr>
        <p:spPr>
          <a:xfrm>
            <a:off x="6222491"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III · SỬ DỤNG</a:t>
            </a:r>
          </a:p>
        </p:txBody>
      </p:sp>
      <p:sp>
        <p:nvSpPr>
          <p:cNvPr id="12" name="TextBox 11"/>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3" name="TextBox 12"/>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sp>
        <p:nvSpPr>
          <p:cNvPr id="14" name="Oval 13"/>
          <p:cNvSpPr/>
          <p:nvPr/>
        </p:nvSpPr>
        <p:spPr>
          <a:xfrm>
            <a:off x="420624" y="1444751"/>
            <a:ext cx="347472" cy="347472"/>
          </a:xfrm>
          <a:prstGeom prst="ellipse">
            <a:avLst/>
          </a:prstGeom>
          <a:solidFill>
            <a:srgbClr val="0F766E"/>
          </a:solidFill>
          <a:ln>
            <a:noFill/>
          </a:ln>
          <a:effectLst/>
        </p:spPr>
        <p:txBody>
          <a:bodyPr rtlCol="0" anchor="ctr"/>
          <a:lstStyle/>
          <a:p>
            <a:pPr algn="ctr"/>
          </a:p>
        </p:txBody>
      </p:sp>
      <p:sp>
        <p:nvSpPr>
          <p:cNvPr id="15" name="TextBox 14"/>
          <p:cNvSpPr txBox="1"/>
          <p:nvPr/>
        </p:nvSpPr>
        <p:spPr>
          <a:xfrm>
            <a:off x="420624" y="1444751"/>
            <a:ext cx="347472" cy="347472"/>
          </a:xfrm>
          <a:prstGeom prst="rect">
            <a:avLst/>
          </a:prstGeom>
          <a:noFill/>
        </p:spPr>
        <p:txBody>
          <a:bodyPr wrap="square" anchor="ctr" lIns="0" rIns="0" tIns="0" bIns="0">
            <a:spAutoFit/>
          </a:bodyPr>
          <a:lstStyle/>
          <a:p>
            <a:pPr algn="ctr"/>
            <a:r>
              <a:rPr sz="1300" b="1" i="0">
                <a:solidFill>
                  <a:srgbClr val="FFFFFF"/>
                </a:solidFill>
                <a:latin typeface="Aptos"/>
              </a:rPr>
              <a:t>1</a:t>
            </a:r>
          </a:p>
        </p:txBody>
      </p:sp>
      <p:sp>
        <p:nvSpPr>
          <p:cNvPr id="16" name="TextBox 15"/>
          <p:cNvSpPr txBox="1"/>
          <p:nvPr/>
        </p:nvSpPr>
        <p:spPr>
          <a:xfrm>
            <a:off x="960120" y="1280160"/>
            <a:ext cx="3017520" cy="676656"/>
          </a:xfrm>
          <a:prstGeom prst="rect">
            <a:avLst/>
          </a:prstGeom>
          <a:noFill/>
        </p:spPr>
        <p:txBody>
          <a:bodyPr wrap="square" anchor="ctr" lIns="0" rIns="0" tIns="0" bIns="0">
            <a:spAutoFit/>
          </a:bodyPr>
          <a:lstStyle/>
          <a:p>
            <a:pPr algn="l"/>
            <a:r>
              <a:rPr sz="1500" b="1" i="0">
                <a:solidFill>
                  <a:srgbClr val="0F4C47"/>
                </a:solidFill>
                <a:latin typeface="Aptos"/>
              </a:rPr>
              <a:t>Đăng nhập không mật khẩu</a:t>
            </a:r>
          </a:p>
        </p:txBody>
      </p:sp>
      <p:sp>
        <p:nvSpPr>
          <p:cNvPr id="17" name="TextBox 16"/>
          <p:cNvSpPr txBox="1"/>
          <p:nvPr/>
        </p:nvSpPr>
        <p:spPr>
          <a:xfrm>
            <a:off x="4023360" y="1280160"/>
            <a:ext cx="4572000" cy="676656"/>
          </a:xfrm>
          <a:prstGeom prst="rect">
            <a:avLst/>
          </a:prstGeom>
          <a:noFill/>
        </p:spPr>
        <p:txBody>
          <a:bodyPr wrap="square" anchor="ctr" lIns="0" rIns="0" tIns="0" bIns="0">
            <a:spAutoFit/>
          </a:bodyPr>
          <a:lstStyle/>
          <a:p>
            <a:pPr algn="l"/>
            <a:r>
              <a:rPr sz="1300" b="0" i="0">
                <a:solidFill>
                  <a:srgbClr val="1F2D2C"/>
                </a:solidFill>
                <a:latin typeface="Aptos"/>
              </a:rPr>
              <a:t>Email và mã 6 số gửi tới email; tài khoản do giáo viên cấp, có thể khoá.</a:t>
            </a:r>
          </a:p>
        </p:txBody>
      </p:sp>
      <p:cxnSp>
        <p:nvCxnSpPr>
          <p:cNvPr id="18" name="Connector 17"/>
          <p:cNvCxnSpPr/>
          <p:nvPr/>
        </p:nvCxnSpPr>
        <p:spPr>
          <a:xfrm>
            <a:off x="420624" y="2011680"/>
            <a:ext cx="8174736"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20624" y="2212848"/>
            <a:ext cx="347472" cy="347472"/>
          </a:xfrm>
          <a:prstGeom prst="ellipse">
            <a:avLst/>
          </a:prstGeom>
          <a:solidFill>
            <a:srgbClr val="0F766E"/>
          </a:solidFill>
          <a:ln>
            <a:noFill/>
          </a:ln>
          <a:effectLst/>
        </p:spPr>
        <p:txBody>
          <a:bodyPr rtlCol="0" anchor="ctr"/>
          <a:lstStyle/>
          <a:p>
            <a:pPr algn="ctr"/>
          </a:p>
        </p:txBody>
      </p:sp>
      <p:sp>
        <p:nvSpPr>
          <p:cNvPr id="20" name="TextBox 19"/>
          <p:cNvSpPr txBox="1"/>
          <p:nvPr/>
        </p:nvSpPr>
        <p:spPr>
          <a:xfrm>
            <a:off x="420624" y="2212848"/>
            <a:ext cx="347472" cy="347472"/>
          </a:xfrm>
          <a:prstGeom prst="rect">
            <a:avLst/>
          </a:prstGeom>
          <a:noFill/>
        </p:spPr>
        <p:txBody>
          <a:bodyPr wrap="square" anchor="ctr" lIns="0" rIns="0" tIns="0" bIns="0">
            <a:spAutoFit/>
          </a:bodyPr>
          <a:lstStyle/>
          <a:p>
            <a:pPr algn="ctr"/>
            <a:r>
              <a:rPr sz="1300" b="1" i="0">
                <a:solidFill>
                  <a:srgbClr val="FFFFFF"/>
                </a:solidFill>
                <a:latin typeface="Aptos"/>
              </a:rPr>
              <a:t>2</a:t>
            </a:r>
          </a:p>
        </p:txBody>
      </p:sp>
      <p:sp>
        <p:nvSpPr>
          <p:cNvPr id="21" name="TextBox 20"/>
          <p:cNvSpPr txBox="1"/>
          <p:nvPr/>
        </p:nvSpPr>
        <p:spPr>
          <a:xfrm>
            <a:off x="960120" y="2048255"/>
            <a:ext cx="3017520" cy="676656"/>
          </a:xfrm>
          <a:prstGeom prst="rect">
            <a:avLst/>
          </a:prstGeom>
          <a:noFill/>
        </p:spPr>
        <p:txBody>
          <a:bodyPr wrap="square" anchor="ctr" lIns="0" rIns="0" tIns="0" bIns="0">
            <a:spAutoFit/>
          </a:bodyPr>
          <a:lstStyle/>
          <a:p>
            <a:pPr algn="l"/>
            <a:r>
              <a:rPr sz="1500" b="1" i="0">
                <a:solidFill>
                  <a:srgbClr val="0F4C47"/>
                </a:solidFill>
                <a:latin typeface="Aptos"/>
              </a:rPr>
              <a:t>Phân quyền theo vai trò</a:t>
            </a:r>
          </a:p>
        </p:txBody>
      </p:sp>
      <p:sp>
        <p:nvSpPr>
          <p:cNvPr id="22" name="TextBox 21"/>
          <p:cNvSpPr txBox="1"/>
          <p:nvPr/>
        </p:nvSpPr>
        <p:spPr>
          <a:xfrm>
            <a:off x="4023360" y="2048255"/>
            <a:ext cx="4572000" cy="676656"/>
          </a:xfrm>
          <a:prstGeom prst="rect">
            <a:avLst/>
          </a:prstGeom>
          <a:noFill/>
        </p:spPr>
        <p:txBody>
          <a:bodyPr wrap="square" anchor="ctr" lIns="0" rIns="0" tIns="0" bIns="0">
            <a:spAutoFit/>
          </a:bodyPr>
          <a:lstStyle/>
          <a:p>
            <a:pPr algn="l"/>
            <a:r>
              <a:rPr sz="1300" b="0" i="0">
                <a:solidFill>
                  <a:srgbClr val="1F2D2C"/>
                </a:solidFill>
                <a:latin typeface="Aptos"/>
              </a:rPr>
              <a:t>Tổ trưởng chỉ ghi tổ mình; phụ huynh chỉ xem; máy chủ kiểm tra lại mọi lệnh ghi.</a:t>
            </a:r>
          </a:p>
        </p:txBody>
      </p:sp>
      <p:cxnSp>
        <p:nvCxnSpPr>
          <p:cNvPr id="23" name="Connector 22"/>
          <p:cNvCxnSpPr/>
          <p:nvPr/>
        </p:nvCxnSpPr>
        <p:spPr>
          <a:xfrm>
            <a:off x="420624" y="2779776"/>
            <a:ext cx="8174736"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420624" y="2980944"/>
            <a:ext cx="347472" cy="347472"/>
          </a:xfrm>
          <a:prstGeom prst="ellipse">
            <a:avLst/>
          </a:prstGeom>
          <a:solidFill>
            <a:srgbClr val="0F766E"/>
          </a:solidFill>
          <a:ln>
            <a:noFill/>
          </a:ln>
          <a:effectLst/>
        </p:spPr>
        <p:txBody>
          <a:bodyPr rtlCol="0" anchor="ctr"/>
          <a:lstStyle/>
          <a:p>
            <a:pPr algn="ctr"/>
          </a:p>
        </p:txBody>
      </p:sp>
      <p:sp>
        <p:nvSpPr>
          <p:cNvPr id="25" name="TextBox 24"/>
          <p:cNvSpPr txBox="1"/>
          <p:nvPr/>
        </p:nvSpPr>
        <p:spPr>
          <a:xfrm>
            <a:off x="420624" y="2980944"/>
            <a:ext cx="347472" cy="347472"/>
          </a:xfrm>
          <a:prstGeom prst="rect">
            <a:avLst/>
          </a:prstGeom>
          <a:noFill/>
        </p:spPr>
        <p:txBody>
          <a:bodyPr wrap="square" anchor="ctr" lIns="0" rIns="0" tIns="0" bIns="0">
            <a:spAutoFit/>
          </a:bodyPr>
          <a:lstStyle/>
          <a:p>
            <a:pPr algn="ctr"/>
            <a:r>
              <a:rPr sz="1300" b="1" i="0">
                <a:solidFill>
                  <a:srgbClr val="FFFFFF"/>
                </a:solidFill>
                <a:latin typeface="Aptos"/>
              </a:rPr>
              <a:t>3</a:t>
            </a:r>
          </a:p>
        </p:txBody>
      </p:sp>
      <p:sp>
        <p:nvSpPr>
          <p:cNvPr id="26" name="TextBox 25"/>
          <p:cNvSpPr txBox="1"/>
          <p:nvPr/>
        </p:nvSpPr>
        <p:spPr>
          <a:xfrm>
            <a:off x="960120" y="2816352"/>
            <a:ext cx="3017520" cy="676656"/>
          </a:xfrm>
          <a:prstGeom prst="rect">
            <a:avLst/>
          </a:prstGeom>
          <a:noFill/>
        </p:spPr>
        <p:txBody>
          <a:bodyPr wrap="square" anchor="ctr" lIns="0" rIns="0" tIns="0" bIns="0">
            <a:spAutoFit/>
          </a:bodyPr>
          <a:lstStyle/>
          <a:p>
            <a:pPr algn="l"/>
            <a:r>
              <a:rPr sz="1500" b="1" i="0">
                <a:solidFill>
                  <a:srgbClr val="0F4C47"/>
                </a:solidFill>
                <a:latin typeface="Aptos"/>
              </a:rPr>
              <a:t>Khoá sổ cuối tháng</a:t>
            </a:r>
          </a:p>
        </p:txBody>
      </p:sp>
      <p:sp>
        <p:nvSpPr>
          <p:cNvPr id="27" name="TextBox 26"/>
          <p:cNvSpPr txBox="1"/>
          <p:nvPr/>
        </p:nvSpPr>
        <p:spPr>
          <a:xfrm>
            <a:off x="4023360" y="2816352"/>
            <a:ext cx="4572000" cy="676656"/>
          </a:xfrm>
          <a:prstGeom prst="rect">
            <a:avLst/>
          </a:prstGeom>
          <a:noFill/>
        </p:spPr>
        <p:txBody>
          <a:bodyPr wrap="square" anchor="ctr" lIns="0" rIns="0" tIns="0" bIns="0">
            <a:spAutoFit/>
          </a:bodyPr>
          <a:lstStyle/>
          <a:p>
            <a:pPr algn="l"/>
            <a:r>
              <a:rPr sz="1300" b="0" i="0">
                <a:solidFill>
                  <a:srgbClr val="1F2D2C"/>
                </a:solidFill>
                <a:latin typeface="Aptos"/>
              </a:rPr>
              <a:t>Tháng đã khoá thì không thêm, sửa, xoá được; chỉ giáo viên mở lại.</a:t>
            </a:r>
          </a:p>
        </p:txBody>
      </p:sp>
      <p:cxnSp>
        <p:nvCxnSpPr>
          <p:cNvPr id="28" name="Connector 27"/>
          <p:cNvCxnSpPr/>
          <p:nvPr/>
        </p:nvCxnSpPr>
        <p:spPr>
          <a:xfrm>
            <a:off x="420624" y="3547872"/>
            <a:ext cx="8174736"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20624" y="3749039"/>
            <a:ext cx="347472" cy="347472"/>
          </a:xfrm>
          <a:prstGeom prst="ellipse">
            <a:avLst/>
          </a:prstGeom>
          <a:solidFill>
            <a:srgbClr val="0F766E"/>
          </a:solidFill>
          <a:ln>
            <a:noFill/>
          </a:ln>
          <a:effectLst/>
        </p:spPr>
        <p:txBody>
          <a:bodyPr rtlCol="0" anchor="ctr"/>
          <a:lstStyle/>
          <a:p>
            <a:pPr algn="ctr"/>
          </a:p>
        </p:txBody>
      </p:sp>
      <p:sp>
        <p:nvSpPr>
          <p:cNvPr id="30" name="TextBox 29"/>
          <p:cNvSpPr txBox="1"/>
          <p:nvPr/>
        </p:nvSpPr>
        <p:spPr>
          <a:xfrm>
            <a:off x="420624" y="3749039"/>
            <a:ext cx="347472" cy="347472"/>
          </a:xfrm>
          <a:prstGeom prst="rect">
            <a:avLst/>
          </a:prstGeom>
          <a:noFill/>
        </p:spPr>
        <p:txBody>
          <a:bodyPr wrap="square" anchor="ctr" lIns="0" rIns="0" tIns="0" bIns="0">
            <a:spAutoFit/>
          </a:bodyPr>
          <a:lstStyle/>
          <a:p>
            <a:pPr algn="ctr"/>
            <a:r>
              <a:rPr sz="1300" b="1" i="0">
                <a:solidFill>
                  <a:srgbClr val="FFFFFF"/>
                </a:solidFill>
                <a:latin typeface="Aptos"/>
              </a:rPr>
              <a:t>4</a:t>
            </a:r>
          </a:p>
        </p:txBody>
      </p:sp>
      <p:sp>
        <p:nvSpPr>
          <p:cNvPr id="31" name="TextBox 30"/>
          <p:cNvSpPr txBox="1"/>
          <p:nvPr/>
        </p:nvSpPr>
        <p:spPr>
          <a:xfrm>
            <a:off x="960120" y="3584448"/>
            <a:ext cx="3017520" cy="676656"/>
          </a:xfrm>
          <a:prstGeom prst="rect">
            <a:avLst/>
          </a:prstGeom>
          <a:noFill/>
        </p:spPr>
        <p:txBody>
          <a:bodyPr wrap="square" anchor="ctr" lIns="0" rIns="0" tIns="0" bIns="0">
            <a:spAutoFit/>
          </a:bodyPr>
          <a:lstStyle/>
          <a:p>
            <a:pPr algn="l"/>
            <a:r>
              <a:rPr sz="1500" b="1" i="0">
                <a:solidFill>
                  <a:srgbClr val="0F4C47"/>
                </a:solidFill>
                <a:latin typeface="Aptos"/>
              </a:rPr>
              <a:t>Dữ liệu ở Google của trường</a:t>
            </a:r>
          </a:p>
        </p:txBody>
      </p:sp>
      <p:sp>
        <p:nvSpPr>
          <p:cNvPr id="32" name="TextBox 31"/>
          <p:cNvSpPr txBox="1"/>
          <p:nvPr/>
        </p:nvSpPr>
        <p:spPr>
          <a:xfrm>
            <a:off x="4023360" y="3584448"/>
            <a:ext cx="4572000" cy="676656"/>
          </a:xfrm>
          <a:prstGeom prst="rect">
            <a:avLst/>
          </a:prstGeom>
          <a:noFill/>
        </p:spPr>
        <p:txBody>
          <a:bodyPr wrap="square" anchor="ctr" lIns="0" rIns="0" tIns="0" bIns="0">
            <a:spAutoFit/>
          </a:bodyPr>
          <a:lstStyle/>
          <a:p>
            <a:pPr algn="l"/>
            <a:r>
              <a:rPr sz="1300" b="0" i="0">
                <a:solidFill>
                  <a:srgbClr val="1F2D2C"/>
                </a:solidFill>
                <a:latin typeface="Aptos"/>
              </a:rPr>
              <a:t>Lưu trong Google Sheet; ảnh bằng chứng ở thư mục Drive riêng tư.</a:t>
            </a:r>
          </a:p>
        </p:txBody>
      </p:sp>
      <p:cxnSp>
        <p:nvCxnSpPr>
          <p:cNvPr id="33" name="Connector 32"/>
          <p:cNvCxnSpPr/>
          <p:nvPr/>
        </p:nvCxnSpPr>
        <p:spPr>
          <a:xfrm>
            <a:off x="420624" y="4315968"/>
            <a:ext cx="8174736"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420624" y="4517136"/>
            <a:ext cx="347472" cy="347472"/>
          </a:xfrm>
          <a:prstGeom prst="ellipse">
            <a:avLst/>
          </a:prstGeom>
          <a:solidFill>
            <a:srgbClr val="0F766E"/>
          </a:solidFill>
          <a:ln>
            <a:noFill/>
          </a:ln>
          <a:effectLst/>
        </p:spPr>
        <p:txBody>
          <a:bodyPr rtlCol="0" anchor="ctr"/>
          <a:lstStyle/>
          <a:p>
            <a:pPr algn="ctr"/>
          </a:p>
        </p:txBody>
      </p:sp>
      <p:sp>
        <p:nvSpPr>
          <p:cNvPr id="35" name="TextBox 34"/>
          <p:cNvSpPr txBox="1"/>
          <p:nvPr/>
        </p:nvSpPr>
        <p:spPr>
          <a:xfrm>
            <a:off x="420624" y="4517136"/>
            <a:ext cx="347472" cy="347472"/>
          </a:xfrm>
          <a:prstGeom prst="rect">
            <a:avLst/>
          </a:prstGeom>
          <a:noFill/>
        </p:spPr>
        <p:txBody>
          <a:bodyPr wrap="square" anchor="ctr" lIns="0" rIns="0" tIns="0" bIns="0">
            <a:spAutoFit/>
          </a:bodyPr>
          <a:lstStyle/>
          <a:p>
            <a:pPr algn="ctr"/>
            <a:r>
              <a:rPr sz="1300" b="1" i="0">
                <a:solidFill>
                  <a:srgbClr val="FFFFFF"/>
                </a:solidFill>
                <a:latin typeface="Aptos"/>
              </a:rPr>
              <a:t>5</a:t>
            </a:r>
          </a:p>
        </p:txBody>
      </p:sp>
      <p:sp>
        <p:nvSpPr>
          <p:cNvPr id="36" name="TextBox 35"/>
          <p:cNvSpPr txBox="1"/>
          <p:nvPr/>
        </p:nvSpPr>
        <p:spPr>
          <a:xfrm>
            <a:off x="960120" y="4352544"/>
            <a:ext cx="3017520" cy="676656"/>
          </a:xfrm>
          <a:prstGeom prst="rect">
            <a:avLst/>
          </a:prstGeom>
          <a:noFill/>
        </p:spPr>
        <p:txBody>
          <a:bodyPr wrap="square" anchor="ctr" lIns="0" rIns="0" tIns="0" bIns="0">
            <a:spAutoFit/>
          </a:bodyPr>
          <a:lstStyle/>
          <a:p>
            <a:pPr algn="l"/>
            <a:r>
              <a:rPr sz="1500" b="1" i="0">
                <a:solidFill>
                  <a:srgbClr val="0F4C47"/>
                </a:solidFill>
                <a:latin typeface="Aptos"/>
              </a:rPr>
              <a:t>Không mất thao tác</a:t>
            </a:r>
          </a:p>
        </p:txBody>
      </p:sp>
      <p:sp>
        <p:nvSpPr>
          <p:cNvPr id="37" name="TextBox 36"/>
          <p:cNvSpPr txBox="1"/>
          <p:nvPr/>
        </p:nvSpPr>
        <p:spPr>
          <a:xfrm>
            <a:off x="4023360" y="4352544"/>
            <a:ext cx="4572000" cy="676656"/>
          </a:xfrm>
          <a:prstGeom prst="rect">
            <a:avLst/>
          </a:prstGeom>
          <a:noFill/>
        </p:spPr>
        <p:txBody>
          <a:bodyPr wrap="square" anchor="ctr" lIns="0" rIns="0" tIns="0" bIns="0">
            <a:spAutoFit/>
          </a:bodyPr>
          <a:lstStyle/>
          <a:p>
            <a:pPr algn="l"/>
            <a:r>
              <a:rPr sz="1300" b="0" i="0">
                <a:solidFill>
                  <a:srgbClr val="1F2D2C"/>
                </a:solidFill>
                <a:latin typeface="Aptos"/>
              </a:rPr>
              <a:t>Ghi khi mạng yếu được giữ trên máy, tự gửi lại, không ghi trùng.</a:t>
            </a:r>
          </a:p>
        </p:txBody>
      </p:sp>
      <p:cxnSp>
        <p:nvCxnSpPr>
          <p:cNvPr id="38" name="Connector 37"/>
          <p:cNvCxnSpPr/>
          <p:nvPr/>
        </p:nvCxnSpPr>
        <p:spPr>
          <a:xfrm>
            <a:off x="420624" y="5084064"/>
            <a:ext cx="8174736"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420624" y="5285231"/>
            <a:ext cx="347472" cy="347472"/>
          </a:xfrm>
          <a:prstGeom prst="ellipse">
            <a:avLst/>
          </a:prstGeom>
          <a:solidFill>
            <a:srgbClr val="0F766E"/>
          </a:solidFill>
          <a:ln>
            <a:noFill/>
          </a:ln>
          <a:effectLst/>
        </p:spPr>
        <p:txBody>
          <a:bodyPr rtlCol="0" anchor="ctr"/>
          <a:lstStyle/>
          <a:p>
            <a:pPr algn="ctr"/>
          </a:p>
        </p:txBody>
      </p:sp>
      <p:sp>
        <p:nvSpPr>
          <p:cNvPr id="40" name="TextBox 39"/>
          <p:cNvSpPr txBox="1"/>
          <p:nvPr/>
        </p:nvSpPr>
        <p:spPr>
          <a:xfrm>
            <a:off x="420624" y="5285231"/>
            <a:ext cx="347472" cy="347472"/>
          </a:xfrm>
          <a:prstGeom prst="rect">
            <a:avLst/>
          </a:prstGeom>
          <a:noFill/>
        </p:spPr>
        <p:txBody>
          <a:bodyPr wrap="square" anchor="ctr" lIns="0" rIns="0" tIns="0" bIns="0">
            <a:spAutoFit/>
          </a:bodyPr>
          <a:lstStyle/>
          <a:p>
            <a:pPr algn="ctr"/>
            <a:r>
              <a:rPr sz="1300" b="1" i="0">
                <a:solidFill>
                  <a:srgbClr val="FFFFFF"/>
                </a:solidFill>
                <a:latin typeface="Aptos"/>
              </a:rPr>
              <a:t>6</a:t>
            </a:r>
          </a:p>
        </p:txBody>
      </p:sp>
      <p:sp>
        <p:nvSpPr>
          <p:cNvPr id="41" name="TextBox 40"/>
          <p:cNvSpPr txBox="1"/>
          <p:nvPr/>
        </p:nvSpPr>
        <p:spPr>
          <a:xfrm>
            <a:off x="960120" y="5120640"/>
            <a:ext cx="3017520" cy="676656"/>
          </a:xfrm>
          <a:prstGeom prst="rect">
            <a:avLst/>
          </a:prstGeom>
          <a:noFill/>
        </p:spPr>
        <p:txBody>
          <a:bodyPr wrap="square" anchor="ctr" lIns="0" rIns="0" tIns="0" bIns="0">
            <a:spAutoFit/>
          </a:bodyPr>
          <a:lstStyle/>
          <a:p>
            <a:pPr algn="l"/>
            <a:r>
              <a:rPr sz="1500" b="1" i="0">
                <a:solidFill>
                  <a:srgbClr val="0F4C47"/>
                </a:solidFill>
                <a:latin typeface="Aptos"/>
              </a:rPr>
              <a:t>Dữ liệu mẫu khi giới thiệu</a:t>
            </a:r>
          </a:p>
        </p:txBody>
      </p:sp>
      <p:sp>
        <p:nvSpPr>
          <p:cNvPr id="42" name="TextBox 41"/>
          <p:cNvSpPr txBox="1"/>
          <p:nvPr/>
        </p:nvSpPr>
        <p:spPr>
          <a:xfrm>
            <a:off x="4023360" y="5120640"/>
            <a:ext cx="4572000" cy="676656"/>
          </a:xfrm>
          <a:prstGeom prst="rect">
            <a:avLst/>
          </a:prstGeom>
          <a:noFill/>
        </p:spPr>
        <p:txBody>
          <a:bodyPr wrap="square" anchor="ctr" lIns="0" rIns="0" tIns="0" bIns="0">
            <a:spAutoFit/>
          </a:bodyPr>
          <a:lstStyle/>
          <a:p>
            <a:pPr algn="l"/>
            <a:r>
              <a:rPr sz="1300" b="0" i="0">
                <a:solidFill>
                  <a:srgbClr val="1F2D2C"/>
                </a:solidFill>
                <a:latin typeface="Aptos"/>
              </a:rPr>
              <a:t>Ảnh chụp, hướng dẫn và bản dùng thử đều dùng tên giả.</a:t>
            </a:r>
          </a:p>
        </p:txBody>
      </p:sp>
      <p:sp>
        <p:nvSpPr>
          <p:cNvPr id="43" name="Rounded Rectangle 42"/>
          <p:cNvSpPr/>
          <p:nvPr/>
        </p:nvSpPr>
        <p:spPr>
          <a:xfrm>
            <a:off x="9555718" y="1197864"/>
            <a:ext cx="2249185" cy="4782312"/>
          </a:xfrm>
          <a:prstGeom prst="roundRect">
            <a:avLst>
              <a:gd name="adj" fmla="val 2000"/>
            </a:avLst>
          </a:prstGeom>
          <a:solidFill>
            <a:srgbClr val="D5E3E2"/>
          </a:solidFill>
          <a:ln>
            <a:noFill/>
          </a:ln>
          <a:effectLst/>
        </p:spPr>
        <p:txBody>
          <a:bodyPr rtlCol="0" anchor="ctr"/>
          <a:lstStyle/>
          <a:p>
            <a:pPr algn="ctr"/>
          </a:p>
        </p:txBody>
      </p:sp>
      <p:pic>
        <p:nvPicPr>
          <p:cNvPr id="44" name="Picture 43" descr="login1.png"/>
          <p:cNvPicPr>
            <a:picLocks noChangeAspect="1"/>
          </p:cNvPicPr>
          <p:nvPr/>
        </p:nvPicPr>
        <p:blipFill>
          <a:blip r:embed="rId2"/>
          <a:stretch>
            <a:fillRect/>
          </a:stretch>
        </p:blipFill>
        <p:spPr>
          <a:xfrm>
            <a:off x="9592294" y="1234440"/>
            <a:ext cx="2176033" cy="47091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IV · HIỆU QUẢ</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17</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So với cách cũ: nhanh hơn, rõ ràng hơn, gần phụ huynh hơn</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8" name="TextBox 7"/>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9" name="TextBox 8"/>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0" name="TextBox 9"/>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1" name="Rounded Rectangle 10"/>
          <p:cNvSpPr/>
          <p:nvPr/>
        </p:nvSpPr>
        <p:spPr>
          <a:xfrm>
            <a:off x="8034528"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2" name="TextBox 11"/>
          <p:cNvSpPr txBox="1"/>
          <p:nvPr/>
        </p:nvSpPr>
        <p:spPr>
          <a:xfrm>
            <a:off x="8125968"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IV · HIỆU QUẢ</a:t>
            </a:r>
          </a:p>
        </p:txBody>
      </p:sp>
      <p:sp>
        <p:nvSpPr>
          <p:cNvPr id="13" name="TextBox 12"/>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graphicFrame>
        <p:nvGraphicFramePr>
          <p:cNvPr id="14" name="Table 13"/>
          <p:cNvGraphicFramePr>
            <a:graphicFrameLocks noGrp="1"/>
          </p:cNvGraphicFramePr>
          <p:nvPr/>
        </p:nvGraphicFramePr>
        <p:xfrm>
          <a:off x="420624" y="1280160"/>
          <a:ext cx="8778240" cy="4389120"/>
        </p:xfrm>
        <a:graphic>
          <a:graphicData uri="http://schemas.openxmlformats.org/drawingml/2006/table">
            <a:tbl>
              <a:tblPr firstRow="0" bandRow="0">
                <a:tableStyleId>{2D5ABB26-0587-4C30-8999-92F81FD0307C}</a:tableStyleId>
              </a:tblPr>
              <a:tblGrid>
                <a:gridCol w="2286000"/>
                <a:gridCol w="3200400"/>
                <a:gridCol w="3291840"/>
              </a:tblGrid>
              <a:tr h="548640">
                <a:tc>
                  <a:txBody>
                    <a:bodyPr/>
                    <a:lstStyle/>
                    <a:p>
                      <a:pPr algn="l"/>
                      <a:r>
                        <a:rPr sz="1300" b="1">
                          <a:solidFill>
                            <a:srgbClr val="0F4C47"/>
                          </a:solidFill>
                          <a:latin typeface="Aptos"/>
                        </a:rPr>
                        <a:t>Tiêu chí</a:t>
                      </a:r>
                    </a:p>
                  </a:txBody>
                  <a:tcPr marL="73152" marR="73152" marT="18288" marB="18288" anchor="ctr">
                    <a:lnL w="0">
                      <a:noFill/>
                    </a:lnL>
                    <a:lnR w="0">
                      <a:noFill/>
                    </a:lnR>
                    <a:lnT w="12700">
                      <a:solidFill>
                        <a:srgbClr val="2A9D8F"/>
                      </a:solidFill>
                    </a:lnT>
                    <a:lnB w="12700">
                      <a:solidFill>
                        <a:srgbClr val="2A9D8F"/>
                      </a:solidFill>
                    </a:lnB>
                    <a:solidFill>
                      <a:srgbClr val="E0F2F1"/>
                    </a:solidFill>
                  </a:tcPr>
                </a:tc>
                <a:tc>
                  <a:txBody>
                    <a:bodyPr/>
                    <a:lstStyle/>
                    <a:p>
                      <a:pPr algn="l"/>
                      <a:r>
                        <a:rPr sz="1300" b="1">
                          <a:solidFill>
                            <a:srgbClr val="0F4C47"/>
                          </a:solidFill>
                          <a:latin typeface="Aptos"/>
                        </a:rPr>
                        <a:t>Sổ giấy, Excel, Sheet rời</a:t>
                      </a:r>
                    </a:p>
                  </a:txBody>
                  <a:tcPr marL="73152" marR="73152" marT="18288" marB="18288" anchor="ctr">
                    <a:lnL w="0">
                      <a:noFill/>
                    </a:lnL>
                    <a:lnR w="0">
                      <a:noFill/>
                    </a:lnR>
                    <a:lnT w="12700">
                      <a:solidFill>
                        <a:srgbClr val="2A9D8F"/>
                      </a:solidFill>
                    </a:lnT>
                    <a:lnB w="12700">
                      <a:solidFill>
                        <a:srgbClr val="2A9D8F"/>
                      </a:solidFill>
                    </a:lnB>
                    <a:solidFill>
                      <a:srgbClr val="E0F2F1"/>
                    </a:solidFill>
                  </a:tcPr>
                </a:tc>
                <a:tc>
                  <a:txBody>
                    <a:bodyPr/>
                    <a:lstStyle/>
                    <a:p>
                      <a:pPr algn="l"/>
                      <a:r>
                        <a:rPr sz="1300" b="1">
                          <a:solidFill>
                            <a:srgbClr val="0F4C47"/>
                          </a:solidFill>
                          <a:latin typeface="Aptos"/>
                        </a:rPr>
                        <a:t>Sổ theo dõi học sinh</a:t>
                      </a:r>
                    </a:p>
                  </a:txBody>
                  <a:tcPr marL="73152" marR="73152" marT="18288" marB="18288" anchor="ctr">
                    <a:lnL w="0">
                      <a:noFill/>
                    </a:lnL>
                    <a:lnR w="0">
                      <a:noFill/>
                    </a:lnR>
                    <a:lnT w="12700">
                      <a:solidFill>
                        <a:srgbClr val="2A9D8F"/>
                      </a:solidFill>
                    </a:lnT>
                    <a:lnB w="12700">
                      <a:solidFill>
                        <a:srgbClr val="2A9D8F"/>
                      </a:solidFill>
                    </a:lnB>
                    <a:solidFill>
                      <a:srgbClr val="E0F2F1"/>
                    </a:solidFill>
                  </a:tcPr>
                </a:tc>
              </a:tr>
              <a:tr h="548640">
                <a:tc>
                  <a:txBody>
                    <a:bodyPr/>
                    <a:lstStyle/>
                    <a:p>
                      <a:pPr algn="l"/>
                      <a:r>
                        <a:rPr sz="1300" b="0">
                          <a:solidFill>
                            <a:srgbClr val="1F2D2C"/>
                          </a:solidFill>
                          <a:latin typeface="Aptos"/>
                        </a:rPr>
                        <a:t>Ghi nhận</a:t>
                      </a:r>
                    </a:p>
                  </a:txBody>
                  <a:tcPr marL="73152" marR="73152" marT="18288" marB="18288" anchor="ctr">
                    <a:lnL w="0">
                      <a:noFill/>
                    </a:lnL>
                    <a:lnR w="0">
                      <a:noFill/>
                    </a:lnR>
                    <a:lnT w="0">
                      <a:noFill/>
                    </a:lnT>
                    <a:lnB w="12700">
                      <a:solidFill>
                        <a:srgbClr val="D5E3E2"/>
                      </a:solidFill>
                    </a:lnB>
                    <a:noFill/>
                  </a:tcPr>
                </a:tc>
                <a:tc>
                  <a:txBody>
                    <a:bodyPr/>
                    <a:lstStyle/>
                    <a:p>
                      <a:pPr algn="l"/>
                      <a:r>
                        <a:rPr sz="1300" b="0">
                          <a:solidFill>
                            <a:srgbClr val="1F2D2C"/>
                          </a:solidFill>
                          <a:latin typeface="Aptos"/>
                        </a:rPr>
                        <a:t>Ghi sổ từng tổ, chép lại vào file</a:t>
                      </a:r>
                    </a:p>
                  </a:txBody>
                  <a:tcPr marL="73152" marR="73152" marT="18288" marB="18288" anchor="ctr">
                    <a:lnL w="0">
                      <a:noFill/>
                    </a:lnL>
                    <a:lnR w="0">
                      <a:noFill/>
                    </a:lnR>
                    <a:lnT w="0">
                      <a:noFill/>
                    </a:lnT>
                    <a:lnB w="12700">
                      <a:solidFill>
                        <a:srgbClr val="D5E3E2"/>
                      </a:solidFill>
                    </a:lnB>
                    <a:noFill/>
                  </a:tcPr>
                </a:tc>
                <a:tc>
                  <a:txBody>
                    <a:bodyPr/>
                    <a:lstStyle/>
                    <a:p>
                      <a:pPr algn="l"/>
                      <a:r>
                        <a:rPr sz="1300" b="1">
                          <a:solidFill>
                            <a:srgbClr val="0F4C47"/>
                          </a:solidFill>
                          <a:latin typeface="Aptos"/>
                        </a:rPr>
                        <a:t>Ghi một lần trên điện thoại</a:t>
                      </a:r>
                    </a:p>
                  </a:txBody>
                  <a:tcPr marL="73152" marR="73152" marT="18288" marB="18288" anchor="ctr">
                    <a:lnL w="0">
                      <a:noFill/>
                    </a:lnL>
                    <a:lnR w="0">
                      <a:noFill/>
                    </a:lnR>
                    <a:lnT w="0">
                      <a:noFill/>
                    </a:lnT>
                    <a:lnB w="12700">
                      <a:solidFill>
                        <a:srgbClr val="D5E3E2"/>
                      </a:solidFill>
                    </a:lnB>
                    <a:solidFill>
                      <a:srgbClr val="E0F2F1"/>
                    </a:solidFill>
                  </a:tcPr>
                </a:tc>
              </a:tr>
              <a:tr h="548640">
                <a:tc>
                  <a:txBody>
                    <a:bodyPr/>
                    <a:lstStyle/>
                    <a:p>
                      <a:pPr algn="l"/>
                      <a:r>
                        <a:rPr sz="1300" b="0">
                          <a:solidFill>
                            <a:srgbClr val="1F2D2C"/>
                          </a:solidFill>
                          <a:latin typeface="Aptos"/>
                        </a:rPr>
                        <a:t>Tổng hợp, xếp loại</a:t>
                      </a:r>
                    </a:p>
                  </a:txBody>
                  <a:tcPr marL="73152" marR="73152" marT="18288" marB="18288" anchor="ctr">
                    <a:lnL w="0">
                      <a:noFill/>
                    </a:lnL>
                    <a:lnR w="0">
                      <a:noFill/>
                    </a:lnR>
                    <a:lnT w="0">
                      <a:noFill/>
                    </a:lnT>
                    <a:lnB w="12700">
                      <a:solidFill>
                        <a:srgbClr val="D5E3E2"/>
                      </a:solidFill>
                    </a:lnB>
                    <a:noFill/>
                  </a:tcPr>
                </a:tc>
                <a:tc>
                  <a:txBody>
                    <a:bodyPr/>
                    <a:lstStyle/>
                    <a:p>
                      <a:pPr algn="l"/>
                      <a:r>
                        <a:rPr sz="1300" b="0">
                          <a:solidFill>
                            <a:srgbClr val="1F2D2C"/>
                          </a:solidFill>
                          <a:latin typeface="Aptos"/>
                        </a:rPr>
                        <a:t>Cộng tay cuối tuần, cuối tháng</a:t>
                      </a:r>
                    </a:p>
                  </a:txBody>
                  <a:tcPr marL="73152" marR="73152" marT="18288" marB="18288" anchor="ctr">
                    <a:lnL w="0">
                      <a:noFill/>
                    </a:lnL>
                    <a:lnR w="0">
                      <a:noFill/>
                    </a:lnR>
                    <a:lnT w="0">
                      <a:noFill/>
                    </a:lnT>
                    <a:lnB w="12700">
                      <a:solidFill>
                        <a:srgbClr val="D5E3E2"/>
                      </a:solidFill>
                    </a:lnB>
                    <a:noFill/>
                  </a:tcPr>
                </a:tc>
                <a:tc>
                  <a:txBody>
                    <a:bodyPr/>
                    <a:lstStyle/>
                    <a:p>
                      <a:pPr algn="l"/>
                      <a:r>
                        <a:rPr sz="1300" b="1">
                          <a:solidFill>
                            <a:srgbClr val="0F4C47"/>
                          </a:solidFill>
                          <a:latin typeface="Aptos"/>
                        </a:rPr>
                        <a:t>Tự động, cập nhật tức thì</a:t>
                      </a:r>
                    </a:p>
                  </a:txBody>
                  <a:tcPr marL="73152" marR="73152" marT="18288" marB="18288" anchor="ctr">
                    <a:lnL w="0">
                      <a:noFill/>
                    </a:lnL>
                    <a:lnR w="0">
                      <a:noFill/>
                    </a:lnR>
                    <a:lnT w="0">
                      <a:noFill/>
                    </a:lnT>
                    <a:lnB w="12700">
                      <a:solidFill>
                        <a:srgbClr val="D5E3E2"/>
                      </a:solidFill>
                    </a:lnB>
                    <a:solidFill>
                      <a:srgbClr val="E0F2F1"/>
                    </a:solidFill>
                  </a:tcPr>
                </a:tc>
              </a:tr>
              <a:tr h="548640">
                <a:tc>
                  <a:txBody>
                    <a:bodyPr/>
                    <a:lstStyle/>
                    <a:p>
                      <a:pPr algn="l"/>
                      <a:r>
                        <a:rPr sz="1300" b="0">
                          <a:solidFill>
                            <a:srgbClr val="1F2D2C"/>
                          </a:solidFill>
                          <a:latin typeface="Aptos"/>
                        </a:rPr>
                        <a:t>Nguồn gốc điểm</a:t>
                      </a:r>
                    </a:p>
                  </a:txBody>
                  <a:tcPr marL="73152" marR="73152" marT="18288" marB="18288" anchor="ctr">
                    <a:lnL w="0">
                      <a:noFill/>
                    </a:lnL>
                    <a:lnR w="0">
                      <a:noFill/>
                    </a:lnR>
                    <a:lnT w="0">
                      <a:noFill/>
                    </a:lnT>
                    <a:lnB w="12700">
                      <a:solidFill>
                        <a:srgbClr val="D5E3E2"/>
                      </a:solidFill>
                    </a:lnB>
                    <a:noFill/>
                  </a:tcPr>
                </a:tc>
                <a:tc>
                  <a:txBody>
                    <a:bodyPr/>
                    <a:lstStyle/>
                    <a:p>
                      <a:pPr algn="l"/>
                      <a:r>
                        <a:rPr sz="1300" b="0">
                          <a:solidFill>
                            <a:srgbClr val="1F2D2C"/>
                          </a:solidFill>
                          <a:latin typeface="Aptos"/>
                        </a:rPr>
                        <a:t>Phải lật sổ, hỏi lại</a:t>
                      </a:r>
                    </a:p>
                  </a:txBody>
                  <a:tcPr marL="73152" marR="73152" marT="18288" marB="18288" anchor="ctr">
                    <a:lnL w="0">
                      <a:noFill/>
                    </a:lnL>
                    <a:lnR w="0">
                      <a:noFill/>
                    </a:lnR>
                    <a:lnT w="0">
                      <a:noFill/>
                    </a:lnT>
                    <a:lnB w="12700">
                      <a:solidFill>
                        <a:srgbClr val="D5E3E2"/>
                      </a:solidFill>
                    </a:lnB>
                    <a:noFill/>
                  </a:tcPr>
                </a:tc>
                <a:tc>
                  <a:txBody>
                    <a:bodyPr/>
                    <a:lstStyle/>
                    <a:p>
                      <a:pPr algn="l"/>
                      <a:r>
                        <a:rPr sz="1300" b="1">
                          <a:solidFill>
                            <a:srgbClr val="0F4C47"/>
                          </a:solidFill>
                          <a:latin typeface="Aptos"/>
                        </a:rPr>
                        <a:t>Rê chuột là thấy, có ảnh bằng chứng</a:t>
                      </a:r>
                    </a:p>
                  </a:txBody>
                  <a:tcPr marL="73152" marR="73152" marT="18288" marB="18288" anchor="ctr">
                    <a:lnL w="0">
                      <a:noFill/>
                    </a:lnL>
                    <a:lnR w="0">
                      <a:noFill/>
                    </a:lnR>
                    <a:lnT w="0">
                      <a:noFill/>
                    </a:lnT>
                    <a:lnB w="12700">
                      <a:solidFill>
                        <a:srgbClr val="D5E3E2"/>
                      </a:solidFill>
                    </a:lnB>
                    <a:solidFill>
                      <a:srgbClr val="E0F2F1"/>
                    </a:solidFill>
                  </a:tcPr>
                </a:tc>
              </a:tr>
              <a:tr h="548640">
                <a:tc>
                  <a:txBody>
                    <a:bodyPr/>
                    <a:lstStyle/>
                    <a:p>
                      <a:pPr algn="l"/>
                      <a:r>
                        <a:rPr sz="1300" b="0">
                          <a:solidFill>
                            <a:srgbClr val="1F2D2C"/>
                          </a:solidFill>
                          <a:latin typeface="Aptos"/>
                        </a:rPr>
                        <a:t>Báo cáo</a:t>
                      </a:r>
                    </a:p>
                  </a:txBody>
                  <a:tcPr marL="73152" marR="73152" marT="18288" marB="18288" anchor="ctr">
                    <a:lnL w="0">
                      <a:noFill/>
                    </a:lnL>
                    <a:lnR w="0">
                      <a:noFill/>
                    </a:lnR>
                    <a:lnT w="0">
                      <a:noFill/>
                    </a:lnT>
                    <a:lnB w="12700">
                      <a:solidFill>
                        <a:srgbClr val="D5E3E2"/>
                      </a:solidFill>
                    </a:lnB>
                    <a:noFill/>
                  </a:tcPr>
                </a:tc>
                <a:tc>
                  <a:txBody>
                    <a:bodyPr/>
                    <a:lstStyle/>
                    <a:p>
                      <a:pPr algn="l"/>
                      <a:r>
                        <a:rPr sz="1300" b="0">
                          <a:solidFill>
                            <a:srgbClr val="1F2D2C"/>
                          </a:solidFill>
                          <a:latin typeface="Aptos"/>
                        </a:rPr>
                        <a:t>Soạn văn bản thủ công</a:t>
                      </a:r>
                    </a:p>
                  </a:txBody>
                  <a:tcPr marL="73152" marR="73152" marT="18288" marB="18288" anchor="ctr">
                    <a:lnL w="0">
                      <a:noFill/>
                    </a:lnL>
                    <a:lnR w="0">
                      <a:noFill/>
                    </a:lnR>
                    <a:lnT w="0">
                      <a:noFill/>
                    </a:lnT>
                    <a:lnB w="12700">
                      <a:solidFill>
                        <a:srgbClr val="D5E3E2"/>
                      </a:solidFill>
                    </a:lnB>
                    <a:noFill/>
                  </a:tcPr>
                </a:tc>
                <a:tc>
                  <a:txBody>
                    <a:bodyPr/>
                    <a:lstStyle/>
                    <a:p>
                      <a:pPr algn="l"/>
                      <a:r>
                        <a:rPr sz="1300" b="1">
                          <a:solidFill>
                            <a:srgbClr val="0F4C47"/>
                          </a:solidFill>
                          <a:latin typeface="Aptos"/>
                        </a:rPr>
                        <a:t>Tự soạn, xuất PDF một nút</a:t>
                      </a:r>
                    </a:p>
                  </a:txBody>
                  <a:tcPr marL="73152" marR="73152" marT="18288" marB="18288" anchor="ctr">
                    <a:lnL w="0">
                      <a:noFill/>
                    </a:lnL>
                    <a:lnR w="0">
                      <a:noFill/>
                    </a:lnR>
                    <a:lnT w="0">
                      <a:noFill/>
                    </a:lnT>
                    <a:lnB w="12700">
                      <a:solidFill>
                        <a:srgbClr val="D5E3E2"/>
                      </a:solidFill>
                    </a:lnB>
                    <a:solidFill>
                      <a:srgbClr val="E0F2F1"/>
                    </a:solidFill>
                  </a:tcPr>
                </a:tc>
              </a:tr>
              <a:tr h="548640">
                <a:tc>
                  <a:txBody>
                    <a:bodyPr/>
                    <a:lstStyle/>
                    <a:p>
                      <a:pPr algn="l"/>
                      <a:r>
                        <a:rPr sz="1300" b="0">
                          <a:solidFill>
                            <a:srgbClr val="1F2D2C"/>
                          </a:solidFill>
                          <a:latin typeface="Aptos"/>
                        </a:rPr>
                        <a:t>Phụ huynh</a:t>
                      </a:r>
                    </a:p>
                  </a:txBody>
                  <a:tcPr marL="73152" marR="73152" marT="18288" marB="18288" anchor="ctr">
                    <a:lnL w="0">
                      <a:noFill/>
                    </a:lnL>
                    <a:lnR w="0">
                      <a:noFill/>
                    </a:lnR>
                    <a:lnT w="0">
                      <a:noFill/>
                    </a:lnT>
                    <a:lnB w="12700">
                      <a:solidFill>
                        <a:srgbClr val="D5E3E2"/>
                      </a:solidFill>
                    </a:lnB>
                    <a:noFill/>
                  </a:tcPr>
                </a:tc>
                <a:tc>
                  <a:txBody>
                    <a:bodyPr/>
                    <a:lstStyle/>
                    <a:p>
                      <a:pPr algn="l"/>
                      <a:r>
                        <a:rPr sz="1300" b="0">
                          <a:solidFill>
                            <a:srgbClr val="1F2D2C"/>
                          </a:solidFill>
                          <a:latin typeface="Aptos"/>
                        </a:rPr>
                        <a:t>Biết qua họp, tin nhắn lẻ</a:t>
                      </a:r>
                    </a:p>
                  </a:txBody>
                  <a:tcPr marL="73152" marR="73152" marT="18288" marB="18288" anchor="ctr">
                    <a:lnL w="0">
                      <a:noFill/>
                    </a:lnL>
                    <a:lnR w="0">
                      <a:noFill/>
                    </a:lnR>
                    <a:lnT w="0">
                      <a:noFill/>
                    </a:lnT>
                    <a:lnB w="12700">
                      <a:solidFill>
                        <a:srgbClr val="D5E3E2"/>
                      </a:solidFill>
                    </a:lnB>
                    <a:noFill/>
                  </a:tcPr>
                </a:tc>
                <a:tc>
                  <a:txBody>
                    <a:bodyPr/>
                    <a:lstStyle/>
                    <a:p>
                      <a:pPr algn="l"/>
                      <a:r>
                        <a:rPr sz="1300" b="1">
                          <a:solidFill>
                            <a:srgbClr val="0F4C47"/>
                          </a:solidFill>
                          <a:latin typeface="Aptos"/>
                        </a:rPr>
                        <a:t>Nhận email ngay, xem mọi lúc</a:t>
                      </a:r>
                    </a:p>
                  </a:txBody>
                  <a:tcPr marL="73152" marR="73152" marT="18288" marB="18288" anchor="ctr">
                    <a:lnL w="0">
                      <a:noFill/>
                    </a:lnL>
                    <a:lnR w="0">
                      <a:noFill/>
                    </a:lnR>
                    <a:lnT w="0">
                      <a:noFill/>
                    </a:lnT>
                    <a:lnB w="12700">
                      <a:solidFill>
                        <a:srgbClr val="D5E3E2"/>
                      </a:solidFill>
                    </a:lnB>
                    <a:solidFill>
                      <a:srgbClr val="E0F2F1"/>
                    </a:solidFill>
                  </a:tcPr>
                </a:tc>
              </a:tr>
              <a:tr h="548640">
                <a:tc>
                  <a:txBody>
                    <a:bodyPr/>
                    <a:lstStyle/>
                    <a:p>
                      <a:pPr algn="l"/>
                      <a:r>
                        <a:rPr sz="1300" b="0">
                          <a:solidFill>
                            <a:srgbClr val="1F2D2C"/>
                          </a:solidFill>
                          <a:latin typeface="Aptos"/>
                        </a:rPr>
                        <a:t>Kiểm soát việc sửa</a:t>
                      </a:r>
                    </a:p>
                  </a:txBody>
                  <a:tcPr marL="73152" marR="73152" marT="18288" marB="18288" anchor="ctr">
                    <a:lnL w="0">
                      <a:noFill/>
                    </a:lnL>
                    <a:lnR w="0">
                      <a:noFill/>
                    </a:lnR>
                    <a:lnT w="0">
                      <a:noFill/>
                    </a:lnT>
                    <a:lnB w="12700">
                      <a:solidFill>
                        <a:srgbClr val="D5E3E2"/>
                      </a:solidFill>
                    </a:lnB>
                    <a:noFill/>
                  </a:tcPr>
                </a:tc>
                <a:tc>
                  <a:txBody>
                    <a:bodyPr/>
                    <a:lstStyle/>
                    <a:p>
                      <a:pPr algn="l"/>
                      <a:r>
                        <a:rPr sz="1300" b="0">
                          <a:solidFill>
                            <a:srgbClr val="1F2D2C"/>
                          </a:solidFill>
                          <a:latin typeface="Aptos"/>
                        </a:rPr>
                        <a:t>Khó biết ai sửa, sửa khi nào</a:t>
                      </a:r>
                    </a:p>
                  </a:txBody>
                  <a:tcPr marL="73152" marR="73152" marT="18288" marB="18288" anchor="ctr">
                    <a:lnL w="0">
                      <a:noFill/>
                    </a:lnL>
                    <a:lnR w="0">
                      <a:noFill/>
                    </a:lnR>
                    <a:lnT w="0">
                      <a:noFill/>
                    </a:lnT>
                    <a:lnB w="12700">
                      <a:solidFill>
                        <a:srgbClr val="D5E3E2"/>
                      </a:solidFill>
                    </a:lnB>
                    <a:noFill/>
                  </a:tcPr>
                </a:tc>
                <a:tc>
                  <a:txBody>
                    <a:bodyPr/>
                    <a:lstStyle/>
                    <a:p>
                      <a:pPr algn="l"/>
                      <a:r>
                        <a:rPr sz="1300" b="1">
                          <a:solidFill>
                            <a:srgbClr val="0F4C47"/>
                          </a:solidFill>
                          <a:latin typeface="Aptos"/>
                        </a:rPr>
                        <a:t>Ghi rõ người ghi, khoá sổ cuối tháng</a:t>
                      </a:r>
                    </a:p>
                  </a:txBody>
                  <a:tcPr marL="73152" marR="73152" marT="18288" marB="18288" anchor="ctr">
                    <a:lnL w="0">
                      <a:noFill/>
                    </a:lnL>
                    <a:lnR w="0">
                      <a:noFill/>
                    </a:lnR>
                    <a:lnT w="0">
                      <a:noFill/>
                    </a:lnT>
                    <a:lnB w="12700">
                      <a:solidFill>
                        <a:srgbClr val="D5E3E2"/>
                      </a:solidFill>
                    </a:lnB>
                    <a:solidFill>
                      <a:srgbClr val="E0F2F1"/>
                    </a:solidFill>
                  </a:tcPr>
                </a:tc>
              </a:tr>
              <a:tr h="548640">
                <a:tc>
                  <a:txBody>
                    <a:bodyPr/>
                    <a:lstStyle/>
                    <a:p>
                      <a:pPr algn="l"/>
                      <a:r>
                        <a:rPr sz="1300" b="0">
                          <a:solidFill>
                            <a:srgbClr val="1F2D2C"/>
                          </a:solidFill>
                          <a:latin typeface="Aptos"/>
                        </a:rPr>
                        <a:t>Chi phí</a:t>
                      </a:r>
                    </a:p>
                  </a:txBody>
                  <a:tcPr marL="73152" marR="73152" marT="18288" marB="18288" anchor="ctr">
                    <a:lnL w="0">
                      <a:noFill/>
                    </a:lnL>
                    <a:lnR w="0">
                      <a:noFill/>
                    </a:lnR>
                    <a:lnT w="0">
                      <a:noFill/>
                    </a:lnT>
                    <a:lnB w="12700">
                      <a:solidFill>
                        <a:srgbClr val="D5E3E2"/>
                      </a:solidFill>
                    </a:lnB>
                    <a:noFill/>
                  </a:tcPr>
                </a:tc>
                <a:tc>
                  <a:txBody>
                    <a:bodyPr/>
                    <a:lstStyle/>
                    <a:p>
                      <a:pPr algn="l"/>
                      <a:r>
                        <a:rPr sz="1300" b="0">
                          <a:solidFill>
                            <a:srgbClr val="1F2D2C"/>
                          </a:solidFill>
                          <a:latin typeface="Aptos"/>
                        </a:rPr>
                        <a:t>Giấy, thời gian của giáo viên</a:t>
                      </a:r>
                    </a:p>
                  </a:txBody>
                  <a:tcPr marL="73152" marR="73152" marT="18288" marB="18288" anchor="ctr">
                    <a:lnL w="0">
                      <a:noFill/>
                    </a:lnL>
                    <a:lnR w="0">
                      <a:noFill/>
                    </a:lnR>
                    <a:lnT w="0">
                      <a:noFill/>
                    </a:lnT>
                    <a:lnB w="12700">
                      <a:solidFill>
                        <a:srgbClr val="D5E3E2"/>
                      </a:solidFill>
                    </a:lnB>
                    <a:noFill/>
                  </a:tcPr>
                </a:tc>
                <a:tc>
                  <a:txBody>
                    <a:bodyPr/>
                    <a:lstStyle/>
                    <a:p>
                      <a:pPr algn="l"/>
                      <a:r>
                        <a:rPr sz="1300" b="1">
                          <a:solidFill>
                            <a:srgbClr val="0F4C47"/>
                          </a:solidFill>
                          <a:latin typeface="Aptos"/>
                        </a:rPr>
                        <a:t>Dịch vụ miễn phí của Google, GitHub</a:t>
                      </a:r>
                    </a:p>
                  </a:txBody>
                  <a:tcPr marL="73152" marR="73152" marT="18288" marB="18288" anchor="ctr">
                    <a:lnL w="0">
                      <a:noFill/>
                    </a:lnL>
                    <a:lnR w="0">
                      <a:noFill/>
                    </a:lnR>
                    <a:lnT w="0">
                      <a:noFill/>
                    </a:lnT>
                    <a:lnB w="12700">
                      <a:solidFill>
                        <a:srgbClr val="D5E3E2"/>
                      </a:solidFill>
                    </a:lnB>
                    <a:solidFill>
                      <a:srgbClr val="E0F2F1"/>
                    </a:solidFill>
                  </a:tcPr>
                </a:tc>
              </a:tr>
            </a:tbl>
          </a:graphicData>
        </a:graphic>
      </p:graphicFrame>
      <p:pic>
        <p:nvPicPr>
          <p:cNvPr id="15" name="Picture 14" descr="c_chu-nhiem_khen-lon.png"/>
          <p:cNvPicPr>
            <a:picLocks noChangeAspect="1"/>
          </p:cNvPicPr>
          <p:nvPr/>
        </p:nvPicPr>
        <p:blipFill>
          <a:blip r:embed="rId2"/>
          <a:stretch>
            <a:fillRect/>
          </a:stretch>
        </p:blipFill>
        <p:spPr>
          <a:xfrm>
            <a:off x="9418320" y="1463040"/>
            <a:ext cx="4114800" cy="41148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8595360" y="1234440"/>
            <a:ext cx="3172968" cy="4233672"/>
          </a:xfrm>
          <a:prstGeom prst="rect">
            <a:avLst/>
          </a:prstGeom>
          <a:solidFill>
            <a:srgbClr val="F4F7F7"/>
          </a:solidFill>
          <a:ln>
            <a:noFill/>
          </a:ln>
          <a:effectLst/>
        </p:spPr>
        <p:txBody>
          <a:bodyPr rtlCol="0" anchor="ctr"/>
          <a:lstStyle/>
          <a:p>
            <a:pPr algn="ctr"/>
          </a:p>
        </p:txBody>
      </p:sp>
      <p:sp>
        <p:nvSpPr>
          <p:cNvPr id="4" name="TextBox 3"/>
          <p:cNvSpPr txBox="1"/>
          <p:nvPr/>
        </p:nvSpPr>
        <p:spPr>
          <a:xfrm>
            <a:off x="8595360" y="3168396"/>
            <a:ext cx="3172968" cy="365760"/>
          </a:xfrm>
          <a:prstGeom prst="rect">
            <a:avLst/>
          </a:prstGeom>
          <a:noFill/>
        </p:spPr>
        <p:txBody>
          <a:bodyPr wrap="square" anchor="ctr" lIns="0" rIns="0" tIns="0" bIns="0">
            <a:spAutoFit/>
          </a:bodyPr>
          <a:lstStyle/>
          <a:p>
            <a:pPr algn="ctr"/>
            <a:r>
              <a:rPr sz="1300" b="1" i="0">
                <a:solidFill>
                  <a:srgbClr val="5F7472"/>
                </a:solidFill>
                <a:latin typeface="Aptos"/>
              </a:rPr>
              <a:t>ẢNH 03 · 3:4</a:t>
            </a:r>
          </a:p>
        </p:txBody>
      </p:sp>
      <p:sp>
        <p:nvSpPr>
          <p:cNvPr id="2" name="Picture Placeholder 1"/>
          <p:cNvSpPr>
            <a:spLocks noGrp="1"/>
          </p:cNvSpPr>
          <p:nvPr>
            <p:ph type="pic" idx="20" sz="quarter"/>
          </p:nvPr>
        </p:nvSpPr>
        <p:spPr/>
        <p:txBody>
          <a:bodyPr/>
          <a:p/>
        </p:txBody>
      </p:sp>
      <p:cxnSp>
        <p:nvCxnSpPr>
          <p:cNvPr id="5" name="Connector 4"/>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IV · HIỆU QUẢ</a:t>
            </a:r>
          </a:p>
        </p:txBody>
      </p:sp>
      <p:sp>
        <p:nvSpPr>
          <p:cNvPr id="7" name="TextBox 6"/>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18</a:t>
            </a:r>
          </a:p>
        </p:txBody>
      </p:sp>
      <p:sp>
        <p:nvSpPr>
          <p:cNvPr id="8" name="TextBox 7"/>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Lợi ích cho học sinh, giáo viên, phụ huynh và nhà trường</a:t>
            </a:r>
          </a:p>
        </p:txBody>
      </p:sp>
      <p:cxnSp>
        <p:nvCxnSpPr>
          <p:cNvPr id="9" name="Connector 8"/>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11" name="TextBox 10"/>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12" name="TextBox 11"/>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3" name="TextBox 12"/>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4" name="Rounded Rectangle 13"/>
          <p:cNvSpPr/>
          <p:nvPr/>
        </p:nvSpPr>
        <p:spPr>
          <a:xfrm>
            <a:off x="8034528"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5" name="TextBox 14"/>
          <p:cNvSpPr txBox="1"/>
          <p:nvPr/>
        </p:nvSpPr>
        <p:spPr>
          <a:xfrm>
            <a:off x="8125968"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IV · HIỆU QUẢ</a:t>
            </a:r>
          </a:p>
        </p:txBody>
      </p:sp>
      <p:sp>
        <p:nvSpPr>
          <p:cNvPr id="16" name="TextBox 15"/>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sp>
        <p:nvSpPr>
          <p:cNvPr id="17" name="Rounded Rectangle 16"/>
          <p:cNvSpPr/>
          <p:nvPr/>
        </p:nvSpPr>
        <p:spPr>
          <a:xfrm>
            <a:off x="420624" y="1234440"/>
            <a:ext cx="2606040" cy="2240280"/>
          </a:xfrm>
          <a:prstGeom prst="roundRect">
            <a:avLst>
              <a:gd name="adj" fmla="val 6000"/>
            </a:avLst>
          </a:prstGeom>
          <a:solidFill>
            <a:srgbClr val="F4F7F7"/>
          </a:solidFill>
          <a:ln>
            <a:noFill/>
          </a:ln>
          <a:effectLst/>
        </p:spPr>
        <p:txBody>
          <a:bodyPr rtlCol="0" anchor="ctr"/>
          <a:lstStyle/>
          <a:p>
            <a:pPr algn="ctr"/>
          </a:p>
        </p:txBody>
      </p:sp>
      <p:sp>
        <p:nvSpPr>
          <p:cNvPr id="18" name="Oval 17"/>
          <p:cNvSpPr/>
          <p:nvPr/>
        </p:nvSpPr>
        <p:spPr>
          <a:xfrm>
            <a:off x="603504" y="1435608"/>
            <a:ext cx="347472" cy="347472"/>
          </a:xfrm>
          <a:prstGeom prst="ellipse">
            <a:avLst/>
          </a:prstGeom>
          <a:solidFill>
            <a:srgbClr val="0F766E"/>
          </a:solidFill>
          <a:ln>
            <a:noFill/>
          </a:ln>
          <a:effectLst/>
        </p:spPr>
        <p:txBody>
          <a:bodyPr rtlCol="0" anchor="ctr"/>
          <a:lstStyle/>
          <a:p>
            <a:pPr algn="ctr"/>
          </a:p>
        </p:txBody>
      </p:sp>
      <p:sp>
        <p:nvSpPr>
          <p:cNvPr id="19" name="TextBox 18"/>
          <p:cNvSpPr txBox="1"/>
          <p:nvPr/>
        </p:nvSpPr>
        <p:spPr>
          <a:xfrm>
            <a:off x="603504" y="1435608"/>
            <a:ext cx="347472" cy="347472"/>
          </a:xfrm>
          <a:prstGeom prst="rect">
            <a:avLst/>
          </a:prstGeom>
          <a:noFill/>
        </p:spPr>
        <p:txBody>
          <a:bodyPr wrap="square" anchor="ctr" lIns="0" rIns="0" tIns="0" bIns="0">
            <a:spAutoFit/>
          </a:bodyPr>
          <a:lstStyle/>
          <a:p>
            <a:pPr algn="ctr"/>
            <a:r>
              <a:rPr sz="1300" b="1" i="0">
                <a:solidFill>
                  <a:srgbClr val="FFFFFF"/>
                </a:solidFill>
                <a:latin typeface="Aptos"/>
              </a:rPr>
              <a:t>1</a:t>
            </a:r>
          </a:p>
        </p:txBody>
      </p:sp>
      <p:sp>
        <p:nvSpPr>
          <p:cNvPr id="20" name="TextBox 19"/>
          <p:cNvSpPr txBox="1"/>
          <p:nvPr/>
        </p:nvSpPr>
        <p:spPr>
          <a:xfrm>
            <a:off x="1060704" y="1417320"/>
            <a:ext cx="1828800" cy="384048"/>
          </a:xfrm>
          <a:prstGeom prst="rect">
            <a:avLst/>
          </a:prstGeom>
          <a:noFill/>
        </p:spPr>
        <p:txBody>
          <a:bodyPr wrap="square" anchor="ctr" lIns="0" rIns="0" tIns="0" bIns="0">
            <a:spAutoFit/>
          </a:bodyPr>
          <a:lstStyle/>
          <a:p>
            <a:pPr algn="l"/>
            <a:r>
              <a:rPr sz="1600" b="1" i="0">
                <a:solidFill>
                  <a:srgbClr val="0F4C47"/>
                </a:solidFill>
                <a:latin typeface="Aptos"/>
              </a:rPr>
              <a:t>Học sinh</a:t>
            </a:r>
          </a:p>
        </p:txBody>
      </p:sp>
      <p:sp>
        <p:nvSpPr>
          <p:cNvPr id="21" name="TextBox 20"/>
          <p:cNvSpPr txBox="1"/>
          <p:nvPr/>
        </p:nvSpPr>
        <p:spPr>
          <a:xfrm>
            <a:off x="603504" y="1965960"/>
            <a:ext cx="2240280" cy="1417320"/>
          </a:xfrm>
          <a:prstGeom prst="rect">
            <a:avLst/>
          </a:prstGeom>
          <a:noFill/>
        </p:spPr>
        <p:txBody>
          <a:bodyPr wrap="square" anchor="t" lIns="0" rIns="0" tIns="0" bIns="0">
            <a:spAutoFit/>
          </a:bodyPr>
          <a:lstStyle/>
          <a:p>
            <a:pPr algn="l"/>
            <a:r>
              <a:rPr sz="1300" b="0" i="0">
                <a:solidFill>
                  <a:srgbClr val="1F2D2C"/>
                </a:solidFill>
                <a:latin typeface="Aptos"/>
              </a:rPr>
              <a:t>Biết ngay vì sao được cộng, bị trừ; tự điều chỉnh sớm.</a:t>
            </a:r>
          </a:p>
        </p:txBody>
      </p:sp>
      <p:sp>
        <p:nvSpPr>
          <p:cNvPr id="22" name="Rounded Rectangle 21"/>
          <p:cNvSpPr/>
          <p:nvPr/>
        </p:nvSpPr>
        <p:spPr>
          <a:xfrm>
            <a:off x="3145536" y="1234440"/>
            <a:ext cx="2606040" cy="2240280"/>
          </a:xfrm>
          <a:prstGeom prst="roundRect">
            <a:avLst>
              <a:gd name="adj" fmla="val 6000"/>
            </a:avLst>
          </a:prstGeom>
          <a:solidFill>
            <a:srgbClr val="F4F7F7"/>
          </a:solidFill>
          <a:ln>
            <a:noFill/>
          </a:ln>
          <a:effectLst/>
        </p:spPr>
        <p:txBody>
          <a:bodyPr rtlCol="0" anchor="ctr"/>
          <a:lstStyle/>
          <a:p>
            <a:pPr algn="ctr"/>
          </a:p>
        </p:txBody>
      </p:sp>
      <p:sp>
        <p:nvSpPr>
          <p:cNvPr id="23" name="Oval 22"/>
          <p:cNvSpPr/>
          <p:nvPr/>
        </p:nvSpPr>
        <p:spPr>
          <a:xfrm>
            <a:off x="3328416" y="1435608"/>
            <a:ext cx="347472" cy="347472"/>
          </a:xfrm>
          <a:prstGeom prst="ellipse">
            <a:avLst/>
          </a:prstGeom>
          <a:solidFill>
            <a:srgbClr val="0F766E"/>
          </a:solidFill>
          <a:ln>
            <a:noFill/>
          </a:ln>
          <a:effectLst/>
        </p:spPr>
        <p:txBody>
          <a:bodyPr rtlCol="0" anchor="ctr"/>
          <a:lstStyle/>
          <a:p>
            <a:pPr algn="ctr"/>
          </a:p>
        </p:txBody>
      </p:sp>
      <p:sp>
        <p:nvSpPr>
          <p:cNvPr id="24" name="TextBox 23"/>
          <p:cNvSpPr txBox="1"/>
          <p:nvPr/>
        </p:nvSpPr>
        <p:spPr>
          <a:xfrm>
            <a:off x="3328416" y="1435608"/>
            <a:ext cx="347472" cy="347472"/>
          </a:xfrm>
          <a:prstGeom prst="rect">
            <a:avLst/>
          </a:prstGeom>
          <a:noFill/>
        </p:spPr>
        <p:txBody>
          <a:bodyPr wrap="square" anchor="ctr" lIns="0" rIns="0" tIns="0" bIns="0">
            <a:spAutoFit/>
          </a:bodyPr>
          <a:lstStyle/>
          <a:p>
            <a:pPr algn="ctr"/>
            <a:r>
              <a:rPr sz="1300" b="1" i="0">
                <a:solidFill>
                  <a:srgbClr val="FFFFFF"/>
                </a:solidFill>
                <a:latin typeface="Aptos"/>
              </a:rPr>
              <a:t>2</a:t>
            </a:r>
          </a:p>
        </p:txBody>
      </p:sp>
      <p:sp>
        <p:nvSpPr>
          <p:cNvPr id="25" name="TextBox 24"/>
          <p:cNvSpPr txBox="1"/>
          <p:nvPr/>
        </p:nvSpPr>
        <p:spPr>
          <a:xfrm>
            <a:off x="3785615" y="1417320"/>
            <a:ext cx="1828800" cy="384048"/>
          </a:xfrm>
          <a:prstGeom prst="rect">
            <a:avLst/>
          </a:prstGeom>
          <a:noFill/>
        </p:spPr>
        <p:txBody>
          <a:bodyPr wrap="square" anchor="ctr" lIns="0" rIns="0" tIns="0" bIns="0">
            <a:spAutoFit/>
          </a:bodyPr>
          <a:lstStyle/>
          <a:p>
            <a:pPr algn="l"/>
            <a:r>
              <a:rPr sz="1600" b="1" i="0">
                <a:solidFill>
                  <a:srgbClr val="0F4C47"/>
                </a:solidFill>
                <a:latin typeface="Aptos"/>
              </a:rPr>
              <a:t>Cán bộ lớp</a:t>
            </a:r>
          </a:p>
        </p:txBody>
      </p:sp>
      <p:sp>
        <p:nvSpPr>
          <p:cNvPr id="26" name="TextBox 25"/>
          <p:cNvSpPr txBox="1"/>
          <p:nvPr/>
        </p:nvSpPr>
        <p:spPr>
          <a:xfrm>
            <a:off x="3328416" y="1965960"/>
            <a:ext cx="2240280" cy="1417320"/>
          </a:xfrm>
          <a:prstGeom prst="rect">
            <a:avLst/>
          </a:prstGeom>
          <a:noFill/>
        </p:spPr>
        <p:txBody>
          <a:bodyPr wrap="square" anchor="t" lIns="0" rIns="0" tIns="0" bIns="0">
            <a:spAutoFit/>
          </a:bodyPr>
          <a:lstStyle/>
          <a:p>
            <a:pPr algn="l"/>
            <a:r>
              <a:rPr sz="1300" b="0" i="0">
                <a:solidFill>
                  <a:srgbClr val="1F2D2C"/>
                </a:solidFill>
                <a:latin typeface="Aptos"/>
              </a:rPr>
              <a:t>Ghi nhanh trên điện thoại; rèn kỹ năng số, tinh thần trách nhiệm.</a:t>
            </a:r>
          </a:p>
        </p:txBody>
      </p:sp>
      <p:sp>
        <p:nvSpPr>
          <p:cNvPr id="27" name="Rounded Rectangle 26"/>
          <p:cNvSpPr/>
          <p:nvPr/>
        </p:nvSpPr>
        <p:spPr>
          <a:xfrm>
            <a:off x="5870448" y="1234440"/>
            <a:ext cx="2606040" cy="2240280"/>
          </a:xfrm>
          <a:prstGeom prst="roundRect">
            <a:avLst>
              <a:gd name="adj" fmla="val 6000"/>
            </a:avLst>
          </a:prstGeom>
          <a:solidFill>
            <a:srgbClr val="F4F7F7"/>
          </a:solidFill>
          <a:ln>
            <a:noFill/>
          </a:ln>
          <a:effectLst/>
        </p:spPr>
        <p:txBody>
          <a:bodyPr rtlCol="0" anchor="ctr"/>
          <a:lstStyle/>
          <a:p>
            <a:pPr algn="ctr"/>
          </a:p>
        </p:txBody>
      </p:sp>
      <p:sp>
        <p:nvSpPr>
          <p:cNvPr id="28" name="Oval 27"/>
          <p:cNvSpPr/>
          <p:nvPr/>
        </p:nvSpPr>
        <p:spPr>
          <a:xfrm>
            <a:off x="6053328" y="1435608"/>
            <a:ext cx="347472" cy="347472"/>
          </a:xfrm>
          <a:prstGeom prst="ellipse">
            <a:avLst/>
          </a:prstGeom>
          <a:solidFill>
            <a:srgbClr val="F4A261"/>
          </a:solidFill>
          <a:ln>
            <a:noFill/>
          </a:ln>
          <a:effectLst/>
        </p:spPr>
        <p:txBody>
          <a:bodyPr rtlCol="0" anchor="ctr"/>
          <a:lstStyle/>
          <a:p>
            <a:pPr algn="ctr"/>
          </a:p>
        </p:txBody>
      </p:sp>
      <p:sp>
        <p:nvSpPr>
          <p:cNvPr id="29" name="TextBox 28"/>
          <p:cNvSpPr txBox="1"/>
          <p:nvPr/>
        </p:nvSpPr>
        <p:spPr>
          <a:xfrm>
            <a:off x="6053328" y="1435608"/>
            <a:ext cx="347472" cy="347472"/>
          </a:xfrm>
          <a:prstGeom prst="rect">
            <a:avLst/>
          </a:prstGeom>
          <a:noFill/>
        </p:spPr>
        <p:txBody>
          <a:bodyPr wrap="square" anchor="ctr" lIns="0" rIns="0" tIns="0" bIns="0">
            <a:spAutoFit/>
          </a:bodyPr>
          <a:lstStyle/>
          <a:p>
            <a:pPr algn="ctr"/>
            <a:r>
              <a:rPr sz="1300" b="1" i="0">
                <a:solidFill>
                  <a:srgbClr val="FFFFFF"/>
                </a:solidFill>
                <a:latin typeface="Aptos"/>
              </a:rPr>
              <a:t>3</a:t>
            </a:r>
          </a:p>
        </p:txBody>
      </p:sp>
      <p:sp>
        <p:nvSpPr>
          <p:cNvPr id="30" name="TextBox 29"/>
          <p:cNvSpPr txBox="1"/>
          <p:nvPr/>
        </p:nvSpPr>
        <p:spPr>
          <a:xfrm>
            <a:off x="6510528" y="1417320"/>
            <a:ext cx="1828800" cy="384048"/>
          </a:xfrm>
          <a:prstGeom prst="rect">
            <a:avLst/>
          </a:prstGeom>
          <a:noFill/>
        </p:spPr>
        <p:txBody>
          <a:bodyPr wrap="square" anchor="ctr" lIns="0" rIns="0" tIns="0" bIns="0">
            <a:spAutoFit/>
          </a:bodyPr>
          <a:lstStyle/>
          <a:p>
            <a:pPr algn="l"/>
            <a:r>
              <a:rPr sz="1600" b="1" i="0">
                <a:solidFill>
                  <a:srgbClr val="0F4C47"/>
                </a:solidFill>
                <a:latin typeface="Aptos"/>
              </a:rPr>
              <a:t>Giáo viên</a:t>
            </a:r>
          </a:p>
        </p:txBody>
      </p:sp>
      <p:sp>
        <p:nvSpPr>
          <p:cNvPr id="31" name="TextBox 30"/>
          <p:cNvSpPr txBox="1"/>
          <p:nvPr/>
        </p:nvSpPr>
        <p:spPr>
          <a:xfrm>
            <a:off x="6053328" y="1965960"/>
            <a:ext cx="2240280" cy="1417320"/>
          </a:xfrm>
          <a:prstGeom prst="rect">
            <a:avLst/>
          </a:prstGeom>
          <a:noFill/>
        </p:spPr>
        <p:txBody>
          <a:bodyPr wrap="square" anchor="t" lIns="0" rIns="0" tIns="0" bIns="0">
            <a:spAutoFit/>
          </a:bodyPr>
          <a:lstStyle/>
          <a:p>
            <a:pPr algn="l"/>
            <a:r>
              <a:rPr sz="1300" b="0" i="0">
                <a:solidFill>
                  <a:srgbClr val="1F2D2C"/>
                </a:solidFill>
                <a:latin typeface="Aptos"/>
              </a:rPr>
              <a:t>Bớt việc cộng điểm, soạn báo cáo; có thêm thời gian cho học sinh.</a:t>
            </a:r>
          </a:p>
        </p:txBody>
      </p:sp>
      <p:sp>
        <p:nvSpPr>
          <p:cNvPr id="32" name="Rounded Rectangle 31"/>
          <p:cNvSpPr/>
          <p:nvPr/>
        </p:nvSpPr>
        <p:spPr>
          <a:xfrm>
            <a:off x="420624" y="3630168"/>
            <a:ext cx="2606040" cy="2240280"/>
          </a:xfrm>
          <a:prstGeom prst="roundRect">
            <a:avLst>
              <a:gd name="adj" fmla="val 6000"/>
            </a:avLst>
          </a:prstGeom>
          <a:solidFill>
            <a:srgbClr val="F4F7F7"/>
          </a:solidFill>
          <a:ln>
            <a:noFill/>
          </a:ln>
          <a:effectLst/>
        </p:spPr>
        <p:txBody>
          <a:bodyPr rtlCol="0" anchor="ctr"/>
          <a:lstStyle/>
          <a:p>
            <a:pPr algn="ctr"/>
          </a:p>
        </p:txBody>
      </p:sp>
      <p:sp>
        <p:nvSpPr>
          <p:cNvPr id="33" name="Oval 32"/>
          <p:cNvSpPr/>
          <p:nvPr/>
        </p:nvSpPr>
        <p:spPr>
          <a:xfrm>
            <a:off x="603504" y="3831336"/>
            <a:ext cx="347472" cy="347472"/>
          </a:xfrm>
          <a:prstGeom prst="ellipse">
            <a:avLst/>
          </a:prstGeom>
          <a:solidFill>
            <a:srgbClr val="0F766E"/>
          </a:solidFill>
          <a:ln>
            <a:noFill/>
          </a:ln>
          <a:effectLst/>
        </p:spPr>
        <p:txBody>
          <a:bodyPr rtlCol="0" anchor="ctr"/>
          <a:lstStyle/>
          <a:p>
            <a:pPr algn="ctr"/>
          </a:p>
        </p:txBody>
      </p:sp>
      <p:sp>
        <p:nvSpPr>
          <p:cNvPr id="34" name="TextBox 33"/>
          <p:cNvSpPr txBox="1"/>
          <p:nvPr/>
        </p:nvSpPr>
        <p:spPr>
          <a:xfrm>
            <a:off x="603504" y="3831336"/>
            <a:ext cx="347472" cy="347472"/>
          </a:xfrm>
          <a:prstGeom prst="rect">
            <a:avLst/>
          </a:prstGeom>
          <a:noFill/>
        </p:spPr>
        <p:txBody>
          <a:bodyPr wrap="square" anchor="ctr" lIns="0" rIns="0" tIns="0" bIns="0">
            <a:spAutoFit/>
          </a:bodyPr>
          <a:lstStyle/>
          <a:p>
            <a:pPr algn="ctr"/>
            <a:r>
              <a:rPr sz="1300" b="1" i="0">
                <a:solidFill>
                  <a:srgbClr val="FFFFFF"/>
                </a:solidFill>
                <a:latin typeface="Aptos"/>
              </a:rPr>
              <a:t>4</a:t>
            </a:r>
          </a:p>
        </p:txBody>
      </p:sp>
      <p:sp>
        <p:nvSpPr>
          <p:cNvPr id="35" name="TextBox 34"/>
          <p:cNvSpPr txBox="1"/>
          <p:nvPr/>
        </p:nvSpPr>
        <p:spPr>
          <a:xfrm>
            <a:off x="1060704" y="3813048"/>
            <a:ext cx="1828800" cy="384048"/>
          </a:xfrm>
          <a:prstGeom prst="rect">
            <a:avLst/>
          </a:prstGeom>
          <a:noFill/>
        </p:spPr>
        <p:txBody>
          <a:bodyPr wrap="square" anchor="ctr" lIns="0" rIns="0" tIns="0" bIns="0">
            <a:spAutoFit/>
          </a:bodyPr>
          <a:lstStyle/>
          <a:p>
            <a:pPr algn="l"/>
            <a:r>
              <a:rPr sz="1600" b="1" i="0">
                <a:solidFill>
                  <a:srgbClr val="0F4C47"/>
                </a:solidFill>
                <a:latin typeface="Aptos"/>
              </a:rPr>
              <a:t>Phụ huynh</a:t>
            </a:r>
          </a:p>
        </p:txBody>
      </p:sp>
      <p:sp>
        <p:nvSpPr>
          <p:cNvPr id="36" name="TextBox 35"/>
          <p:cNvSpPr txBox="1"/>
          <p:nvPr/>
        </p:nvSpPr>
        <p:spPr>
          <a:xfrm>
            <a:off x="603504" y="4361688"/>
            <a:ext cx="2240280" cy="1417320"/>
          </a:xfrm>
          <a:prstGeom prst="rect">
            <a:avLst/>
          </a:prstGeom>
          <a:noFill/>
        </p:spPr>
        <p:txBody>
          <a:bodyPr wrap="square" anchor="t" lIns="0" rIns="0" tIns="0" bIns="0">
            <a:spAutoFit/>
          </a:bodyPr>
          <a:lstStyle/>
          <a:p>
            <a:pPr algn="l"/>
            <a:r>
              <a:rPr sz="1300" b="0" i="0">
                <a:solidFill>
                  <a:srgbClr val="1F2D2C"/>
                </a:solidFill>
                <a:latin typeface="Aptos"/>
              </a:rPr>
              <a:t>Nắm tình hình của con kịp thời, phối hợp với giáo viên sớm hơn.</a:t>
            </a:r>
          </a:p>
        </p:txBody>
      </p:sp>
      <p:sp>
        <p:nvSpPr>
          <p:cNvPr id="37" name="Rounded Rectangle 36"/>
          <p:cNvSpPr/>
          <p:nvPr/>
        </p:nvSpPr>
        <p:spPr>
          <a:xfrm>
            <a:off x="3145536" y="3630168"/>
            <a:ext cx="2606040" cy="2240280"/>
          </a:xfrm>
          <a:prstGeom prst="roundRect">
            <a:avLst>
              <a:gd name="adj" fmla="val 6000"/>
            </a:avLst>
          </a:prstGeom>
          <a:solidFill>
            <a:srgbClr val="F4F7F7"/>
          </a:solidFill>
          <a:ln>
            <a:noFill/>
          </a:ln>
          <a:effectLst/>
        </p:spPr>
        <p:txBody>
          <a:bodyPr rtlCol="0" anchor="ctr"/>
          <a:lstStyle/>
          <a:p>
            <a:pPr algn="ctr"/>
          </a:p>
        </p:txBody>
      </p:sp>
      <p:sp>
        <p:nvSpPr>
          <p:cNvPr id="38" name="Oval 37"/>
          <p:cNvSpPr/>
          <p:nvPr/>
        </p:nvSpPr>
        <p:spPr>
          <a:xfrm>
            <a:off x="3328416" y="3831336"/>
            <a:ext cx="347472" cy="347472"/>
          </a:xfrm>
          <a:prstGeom prst="ellipse">
            <a:avLst/>
          </a:prstGeom>
          <a:solidFill>
            <a:srgbClr val="0F766E"/>
          </a:solidFill>
          <a:ln>
            <a:noFill/>
          </a:ln>
          <a:effectLst/>
        </p:spPr>
        <p:txBody>
          <a:bodyPr rtlCol="0" anchor="ctr"/>
          <a:lstStyle/>
          <a:p>
            <a:pPr algn="ctr"/>
          </a:p>
        </p:txBody>
      </p:sp>
      <p:sp>
        <p:nvSpPr>
          <p:cNvPr id="39" name="TextBox 38"/>
          <p:cNvSpPr txBox="1"/>
          <p:nvPr/>
        </p:nvSpPr>
        <p:spPr>
          <a:xfrm>
            <a:off x="3328416" y="3831336"/>
            <a:ext cx="347472" cy="347472"/>
          </a:xfrm>
          <a:prstGeom prst="rect">
            <a:avLst/>
          </a:prstGeom>
          <a:noFill/>
        </p:spPr>
        <p:txBody>
          <a:bodyPr wrap="square" anchor="ctr" lIns="0" rIns="0" tIns="0" bIns="0">
            <a:spAutoFit/>
          </a:bodyPr>
          <a:lstStyle/>
          <a:p>
            <a:pPr algn="ctr"/>
            <a:r>
              <a:rPr sz="1300" b="1" i="0">
                <a:solidFill>
                  <a:srgbClr val="FFFFFF"/>
                </a:solidFill>
                <a:latin typeface="Aptos"/>
              </a:rPr>
              <a:t>5</a:t>
            </a:r>
          </a:p>
        </p:txBody>
      </p:sp>
      <p:sp>
        <p:nvSpPr>
          <p:cNvPr id="40" name="TextBox 39"/>
          <p:cNvSpPr txBox="1"/>
          <p:nvPr/>
        </p:nvSpPr>
        <p:spPr>
          <a:xfrm>
            <a:off x="3785615" y="3813048"/>
            <a:ext cx="1828800" cy="384048"/>
          </a:xfrm>
          <a:prstGeom prst="rect">
            <a:avLst/>
          </a:prstGeom>
          <a:noFill/>
        </p:spPr>
        <p:txBody>
          <a:bodyPr wrap="square" anchor="ctr" lIns="0" rIns="0" tIns="0" bIns="0">
            <a:spAutoFit/>
          </a:bodyPr>
          <a:lstStyle/>
          <a:p>
            <a:pPr algn="l"/>
            <a:r>
              <a:rPr sz="1600" b="1" i="0">
                <a:solidFill>
                  <a:srgbClr val="0F4C47"/>
                </a:solidFill>
                <a:latin typeface="Aptos"/>
              </a:rPr>
              <a:t>Nhà trường</a:t>
            </a:r>
          </a:p>
        </p:txBody>
      </p:sp>
      <p:sp>
        <p:nvSpPr>
          <p:cNvPr id="41" name="TextBox 40"/>
          <p:cNvSpPr txBox="1"/>
          <p:nvPr/>
        </p:nvSpPr>
        <p:spPr>
          <a:xfrm>
            <a:off x="3328416" y="4361688"/>
            <a:ext cx="2240280" cy="1417320"/>
          </a:xfrm>
          <a:prstGeom prst="rect">
            <a:avLst/>
          </a:prstGeom>
          <a:noFill/>
        </p:spPr>
        <p:txBody>
          <a:bodyPr wrap="square" anchor="t" lIns="0" rIns="0" tIns="0" bIns="0">
            <a:spAutoFit/>
          </a:bodyPr>
          <a:lstStyle/>
          <a:p>
            <a:pPr algn="l"/>
            <a:r>
              <a:rPr sz="1300" b="0" i="0">
                <a:solidFill>
                  <a:srgbClr val="1F2D2C"/>
                </a:solidFill>
                <a:latin typeface="Aptos"/>
              </a:rPr>
              <a:t>Có số liệu rõ ràng, báo cáo theo mẫu, dễ nhân rộng.</a:t>
            </a:r>
          </a:p>
        </p:txBody>
      </p:sp>
      <p:sp>
        <p:nvSpPr>
          <p:cNvPr id="42" name="Rounded Rectangle 41"/>
          <p:cNvSpPr/>
          <p:nvPr/>
        </p:nvSpPr>
        <p:spPr>
          <a:xfrm>
            <a:off x="5870448" y="3630168"/>
            <a:ext cx="2606040" cy="2240280"/>
          </a:xfrm>
          <a:prstGeom prst="roundRect">
            <a:avLst>
              <a:gd name="adj" fmla="val 6000"/>
            </a:avLst>
          </a:prstGeom>
          <a:solidFill>
            <a:srgbClr val="F4F7F7"/>
          </a:solidFill>
          <a:ln>
            <a:noFill/>
          </a:ln>
          <a:effectLst/>
        </p:spPr>
        <p:txBody>
          <a:bodyPr rtlCol="0" anchor="ctr"/>
          <a:lstStyle/>
          <a:p>
            <a:pPr algn="ctr"/>
          </a:p>
        </p:txBody>
      </p:sp>
      <p:sp>
        <p:nvSpPr>
          <p:cNvPr id="43" name="Oval 42"/>
          <p:cNvSpPr/>
          <p:nvPr/>
        </p:nvSpPr>
        <p:spPr>
          <a:xfrm>
            <a:off x="6053328" y="3831336"/>
            <a:ext cx="347472" cy="347472"/>
          </a:xfrm>
          <a:prstGeom prst="ellipse">
            <a:avLst/>
          </a:prstGeom>
          <a:solidFill>
            <a:srgbClr val="0F766E"/>
          </a:solidFill>
          <a:ln>
            <a:noFill/>
          </a:ln>
          <a:effectLst/>
        </p:spPr>
        <p:txBody>
          <a:bodyPr rtlCol="0" anchor="ctr"/>
          <a:lstStyle/>
          <a:p>
            <a:pPr algn="ctr"/>
          </a:p>
        </p:txBody>
      </p:sp>
      <p:sp>
        <p:nvSpPr>
          <p:cNvPr id="44" name="TextBox 43"/>
          <p:cNvSpPr txBox="1"/>
          <p:nvPr/>
        </p:nvSpPr>
        <p:spPr>
          <a:xfrm>
            <a:off x="6053328" y="3831336"/>
            <a:ext cx="347472" cy="347472"/>
          </a:xfrm>
          <a:prstGeom prst="rect">
            <a:avLst/>
          </a:prstGeom>
          <a:noFill/>
        </p:spPr>
        <p:txBody>
          <a:bodyPr wrap="square" anchor="ctr" lIns="0" rIns="0" tIns="0" bIns="0">
            <a:spAutoFit/>
          </a:bodyPr>
          <a:lstStyle/>
          <a:p>
            <a:pPr algn="ctr"/>
            <a:r>
              <a:rPr sz="1300" b="1" i="0">
                <a:solidFill>
                  <a:srgbClr val="FFFFFF"/>
                </a:solidFill>
                <a:latin typeface="Aptos"/>
              </a:rPr>
              <a:t>6</a:t>
            </a:r>
          </a:p>
        </p:txBody>
      </p:sp>
      <p:sp>
        <p:nvSpPr>
          <p:cNvPr id="45" name="TextBox 44"/>
          <p:cNvSpPr txBox="1"/>
          <p:nvPr/>
        </p:nvSpPr>
        <p:spPr>
          <a:xfrm>
            <a:off x="6510528" y="3813048"/>
            <a:ext cx="1828800" cy="384048"/>
          </a:xfrm>
          <a:prstGeom prst="rect">
            <a:avLst/>
          </a:prstGeom>
          <a:noFill/>
        </p:spPr>
        <p:txBody>
          <a:bodyPr wrap="square" anchor="ctr" lIns="0" rIns="0" tIns="0" bIns="0">
            <a:spAutoFit/>
          </a:bodyPr>
          <a:lstStyle/>
          <a:p>
            <a:pPr algn="l"/>
            <a:r>
              <a:rPr sz="1600" b="1" i="0">
                <a:solidFill>
                  <a:srgbClr val="0F4C47"/>
                </a:solidFill>
                <a:latin typeface="Aptos"/>
              </a:rPr>
              <a:t>Môi trường</a:t>
            </a:r>
          </a:p>
        </p:txBody>
      </p:sp>
      <p:sp>
        <p:nvSpPr>
          <p:cNvPr id="46" name="TextBox 45"/>
          <p:cNvSpPr txBox="1"/>
          <p:nvPr/>
        </p:nvSpPr>
        <p:spPr>
          <a:xfrm>
            <a:off x="6053328" y="4361688"/>
            <a:ext cx="2240280" cy="1417320"/>
          </a:xfrm>
          <a:prstGeom prst="rect">
            <a:avLst/>
          </a:prstGeom>
          <a:noFill/>
        </p:spPr>
        <p:txBody>
          <a:bodyPr wrap="square" anchor="t" lIns="0" rIns="0" tIns="0" bIns="0">
            <a:spAutoFit/>
          </a:bodyPr>
          <a:lstStyle/>
          <a:p>
            <a:pPr algn="l"/>
            <a:r>
              <a:rPr sz="1300" b="0" i="0">
                <a:solidFill>
                  <a:srgbClr val="1F2D2C"/>
                </a:solidFill>
                <a:latin typeface="Aptos"/>
              </a:rPr>
              <a:t>Giảm in ấn sổ sách nhờ thông báo, báo cáo dạng số.</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IV · HIỆU QUẢ</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19</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Dùng thử đủ 3 vai trong 10 phút, không cần mật khẩu</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8" name="TextBox 7"/>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9" name="TextBox 8"/>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0" name="TextBox 9"/>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1" name="Rounded Rectangle 10"/>
          <p:cNvSpPr/>
          <p:nvPr/>
        </p:nvSpPr>
        <p:spPr>
          <a:xfrm>
            <a:off x="8034528"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2" name="TextBox 11"/>
          <p:cNvSpPr txBox="1"/>
          <p:nvPr/>
        </p:nvSpPr>
        <p:spPr>
          <a:xfrm>
            <a:off x="8125968"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IV · HIỆU QUẢ</a:t>
            </a:r>
          </a:p>
        </p:txBody>
      </p:sp>
      <p:sp>
        <p:nvSpPr>
          <p:cNvPr id="13" name="TextBox 12"/>
          <p:cNvSpPr txBox="1"/>
          <p:nvPr/>
        </p:nvSpPr>
        <p:spPr>
          <a:xfrm>
            <a:off x="1002944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V · MỞ RỘNG</a:t>
            </a:r>
          </a:p>
        </p:txBody>
      </p:sp>
      <p:sp>
        <p:nvSpPr>
          <p:cNvPr id="14" name="Oval 13"/>
          <p:cNvSpPr/>
          <p:nvPr/>
        </p:nvSpPr>
        <p:spPr>
          <a:xfrm>
            <a:off x="420624" y="1298448"/>
            <a:ext cx="329184" cy="329184"/>
          </a:xfrm>
          <a:prstGeom prst="ellipse">
            <a:avLst/>
          </a:prstGeom>
          <a:solidFill>
            <a:srgbClr val="0F766E"/>
          </a:solidFill>
          <a:ln>
            <a:noFill/>
          </a:ln>
          <a:effectLst/>
        </p:spPr>
        <p:txBody>
          <a:bodyPr rtlCol="0" anchor="ctr"/>
          <a:lstStyle/>
          <a:p>
            <a:pPr algn="ctr"/>
          </a:p>
        </p:txBody>
      </p:sp>
      <p:sp>
        <p:nvSpPr>
          <p:cNvPr id="15" name="TextBox 14"/>
          <p:cNvSpPr txBox="1"/>
          <p:nvPr/>
        </p:nvSpPr>
        <p:spPr>
          <a:xfrm>
            <a:off x="420624" y="1298448"/>
            <a:ext cx="329184" cy="329184"/>
          </a:xfrm>
          <a:prstGeom prst="rect">
            <a:avLst/>
          </a:prstGeom>
          <a:noFill/>
        </p:spPr>
        <p:txBody>
          <a:bodyPr wrap="square" anchor="ctr" lIns="0" rIns="0" tIns="0" bIns="0">
            <a:spAutoFit/>
          </a:bodyPr>
          <a:lstStyle/>
          <a:p>
            <a:pPr algn="ctr"/>
            <a:r>
              <a:rPr sz="1200" b="1" i="0">
                <a:solidFill>
                  <a:srgbClr val="FFFFFF"/>
                </a:solidFill>
                <a:latin typeface="Aptos"/>
              </a:rPr>
              <a:t>1</a:t>
            </a:r>
          </a:p>
        </p:txBody>
      </p:sp>
      <p:sp>
        <p:nvSpPr>
          <p:cNvPr id="16" name="TextBox 15"/>
          <p:cNvSpPr txBox="1"/>
          <p:nvPr/>
        </p:nvSpPr>
        <p:spPr>
          <a:xfrm>
            <a:off x="914400" y="1261872"/>
            <a:ext cx="4206240" cy="402336"/>
          </a:xfrm>
          <a:prstGeom prst="rect">
            <a:avLst/>
          </a:prstGeom>
          <a:noFill/>
        </p:spPr>
        <p:txBody>
          <a:bodyPr wrap="square" anchor="ctr" lIns="0" rIns="0" tIns="0" bIns="0">
            <a:spAutoFit/>
          </a:bodyPr>
          <a:lstStyle/>
          <a:p>
            <a:pPr algn="l"/>
            <a:r>
              <a:rPr sz="1350" b="0" i="0">
                <a:solidFill>
                  <a:srgbClr val="1F2D2C"/>
                </a:solidFill>
                <a:latin typeface="Aptos"/>
              </a:rPr>
              <a:t>Ghi điểm cho một bạn</a:t>
            </a:r>
          </a:p>
        </p:txBody>
      </p:sp>
      <p:sp>
        <p:nvSpPr>
          <p:cNvPr id="17" name="Rounded Rectangle 16"/>
          <p:cNvSpPr/>
          <p:nvPr/>
        </p:nvSpPr>
        <p:spPr>
          <a:xfrm>
            <a:off x="5166360" y="1325880"/>
            <a:ext cx="970510" cy="274320"/>
          </a:xfrm>
          <a:prstGeom prst="roundRect">
            <a:avLst>
              <a:gd name="adj" fmla="val 50000"/>
            </a:avLst>
          </a:prstGeom>
          <a:solidFill>
            <a:srgbClr val="E0F2F1"/>
          </a:solidFill>
          <a:ln>
            <a:noFill/>
          </a:ln>
          <a:effectLst/>
        </p:spPr>
        <p:txBody>
          <a:bodyPr rtlCol="0" anchor="ctr"/>
          <a:lstStyle/>
          <a:p>
            <a:pPr algn="ctr"/>
          </a:p>
        </p:txBody>
      </p:sp>
      <p:sp>
        <p:nvSpPr>
          <p:cNvPr id="18" name="TextBox 17"/>
          <p:cNvSpPr txBox="1"/>
          <p:nvPr/>
        </p:nvSpPr>
        <p:spPr>
          <a:xfrm>
            <a:off x="5166360" y="1325880"/>
            <a:ext cx="970510" cy="274320"/>
          </a:xfrm>
          <a:prstGeom prst="rect">
            <a:avLst/>
          </a:prstGeom>
          <a:noFill/>
        </p:spPr>
        <p:txBody>
          <a:bodyPr wrap="square" anchor="ctr" lIns="0" rIns="0" tIns="0" bIns="0">
            <a:spAutoFit/>
          </a:bodyPr>
          <a:lstStyle/>
          <a:p>
            <a:pPr algn="ctr"/>
            <a:r>
              <a:rPr sz="1050" b="1" i="0">
                <a:solidFill>
                  <a:srgbClr val="0F4C47"/>
                </a:solidFill>
                <a:latin typeface="Aptos"/>
              </a:rPr>
              <a:t>LỚP TRƯỞNG</a:t>
            </a:r>
          </a:p>
        </p:txBody>
      </p:sp>
      <p:sp>
        <p:nvSpPr>
          <p:cNvPr id="19" name="Oval 18"/>
          <p:cNvSpPr/>
          <p:nvPr/>
        </p:nvSpPr>
        <p:spPr>
          <a:xfrm>
            <a:off x="420624" y="1801368"/>
            <a:ext cx="329184" cy="329184"/>
          </a:xfrm>
          <a:prstGeom prst="ellipse">
            <a:avLst/>
          </a:prstGeom>
          <a:solidFill>
            <a:srgbClr val="0F766E"/>
          </a:solidFill>
          <a:ln>
            <a:noFill/>
          </a:ln>
          <a:effectLst/>
        </p:spPr>
        <p:txBody>
          <a:bodyPr rtlCol="0" anchor="ctr"/>
          <a:lstStyle/>
          <a:p>
            <a:pPr algn="ctr"/>
          </a:p>
        </p:txBody>
      </p:sp>
      <p:sp>
        <p:nvSpPr>
          <p:cNvPr id="20" name="TextBox 19"/>
          <p:cNvSpPr txBox="1"/>
          <p:nvPr/>
        </p:nvSpPr>
        <p:spPr>
          <a:xfrm>
            <a:off x="420624" y="1801368"/>
            <a:ext cx="329184" cy="329184"/>
          </a:xfrm>
          <a:prstGeom prst="rect">
            <a:avLst/>
          </a:prstGeom>
          <a:noFill/>
        </p:spPr>
        <p:txBody>
          <a:bodyPr wrap="square" anchor="ctr" lIns="0" rIns="0" tIns="0" bIns="0">
            <a:spAutoFit/>
          </a:bodyPr>
          <a:lstStyle/>
          <a:p>
            <a:pPr algn="ctr"/>
            <a:r>
              <a:rPr sz="1200" b="1" i="0">
                <a:solidFill>
                  <a:srgbClr val="FFFFFF"/>
                </a:solidFill>
                <a:latin typeface="Aptos"/>
              </a:rPr>
              <a:t>2</a:t>
            </a:r>
          </a:p>
        </p:txBody>
      </p:sp>
      <p:sp>
        <p:nvSpPr>
          <p:cNvPr id="21" name="TextBox 20"/>
          <p:cNvSpPr txBox="1"/>
          <p:nvPr/>
        </p:nvSpPr>
        <p:spPr>
          <a:xfrm>
            <a:off x="914400" y="1764792"/>
            <a:ext cx="4206240" cy="402336"/>
          </a:xfrm>
          <a:prstGeom prst="rect">
            <a:avLst/>
          </a:prstGeom>
          <a:noFill/>
        </p:spPr>
        <p:txBody>
          <a:bodyPr wrap="square" anchor="ctr" lIns="0" rIns="0" tIns="0" bIns="0">
            <a:spAutoFit/>
          </a:bodyPr>
          <a:lstStyle/>
          <a:p>
            <a:pPr algn="l"/>
            <a:r>
              <a:rPr sz="1350" b="0" i="0">
                <a:solidFill>
                  <a:srgbClr val="1F2D2C"/>
                </a:solidFill>
                <a:latin typeface="Aptos"/>
              </a:rPr>
              <a:t>Xem email phụ huynh vừa nhận</a:t>
            </a:r>
          </a:p>
        </p:txBody>
      </p:sp>
      <p:sp>
        <p:nvSpPr>
          <p:cNvPr id="22" name="Rounded Rectangle 21"/>
          <p:cNvSpPr/>
          <p:nvPr/>
        </p:nvSpPr>
        <p:spPr>
          <a:xfrm>
            <a:off x="5166360" y="1828800"/>
            <a:ext cx="747937" cy="274320"/>
          </a:xfrm>
          <a:prstGeom prst="roundRect">
            <a:avLst>
              <a:gd name="adj" fmla="val 50000"/>
            </a:avLst>
          </a:prstGeom>
          <a:solidFill>
            <a:srgbClr val="E0F2F1"/>
          </a:solidFill>
          <a:ln>
            <a:noFill/>
          </a:ln>
          <a:effectLst/>
        </p:spPr>
        <p:txBody>
          <a:bodyPr rtlCol="0" anchor="ctr"/>
          <a:lstStyle/>
          <a:p>
            <a:pPr algn="ctr"/>
          </a:p>
        </p:txBody>
      </p:sp>
      <p:sp>
        <p:nvSpPr>
          <p:cNvPr id="23" name="TextBox 22"/>
          <p:cNvSpPr txBox="1"/>
          <p:nvPr/>
        </p:nvSpPr>
        <p:spPr>
          <a:xfrm>
            <a:off x="5166360" y="1828800"/>
            <a:ext cx="747937" cy="274320"/>
          </a:xfrm>
          <a:prstGeom prst="rect">
            <a:avLst/>
          </a:prstGeom>
          <a:noFill/>
        </p:spPr>
        <p:txBody>
          <a:bodyPr wrap="square" anchor="ctr" lIns="0" rIns="0" tIns="0" bIns="0">
            <a:spAutoFit/>
          </a:bodyPr>
          <a:lstStyle/>
          <a:p>
            <a:pPr algn="ctr"/>
            <a:r>
              <a:rPr sz="1050" b="1" i="0">
                <a:solidFill>
                  <a:srgbClr val="0F4C47"/>
                </a:solidFill>
                <a:latin typeface="Aptos"/>
              </a:rPr>
              <a:t>HỘP THƯ</a:t>
            </a:r>
          </a:p>
        </p:txBody>
      </p:sp>
      <p:sp>
        <p:nvSpPr>
          <p:cNvPr id="24" name="Oval 23"/>
          <p:cNvSpPr/>
          <p:nvPr/>
        </p:nvSpPr>
        <p:spPr>
          <a:xfrm>
            <a:off x="420624" y="2304288"/>
            <a:ext cx="329184" cy="329184"/>
          </a:xfrm>
          <a:prstGeom prst="ellipse">
            <a:avLst/>
          </a:prstGeom>
          <a:solidFill>
            <a:srgbClr val="0F766E"/>
          </a:solidFill>
          <a:ln>
            <a:noFill/>
          </a:ln>
          <a:effectLst/>
        </p:spPr>
        <p:txBody>
          <a:bodyPr rtlCol="0" anchor="ctr"/>
          <a:lstStyle/>
          <a:p>
            <a:pPr algn="ctr"/>
          </a:p>
        </p:txBody>
      </p:sp>
      <p:sp>
        <p:nvSpPr>
          <p:cNvPr id="25" name="TextBox 24"/>
          <p:cNvSpPr txBox="1"/>
          <p:nvPr/>
        </p:nvSpPr>
        <p:spPr>
          <a:xfrm>
            <a:off x="420624" y="2304288"/>
            <a:ext cx="329184" cy="329184"/>
          </a:xfrm>
          <a:prstGeom prst="rect">
            <a:avLst/>
          </a:prstGeom>
          <a:noFill/>
        </p:spPr>
        <p:txBody>
          <a:bodyPr wrap="square" anchor="ctr" lIns="0" rIns="0" tIns="0" bIns="0">
            <a:spAutoFit/>
          </a:bodyPr>
          <a:lstStyle/>
          <a:p>
            <a:pPr algn="ctr"/>
            <a:r>
              <a:rPr sz="1200" b="1" i="0">
                <a:solidFill>
                  <a:srgbClr val="FFFFFF"/>
                </a:solidFill>
                <a:latin typeface="Aptos"/>
              </a:rPr>
              <a:t>3</a:t>
            </a:r>
          </a:p>
        </p:txBody>
      </p:sp>
      <p:sp>
        <p:nvSpPr>
          <p:cNvPr id="26" name="TextBox 25"/>
          <p:cNvSpPr txBox="1"/>
          <p:nvPr/>
        </p:nvSpPr>
        <p:spPr>
          <a:xfrm>
            <a:off x="914400" y="2267712"/>
            <a:ext cx="4206240" cy="402336"/>
          </a:xfrm>
          <a:prstGeom prst="rect">
            <a:avLst/>
          </a:prstGeom>
          <a:noFill/>
        </p:spPr>
        <p:txBody>
          <a:bodyPr wrap="square" anchor="ctr" lIns="0" rIns="0" tIns="0" bIns="0">
            <a:spAutoFit/>
          </a:bodyPr>
          <a:lstStyle/>
          <a:p>
            <a:pPr algn="l"/>
            <a:r>
              <a:rPr sz="1350" b="0" i="0">
                <a:solidFill>
                  <a:srgbClr val="1F2D2C"/>
                </a:solidFill>
                <a:latin typeface="Aptos"/>
              </a:rPr>
              <a:t>Mở thông báo, tải PDF</a:t>
            </a:r>
          </a:p>
        </p:txBody>
      </p:sp>
      <p:sp>
        <p:nvSpPr>
          <p:cNvPr id="27" name="Rounded Rectangle 26"/>
          <p:cNvSpPr/>
          <p:nvPr/>
        </p:nvSpPr>
        <p:spPr>
          <a:xfrm>
            <a:off x="5166360" y="2331720"/>
            <a:ext cx="896319" cy="274320"/>
          </a:xfrm>
          <a:prstGeom prst="roundRect">
            <a:avLst>
              <a:gd name="adj" fmla="val 50000"/>
            </a:avLst>
          </a:prstGeom>
          <a:solidFill>
            <a:srgbClr val="E0F2F1"/>
          </a:solidFill>
          <a:ln>
            <a:noFill/>
          </a:ln>
          <a:effectLst/>
        </p:spPr>
        <p:txBody>
          <a:bodyPr rtlCol="0" anchor="ctr"/>
          <a:lstStyle/>
          <a:p>
            <a:pPr algn="ctr"/>
          </a:p>
        </p:txBody>
      </p:sp>
      <p:sp>
        <p:nvSpPr>
          <p:cNvPr id="28" name="TextBox 27"/>
          <p:cNvSpPr txBox="1"/>
          <p:nvPr/>
        </p:nvSpPr>
        <p:spPr>
          <a:xfrm>
            <a:off x="5166360" y="2331720"/>
            <a:ext cx="896319" cy="274320"/>
          </a:xfrm>
          <a:prstGeom prst="rect">
            <a:avLst/>
          </a:prstGeom>
          <a:noFill/>
        </p:spPr>
        <p:txBody>
          <a:bodyPr wrap="square" anchor="ctr" lIns="0" rIns="0" tIns="0" bIns="0">
            <a:spAutoFit/>
          </a:bodyPr>
          <a:lstStyle/>
          <a:p>
            <a:pPr algn="ctr"/>
            <a:r>
              <a:rPr sz="1050" b="1" i="0">
                <a:solidFill>
                  <a:srgbClr val="0F4C47"/>
                </a:solidFill>
                <a:latin typeface="Aptos"/>
              </a:rPr>
              <a:t>PHỤ HUYNH</a:t>
            </a:r>
          </a:p>
        </p:txBody>
      </p:sp>
      <p:sp>
        <p:nvSpPr>
          <p:cNvPr id="29" name="Oval 28"/>
          <p:cNvSpPr/>
          <p:nvPr/>
        </p:nvSpPr>
        <p:spPr>
          <a:xfrm>
            <a:off x="420624" y="2807208"/>
            <a:ext cx="329184" cy="329184"/>
          </a:xfrm>
          <a:prstGeom prst="ellipse">
            <a:avLst/>
          </a:prstGeom>
          <a:solidFill>
            <a:srgbClr val="0F766E"/>
          </a:solidFill>
          <a:ln>
            <a:noFill/>
          </a:ln>
          <a:effectLst/>
        </p:spPr>
        <p:txBody>
          <a:bodyPr rtlCol="0" anchor="ctr"/>
          <a:lstStyle/>
          <a:p>
            <a:pPr algn="ctr"/>
          </a:p>
        </p:txBody>
      </p:sp>
      <p:sp>
        <p:nvSpPr>
          <p:cNvPr id="30" name="TextBox 29"/>
          <p:cNvSpPr txBox="1"/>
          <p:nvPr/>
        </p:nvSpPr>
        <p:spPr>
          <a:xfrm>
            <a:off x="420624" y="2807208"/>
            <a:ext cx="329184" cy="329184"/>
          </a:xfrm>
          <a:prstGeom prst="rect">
            <a:avLst/>
          </a:prstGeom>
          <a:noFill/>
        </p:spPr>
        <p:txBody>
          <a:bodyPr wrap="square" anchor="ctr" lIns="0" rIns="0" tIns="0" bIns="0">
            <a:spAutoFit/>
          </a:bodyPr>
          <a:lstStyle/>
          <a:p>
            <a:pPr algn="ctr"/>
            <a:r>
              <a:rPr sz="1200" b="1" i="0">
                <a:solidFill>
                  <a:srgbClr val="FFFFFF"/>
                </a:solidFill>
                <a:latin typeface="Aptos"/>
              </a:rPr>
              <a:t>4</a:t>
            </a:r>
          </a:p>
        </p:txBody>
      </p:sp>
      <p:sp>
        <p:nvSpPr>
          <p:cNvPr id="31" name="TextBox 30"/>
          <p:cNvSpPr txBox="1"/>
          <p:nvPr/>
        </p:nvSpPr>
        <p:spPr>
          <a:xfrm>
            <a:off x="914400" y="2770632"/>
            <a:ext cx="4206240" cy="402336"/>
          </a:xfrm>
          <a:prstGeom prst="rect">
            <a:avLst/>
          </a:prstGeom>
          <a:noFill/>
        </p:spPr>
        <p:txBody>
          <a:bodyPr wrap="square" anchor="ctr" lIns="0" rIns="0" tIns="0" bIns="0">
            <a:spAutoFit/>
          </a:bodyPr>
          <a:lstStyle/>
          <a:p>
            <a:pPr algn="l"/>
            <a:r>
              <a:rPr sz="1350" b="0" i="0">
                <a:solidFill>
                  <a:srgbClr val="1F2D2C"/>
                </a:solidFill>
                <a:latin typeface="Aptos"/>
              </a:rPr>
              <a:t>Nhận xét, chọn xếp loại</a:t>
            </a:r>
          </a:p>
        </p:txBody>
      </p:sp>
      <p:sp>
        <p:nvSpPr>
          <p:cNvPr id="32" name="Rounded Rectangle 31"/>
          <p:cNvSpPr/>
          <p:nvPr/>
        </p:nvSpPr>
        <p:spPr>
          <a:xfrm>
            <a:off x="5166360" y="2834640"/>
            <a:ext cx="896319" cy="274320"/>
          </a:xfrm>
          <a:prstGeom prst="roundRect">
            <a:avLst>
              <a:gd name="adj" fmla="val 50000"/>
            </a:avLst>
          </a:prstGeom>
          <a:solidFill>
            <a:srgbClr val="FFF1E0"/>
          </a:solidFill>
          <a:ln>
            <a:noFill/>
          </a:ln>
          <a:effectLst/>
        </p:spPr>
        <p:txBody>
          <a:bodyPr rtlCol="0" anchor="ctr"/>
          <a:lstStyle/>
          <a:p>
            <a:pPr algn="ctr"/>
          </a:p>
        </p:txBody>
      </p:sp>
      <p:sp>
        <p:nvSpPr>
          <p:cNvPr id="33" name="TextBox 32"/>
          <p:cNvSpPr txBox="1"/>
          <p:nvPr/>
        </p:nvSpPr>
        <p:spPr>
          <a:xfrm>
            <a:off x="5166360" y="2834640"/>
            <a:ext cx="896319" cy="274320"/>
          </a:xfrm>
          <a:prstGeom prst="rect">
            <a:avLst/>
          </a:prstGeom>
          <a:noFill/>
        </p:spPr>
        <p:txBody>
          <a:bodyPr wrap="square" anchor="ctr" lIns="0" rIns="0" tIns="0" bIns="0">
            <a:spAutoFit/>
          </a:bodyPr>
          <a:lstStyle/>
          <a:p>
            <a:pPr algn="ctr"/>
            <a:r>
              <a:rPr sz="1050" b="1" i="0">
                <a:solidFill>
                  <a:srgbClr val="0F4C47"/>
                </a:solidFill>
                <a:latin typeface="Aptos"/>
              </a:rPr>
              <a:t>GIÁO VIÊN</a:t>
            </a:r>
          </a:p>
        </p:txBody>
      </p:sp>
      <p:sp>
        <p:nvSpPr>
          <p:cNvPr id="34" name="Oval 33"/>
          <p:cNvSpPr/>
          <p:nvPr/>
        </p:nvSpPr>
        <p:spPr>
          <a:xfrm>
            <a:off x="420624" y="3310128"/>
            <a:ext cx="329184" cy="329184"/>
          </a:xfrm>
          <a:prstGeom prst="ellipse">
            <a:avLst/>
          </a:prstGeom>
          <a:solidFill>
            <a:srgbClr val="0F766E"/>
          </a:solidFill>
          <a:ln>
            <a:noFill/>
          </a:ln>
          <a:effectLst/>
        </p:spPr>
        <p:txBody>
          <a:bodyPr rtlCol="0" anchor="ctr"/>
          <a:lstStyle/>
          <a:p>
            <a:pPr algn="ctr"/>
          </a:p>
        </p:txBody>
      </p:sp>
      <p:sp>
        <p:nvSpPr>
          <p:cNvPr id="35" name="TextBox 34"/>
          <p:cNvSpPr txBox="1"/>
          <p:nvPr/>
        </p:nvSpPr>
        <p:spPr>
          <a:xfrm>
            <a:off x="420624" y="3310128"/>
            <a:ext cx="329184" cy="329184"/>
          </a:xfrm>
          <a:prstGeom prst="rect">
            <a:avLst/>
          </a:prstGeom>
          <a:noFill/>
        </p:spPr>
        <p:txBody>
          <a:bodyPr wrap="square" anchor="ctr" lIns="0" rIns="0" tIns="0" bIns="0">
            <a:spAutoFit/>
          </a:bodyPr>
          <a:lstStyle/>
          <a:p>
            <a:pPr algn="ctr"/>
            <a:r>
              <a:rPr sz="1200" b="1" i="0">
                <a:solidFill>
                  <a:srgbClr val="FFFFFF"/>
                </a:solidFill>
                <a:latin typeface="Aptos"/>
              </a:rPr>
              <a:t>5</a:t>
            </a:r>
          </a:p>
        </p:txBody>
      </p:sp>
      <p:sp>
        <p:nvSpPr>
          <p:cNvPr id="36" name="TextBox 35"/>
          <p:cNvSpPr txBox="1"/>
          <p:nvPr/>
        </p:nvSpPr>
        <p:spPr>
          <a:xfrm>
            <a:off x="914400" y="3273552"/>
            <a:ext cx="4206240" cy="402336"/>
          </a:xfrm>
          <a:prstGeom prst="rect">
            <a:avLst/>
          </a:prstGeom>
          <a:noFill/>
        </p:spPr>
        <p:txBody>
          <a:bodyPr wrap="square" anchor="ctr" lIns="0" rIns="0" tIns="0" bIns="0">
            <a:spAutoFit/>
          </a:bodyPr>
          <a:lstStyle/>
          <a:p>
            <a:pPr algn="l"/>
            <a:r>
              <a:rPr sz="1350" b="0" i="0">
                <a:solidFill>
                  <a:srgbClr val="1F2D2C"/>
                </a:solidFill>
                <a:latin typeface="Aptos"/>
              </a:rPr>
              <a:t>Xem báo cáo tháng, tải PDF</a:t>
            </a:r>
          </a:p>
        </p:txBody>
      </p:sp>
      <p:sp>
        <p:nvSpPr>
          <p:cNvPr id="37" name="Rounded Rectangle 36"/>
          <p:cNvSpPr/>
          <p:nvPr/>
        </p:nvSpPr>
        <p:spPr>
          <a:xfrm>
            <a:off x="5166360" y="3337560"/>
            <a:ext cx="896319" cy="274320"/>
          </a:xfrm>
          <a:prstGeom prst="roundRect">
            <a:avLst>
              <a:gd name="adj" fmla="val 50000"/>
            </a:avLst>
          </a:prstGeom>
          <a:solidFill>
            <a:srgbClr val="FFF1E0"/>
          </a:solidFill>
          <a:ln>
            <a:noFill/>
          </a:ln>
          <a:effectLst/>
        </p:spPr>
        <p:txBody>
          <a:bodyPr rtlCol="0" anchor="ctr"/>
          <a:lstStyle/>
          <a:p>
            <a:pPr algn="ctr"/>
          </a:p>
        </p:txBody>
      </p:sp>
      <p:sp>
        <p:nvSpPr>
          <p:cNvPr id="38" name="TextBox 37"/>
          <p:cNvSpPr txBox="1"/>
          <p:nvPr/>
        </p:nvSpPr>
        <p:spPr>
          <a:xfrm>
            <a:off x="5166360" y="3337560"/>
            <a:ext cx="896319" cy="274320"/>
          </a:xfrm>
          <a:prstGeom prst="rect">
            <a:avLst/>
          </a:prstGeom>
          <a:noFill/>
        </p:spPr>
        <p:txBody>
          <a:bodyPr wrap="square" anchor="ctr" lIns="0" rIns="0" tIns="0" bIns="0">
            <a:spAutoFit/>
          </a:bodyPr>
          <a:lstStyle/>
          <a:p>
            <a:pPr algn="ctr"/>
            <a:r>
              <a:rPr sz="1050" b="1" i="0">
                <a:solidFill>
                  <a:srgbClr val="0F4C47"/>
                </a:solidFill>
                <a:latin typeface="Aptos"/>
              </a:rPr>
              <a:t>GIÁO VIÊN</a:t>
            </a:r>
          </a:p>
        </p:txBody>
      </p:sp>
      <p:sp>
        <p:nvSpPr>
          <p:cNvPr id="39" name="Oval 38"/>
          <p:cNvSpPr/>
          <p:nvPr/>
        </p:nvSpPr>
        <p:spPr>
          <a:xfrm>
            <a:off x="420624" y="3813048"/>
            <a:ext cx="329184" cy="329184"/>
          </a:xfrm>
          <a:prstGeom prst="ellipse">
            <a:avLst/>
          </a:prstGeom>
          <a:solidFill>
            <a:srgbClr val="0F766E"/>
          </a:solidFill>
          <a:ln>
            <a:noFill/>
          </a:ln>
          <a:effectLst/>
        </p:spPr>
        <p:txBody>
          <a:bodyPr rtlCol="0" anchor="ctr"/>
          <a:lstStyle/>
          <a:p>
            <a:pPr algn="ctr"/>
          </a:p>
        </p:txBody>
      </p:sp>
      <p:sp>
        <p:nvSpPr>
          <p:cNvPr id="40" name="TextBox 39"/>
          <p:cNvSpPr txBox="1"/>
          <p:nvPr/>
        </p:nvSpPr>
        <p:spPr>
          <a:xfrm>
            <a:off x="420624" y="3813048"/>
            <a:ext cx="329184" cy="329184"/>
          </a:xfrm>
          <a:prstGeom prst="rect">
            <a:avLst/>
          </a:prstGeom>
          <a:noFill/>
        </p:spPr>
        <p:txBody>
          <a:bodyPr wrap="square" anchor="ctr" lIns="0" rIns="0" tIns="0" bIns="0">
            <a:spAutoFit/>
          </a:bodyPr>
          <a:lstStyle/>
          <a:p>
            <a:pPr algn="ctr"/>
            <a:r>
              <a:rPr sz="1200" b="1" i="0">
                <a:solidFill>
                  <a:srgbClr val="FFFFFF"/>
                </a:solidFill>
                <a:latin typeface="Aptos"/>
              </a:rPr>
              <a:t>6</a:t>
            </a:r>
          </a:p>
        </p:txBody>
      </p:sp>
      <p:sp>
        <p:nvSpPr>
          <p:cNvPr id="41" name="TextBox 40"/>
          <p:cNvSpPr txBox="1"/>
          <p:nvPr/>
        </p:nvSpPr>
        <p:spPr>
          <a:xfrm>
            <a:off x="914400" y="3776472"/>
            <a:ext cx="4206240" cy="402336"/>
          </a:xfrm>
          <a:prstGeom prst="rect">
            <a:avLst/>
          </a:prstGeom>
          <a:noFill/>
        </p:spPr>
        <p:txBody>
          <a:bodyPr wrap="square" anchor="ctr" lIns="0" rIns="0" tIns="0" bIns="0">
            <a:spAutoFit/>
          </a:bodyPr>
          <a:lstStyle/>
          <a:p>
            <a:pPr algn="l"/>
            <a:r>
              <a:rPr sz="1350" b="0" i="0">
                <a:solidFill>
                  <a:srgbClr val="1F2D2C"/>
                </a:solidFill>
                <a:latin typeface="Aptos"/>
              </a:rPr>
              <a:t>Tải PDF của một học sinh</a:t>
            </a:r>
          </a:p>
        </p:txBody>
      </p:sp>
      <p:sp>
        <p:nvSpPr>
          <p:cNvPr id="42" name="Rounded Rectangle 41"/>
          <p:cNvSpPr/>
          <p:nvPr/>
        </p:nvSpPr>
        <p:spPr>
          <a:xfrm>
            <a:off x="5166360" y="3840480"/>
            <a:ext cx="896319" cy="274320"/>
          </a:xfrm>
          <a:prstGeom prst="roundRect">
            <a:avLst>
              <a:gd name="adj" fmla="val 50000"/>
            </a:avLst>
          </a:prstGeom>
          <a:solidFill>
            <a:srgbClr val="FFF1E0"/>
          </a:solidFill>
          <a:ln>
            <a:noFill/>
          </a:ln>
          <a:effectLst/>
        </p:spPr>
        <p:txBody>
          <a:bodyPr rtlCol="0" anchor="ctr"/>
          <a:lstStyle/>
          <a:p>
            <a:pPr algn="ctr"/>
          </a:p>
        </p:txBody>
      </p:sp>
      <p:sp>
        <p:nvSpPr>
          <p:cNvPr id="43" name="TextBox 42"/>
          <p:cNvSpPr txBox="1"/>
          <p:nvPr/>
        </p:nvSpPr>
        <p:spPr>
          <a:xfrm>
            <a:off x="5166360" y="3840480"/>
            <a:ext cx="896319" cy="274320"/>
          </a:xfrm>
          <a:prstGeom prst="rect">
            <a:avLst/>
          </a:prstGeom>
          <a:noFill/>
        </p:spPr>
        <p:txBody>
          <a:bodyPr wrap="square" anchor="ctr" lIns="0" rIns="0" tIns="0" bIns="0">
            <a:spAutoFit/>
          </a:bodyPr>
          <a:lstStyle/>
          <a:p>
            <a:pPr algn="ctr"/>
            <a:r>
              <a:rPr sz="1050" b="1" i="0">
                <a:solidFill>
                  <a:srgbClr val="0F4C47"/>
                </a:solidFill>
                <a:latin typeface="Aptos"/>
              </a:rPr>
              <a:t>GIÁO VIÊN</a:t>
            </a:r>
          </a:p>
        </p:txBody>
      </p:sp>
      <p:sp>
        <p:nvSpPr>
          <p:cNvPr id="44" name="Oval 43"/>
          <p:cNvSpPr/>
          <p:nvPr/>
        </p:nvSpPr>
        <p:spPr>
          <a:xfrm>
            <a:off x="420624" y="4315968"/>
            <a:ext cx="329184" cy="329184"/>
          </a:xfrm>
          <a:prstGeom prst="ellipse">
            <a:avLst/>
          </a:prstGeom>
          <a:solidFill>
            <a:srgbClr val="0F766E"/>
          </a:solidFill>
          <a:ln>
            <a:noFill/>
          </a:ln>
          <a:effectLst/>
        </p:spPr>
        <p:txBody>
          <a:bodyPr rtlCol="0" anchor="ctr"/>
          <a:lstStyle/>
          <a:p>
            <a:pPr algn="ctr"/>
          </a:p>
        </p:txBody>
      </p:sp>
      <p:sp>
        <p:nvSpPr>
          <p:cNvPr id="45" name="TextBox 44"/>
          <p:cNvSpPr txBox="1"/>
          <p:nvPr/>
        </p:nvSpPr>
        <p:spPr>
          <a:xfrm>
            <a:off x="420624" y="4315968"/>
            <a:ext cx="329184" cy="329184"/>
          </a:xfrm>
          <a:prstGeom prst="rect">
            <a:avLst/>
          </a:prstGeom>
          <a:noFill/>
        </p:spPr>
        <p:txBody>
          <a:bodyPr wrap="square" anchor="ctr" lIns="0" rIns="0" tIns="0" bIns="0">
            <a:spAutoFit/>
          </a:bodyPr>
          <a:lstStyle/>
          <a:p>
            <a:pPr algn="ctr"/>
            <a:r>
              <a:rPr sz="1200" b="1" i="0">
                <a:solidFill>
                  <a:srgbClr val="FFFFFF"/>
                </a:solidFill>
                <a:latin typeface="Aptos"/>
              </a:rPr>
              <a:t>7</a:t>
            </a:r>
          </a:p>
        </p:txBody>
      </p:sp>
      <p:sp>
        <p:nvSpPr>
          <p:cNvPr id="46" name="TextBox 45"/>
          <p:cNvSpPr txBox="1"/>
          <p:nvPr/>
        </p:nvSpPr>
        <p:spPr>
          <a:xfrm>
            <a:off x="914400" y="4279392"/>
            <a:ext cx="4206240" cy="402336"/>
          </a:xfrm>
          <a:prstGeom prst="rect">
            <a:avLst/>
          </a:prstGeom>
          <a:noFill/>
        </p:spPr>
        <p:txBody>
          <a:bodyPr wrap="square" anchor="ctr" lIns="0" rIns="0" tIns="0" bIns="0">
            <a:spAutoFit/>
          </a:bodyPr>
          <a:lstStyle/>
          <a:p>
            <a:pPr algn="l"/>
            <a:r>
              <a:rPr sz="1350" b="0" i="0">
                <a:solidFill>
                  <a:srgbClr val="1F2D2C"/>
                </a:solidFill>
                <a:latin typeface="Aptos"/>
              </a:rPr>
              <a:t>Đăng ký nhận email (mã 123456)</a:t>
            </a:r>
          </a:p>
        </p:txBody>
      </p:sp>
      <p:sp>
        <p:nvSpPr>
          <p:cNvPr id="47" name="Rounded Rectangle 46"/>
          <p:cNvSpPr/>
          <p:nvPr/>
        </p:nvSpPr>
        <p:spPr>
          <a:xfrm>
            <a:off x="5166360" y="4343400"/>
            <a:ext cx="896319" cy="274320"/>
          </a:xfrm>
          <a:prstGeom prst="roundRect">
            <a:avLst>
              <a:gd name="adj" fmla="val 50000"/>
            </a:avLst>
          </a:prstGeom>
          <a:solidFill>
            <a:srgbClr val="E0F2F1"/>
          </a:solidFill>
          <a:ln>
            <a:noFill/>
          </a:ln>
          <a:effectLst/>
        </p:spPr>
        <p:txBody>
          <a:bodyPr rtlCol="0" anchor="ctr"/>
          <a:lstStyle/>
          <a:p>
            <a:pPr algn="ctr"/>
          </a:p>
        </p:txBody>
      </p:sp>
      <p:sp>
        <p:nvSpPr>
          <p:cNvPr id="48" name="TextBox 47"/>
          <p:cNvSpPr txBox="1"/>
          <p:nvPr/>
        </p:nvSpPr>
        <p:spPr>
          <a:xfrm>
            <a:off x="5166360" y="4343400"/>
            <a:ext cx="896319" cy="274320"/>
          </a:xfrm>
          <a:prstGeom prst="rect">
            <a:avLst/>
          </a:prstGeom>
          <a:noFill/>
        </p:spPr>
        <p:txBody>
          <a:bodyPr wrap="square" anchor="ctr" lIns="0" rIns="0" tIns="0" bIns="0">
            <a:spAutoFit/>
          </a:bodyPr>
          <a:lstStyle/>
          <a:p>
            <a:pPr algn="ctr"/>
            <a:r>
              <a:rPr sz="1050" b="1" i="0">
                <a:solidFill>
                  <a:srgbClr val="0F4C47"/>
                </a:solidFill>
                <a:latin typeface="Aptos"/>
              </a:rPr>
              <a:t>PHỤ HUYNH</a:t>
            </a:r>
          </a:p>
        </p:txBody>
      </p:sp>
      <p:sp>
        <p:nvSpPr>
          <p:cNvPr id="49" name="Oval 48"/>
          <p:cNvSpPr/>
          <p:nvPr/>
        </p:nvSpPr>
        <p:spPr>
          <a:xfrm>
            <a:off x="420624" y="4818888"/>
            <a:ext cx="329184" cy="329184"/>
          </a:xfrm>
          <a:prstGeom prst="ellipse">
            <a:avLst/>
          </a:prstGeom>
          <a:solidFill>
            <a:srgbClr val="0F766E"/>
          </a:solidFill>
          <a:ln>
            <a:noFill/>
          </a:ln>
          <a:effectLst/>
        </p:spPr>
        <p:txBody>
          <a:bodyPr rtlCol="0" anchor="ctr"/>
          <a:lstStyle/>
          <a:p>
            <a:pPr algn="ctr"/>
          </a:p>
        </p:txBody>
      </p:sp>
      <p:sp>
        <p:nvSpPr>
          <p:cNvPr id="50" name="TextBox 49"/>
          <p:cNvSpPr txBox="1"/>
          <p:nvPr/>
        </p:nvSpPr>
        <p:spPr>
          <a:xfrm>
            <a:off x="420624" y="4818888"/>
            <a:ext cx="329184" cy="329184"/>
          </a:xfrm>
          <a:prstGeom prst="rect">
            <a:avLst/>
          </a:prstGeom>
          <a:noFill/>
        </p:spPr>
        <p:txBody>
          <a:bodyPr wrap="square" anchor="ctr" lIns="0" rIns="0" tIns="0" bIns="0">
            <a:spAutoFit/>
          </a:bodyPr>
          <a:lstStyle/>
          <a:p>
            <a:pPr algn="ctr"/>
            <a:r>
              <a:rPr sz="1200" b="1" i="0">
                <a:solidFill>
                  <a:srgbClr val="FFFFFF"/>
                </a:solidFill>
                <a:latin typeface="Aptos"/>
              </a:rPr>
              <a:t>8</a:t>
            </a:r>
          </a:p>
        </p:txBody>
      </p:sp>
      <p:sp>
        <p:nvSpPr>
          <p:cNvPr id="51" name="TextBox 50"/>
          <p:cNvSpPr txBox="1"/>
          <p:nvPr/>
        </p:nvSpPr>
        <p:spPr>
          <a:xfrm>
            <a:off x="914400" y="4782312"/>
            <a:ext cx="4206240" cy="402336"/>
          </a:xfrm>
          <a:prstGeom prst="rect">
            <a:avLst/>
          </a:prstGeom>
          <a:noFill/>
        </p:spPr>
        <p:txBody>
          <a:bodyPr wrap="square" anchor="ctr" lIns="0" rIns="0" tIns="0" bIns="0">
            <a:spAutoFit/>
          </a:bodyPr>
          <a:lstStyle/>
          <a:p>
            <a:pPr algn="l"/>
            <a:r>
              <a:rPr sz="1350" b="0" i="0">
                <a:solidFill>
                  <a:srgbClr val="1F2D2C"/>
                </a:solidFill>
                <a:latin typeface="Aptos"/>
              </a:rPr>
              <a:t>Duyệt phụ huynh, gửi hướng dẫn</a:t>
            </a:r>
          </a:p>
        </p:txBody>
      </p:sp>
      <p:sp>
        <p:nvSpPr>
          <p:cNvPr id="52" name="Rounded Rectangle 51"/>
          <p:cNvSpPr/>
          <p:nvPr/>
        </p:nvSpPr>
        <p:spPr>
          <a:xfrm>
            <a:off x="5166360" y="4846320"/>
            <a:ext cx="896319" cy="274320"/>
          </a:xfrm>
          <a:prstGeom prst="roundRect">
            <a:avLst>
              <a:gd name="adj" fmla="val 50000"/>
            </a:avLst>
          </a:prstGeom>
          <a:solidFill>
            <a:srgbClr val="FFF1E0"/>
          </a:solidFill>
          <a:ln>
            <a:noFill/>
          </a:ln>
          <a:effectLst/>
        </p:spPr>
        <p:txBody>
          <a:bodyPr rtlCol="0" anchor="ctr"/>
          <a:lstStyle/>
          <a:p>
            <a:pPr algn="ctr"/>
          </a:p>
        </p:txBody>
      </p:sp>
      <p:sp>
        <p:nvSpPr>
          <p:cNvPr id="53" name="TextBox 52"/>
          <p:cNvSpPr txBox="1"/>
          <p:nvPr/>
        </p:nvSpPr>
        <p:spPr>
          <a:xfrm>
            <a:off x="5166360" y="4846320"/>
            <a:ext cx="896319" cy="274320"/>
          </a:xfrm>
          <a:prstGeom prst="rect">
            <a:avLst/>
          </a:prstGeom>
          <a:noFill/>
        </p:spPr>
        <p:txBody>
          <a:bodyPr wrap="square" anchor="ctr" lIns="0" rIns="0" tIns="0" bIns="0">
            <a:spAutoFit/>
          </a:bodyPr>
          <a:lstStyle/>
          <a:p>
            <a:pPr algn="ctr"/>
            <a:r>
              <a:rPr sz="1050" b="1" i="0">
                <a:solidFill>
                  <a:srgbClr val="0F4C47"/>
                </a:solidFill>
                <a:latin typeface="Aptos"/>
              </a:rPr>
              <a:t>GIÁO VIÊN</a:t>
            </a:r>
          </a:p>
        </p:txBody>
      </p:sp>
      <p:sp>
        <p:nvSpPr>
          <p:cNvPr id="54" name="Oval 53"/>
          <p:cNvSpPr/>
          <p:nvPr/>
        </p:nvSpPr>
        <p:spPr>
          <a:xfrm>
            <a:off x="420624" y="5321808"/>
            <a:ext cx="329184" cy="329184"/>
          </a:xfrm>
          <a:prstGeom prst="ellipse">
            <a:avLst/>
          </a:prstGeom>
          <a:solidFill>
            <a:srgbClr val="0F766E"/>
          </a:solidFill>
          <a:ln>
            <a:noFill/>
          </a:ln>
          <a:effectLst/>
        </p:spPr>
        <p:txBody>
          <a:bodyPr rtlCol="0" anchor="ctr"/>
          <a:lstStyle/>
          <a:p>
            <a:pPr algn="ctr"/>
          </a:p>
        </p:txBody>
      </p:sp>
      <p:sp>
        <p:nvSpPr>
          <p:cNvPr id="55" name="TextBox 54"/>
          <p:cNvSpPr txBox="1"/>
          <p:nvPr/>
        </p:nvSpPr>
        <p:spPr>
          <a:xfrm>
            <a:off x="420624" y="5321808"/>
            <a:ext cx="329184" cy="329184"/>
          </a:xfrm>
          <a:prstGeom prst="rect">
            <a:avLst/>
          </a:prstGeom>
          <a:noFill/>
        </p:spPr>
        <p:txBody>
          <a:bodyPr wrap="square" anchor="ctr" lIns="0" rIns="0" tIns="0" bIns="0">
            <a:spAutoFit/>
          </a:bodyPr>
          <a:lstStyle/>
          <a:p>
            <a:pPr algn="ctr"/>
            <a:r>
              <a:rPr sz="1200" b="1" i="0">
                <a:solidFill>
                  <a:srgbClr val="FFFFFF"/>
                </a:solidFill>
                <a:latin typeface="Aptos"/>
              </a:rPr>
              <a:t>9</a:t>
            </a:r>
          </a:p>
        </p:txBody>
      </p:sp>
      <p:sp>
        <p:nvSpPr>
          <p:cNvPr id="56" name="TextBox 55"/>
          <p:cNvSpPr txBox="1"/>
          <p:nvPr/>
        </p:nvSpPr>
        <p:spPr>
          <a:xfrm>
            <a:off x="914400" y="5285232"/>
            <a:ext cx="4206240" cy="402336"/>
          </a:xfrm>
          <a:prstGeom prst="rect">
            <a:avLst/>
          </a:prstGeom>
          <a:noFill/>
        </p:spPr>
        <p:txBody>
          <a:bodyPr wrap="square" anchor="ctr" lIns="0" rIns="0" tIns="0" bIns="0">
            <a:spAutoFit/>
          </a:bodyPr>
          <a:lstStyle/>
          <a:p>
            <a:pPr algn="l"/>
            <a:r>
              <a:rPr sz="1350" b="0" i="0">
                <a:solidFill>
                  <a:srgbClr val="1F2D2C"/>
                </a:solidFill>
                <a:latin typeface="Aptos"/>
              </a:rPr>
              <a:t>Khoá sổ tháng</a:t>
            </a:r>
          </a:p>
        </p:txBody>
      </p:sp>
      <p:sp>
        <p:nvSpPr>
          <p:cNvPr id="57" name="Rounded Rectangle 56"/>
          <p:cNvSpPr/>
          <p:nvPr/>
        </p:nvSpPr>
        <p:spPr>
          <a:xfrm>
            <a:off x="5166360" y="5349240"/>
            <a:ext cx="896319" cy="274320"/>
          </a:xfrm>
          <a:prstGeom prst="roundRect">
            <a:avLst>
              <a:gd name="adj" fmla="val 50000"/>
            </a:avLst>
          </a:prstGeom>
          <a:solidFill>
            <a:srgbClr val="FFF1E0"/>
          </a:solidFill>
          <a:ln>
            <a:noFill/>
          </a:ln>
          <a:effectLst/>
        </p:spPr>
        <p:txBody>
          <a:bodyPr rtlCol="0" anchor="ctr"/>
          <a:lstStyle/>
          <a:p>
            <a:pPr algn="ctr"/>
          </a:p>
        </p:txBody>
      </p:sp>
      <p:sp>
        <p:nvSpPr>
          <p:cNvPr id="58" name="TextBox 57"/>
          <p:cNvSpPr txBox="1"/>
          <p:nvPr/>
        </p:nvSpPr>
        <p:spPr>
          <a:xfrm>
            <a:off x="5166360" y="5349240"/>
            <a:ext cx="896319" cy="274320"/>
          </a:xfrm>
          <a:prstGeom prst="rect">
            <a:avLst/>
          </a:prstGeom>
          <a:noFill/>
        </p:spPr>
        <p:txBody>
          <a:bodyPr wrap="square" anchor="ctr" lIns="0" rIns="0" tIns="0" bIns="0">
            <a:spAutoFit/>
          </a:bodyPr>
          <a:lstStyle/>
          <a:p>
            <a:pPr algn="ctr"/>
            <a:r>
              <a:rPr sz="1050" b="1" i="0">
                <a:solidFill>
                  <a:srgbClr val="0F4C47"/>
                </a:solidFill>
                <a:latin typeface="Aptos"/>
              </a:rPr>
              <a:t>GIÁO VIÊN</a:t>
            </a:r>
          </a:p>
        </p:txBody>
      </p:sp>
      <p:sp>
        <p:nvSpPr>
          <p:cNvPr id="59" name="Rounded Rectangle 58"/>
          <p:cNvSpPr/>
          <p:nvPr/>
        </p:nvSpPr>
        <p:spPr>
          <a:xfrm>
            <a:off x="7040880" y="1261872"/>
            <a:ext cx="4727448" cy="4526280"/>
          </a:xfrm>
          <a:prstGeom prst="roundRect">
            <a:avLst>
              <a:gd name="adj" fmla="val 6000"/>
            </a:avLst>
          </a:prstGeom>
          <a:solidFill>
            <a:srgbClr val="E0F2F1"/>
          </a:solidFill>
          <a:ln>
            <a:noFill/>
          </a:ln>
          <a:effectLst/>
        </p:spPr>
        <p:txBody>
          <a:bodyPr rtlCol="0" anchor="ctr"/>
          <a:lstStyle/>
          <a:p>
            <a:pPr algn="ctr"/>
          </a:p>
        </p:txBody>
      </p:sp>
      <p:pic>
        <p:nvPicPr>
          <p:cNvPr id="60" name="Picture 59" descr="qr_demo.png"/>
          <p:cNvPicPr>
            <a:picLocks noChangeAspect="1"/>
          </p:cNvPicPr>
          <p:nvPr/>
        </p:nvPicPr>
        <p:blipFill>
          <a:blip r:embed="rId2"/>
          <a:stretch>
            <a:fillRect/>
          </a:stretch>
        </p:blipFill>
        <p:spPr>
          <a:xfrm>
            <a:off x="7315200" y="1508760"/>
            <a:ext cx="1828800" cy="1828800"/>
          </a:xfrm>
          <a:prstGeom prst="rect">
            <a:avLst/>
          </a:prstGeom>
        </p:spPr>
      </p:pic>
      <p:sp>
        <p:nvSpPr>
          <p:cNvPr id="61" name="TextBox 60"/>
          <p:cNvSpPr txBox="1"/>
          <p:nvPr/>
        </p:nvSpPr>
        <p:spPr>
          <a:xfrm>
            <a:off x="9372600" y="1508760"/>
            <a:ext cx="2240280" cy="1828800"/>
          </a:xfrm>
          <a:prstGeom prst="rect">
            <a:avLst/>
          </a:prstGeom>
          <a:noFill/>
        </p:spPr>
        <p:txBody>
          <a:bodyPr wrap="square" anchor="ctr" lIns="0" rIns="0" tIns="0" bIns="0">
            <a:spAutoFit/>
          </a:bodyPr>
          <a:lstStyle/>
          <a:p>
            <a:pPr algn="l"/>
            <a:r>
              <a:rPr sz="1300" b="0" i="0">
                <a:solidFill>
                  <a:srgbClr val="1F2D2C"/>
                </a:solidFill>
                <a:latin typeface="Aptos"/>
              </a:rPr>
              <a:t>Quét mã hoặc mở link, bấm thẻ </a:t>
            </a:r>
            <a:r>
              <a:rPr sz="1300" b="1" i="0">
                <a:solidFill>
                  <a:srgbClr val="0F4C47"/>
                </a:solidFill>
                <a:latin typeface="Aptos"/>
              </a:rPr>
              <a:t>Kiểm tra tính năng ứng dụng</a:t>
            </a:r>
            <a:r>
              <a:rPr sz="1300" b="0" i="0">
                <a:solidFill>
                  <a:srgbClr val="1F2D2C"/>
                </a:solidFill>
                <a:latin typeface="Aptos"/>
              </a:rPr>
              <a:t>. Không cần email, mật khẩu; dữ liệu mẫu.</a:t>
            </a:r>
          </a:p>
        </p:txBody>
      </p:sp>
      <p:sp>
        <p:nvSpPr>
          <p:cNvPr id="62" name="Rounded Rectangle 61"/>
          <p:cNvSpPr/>
          <p:nvPr/>
        </p:nvSpPr>
        <p:spPr>
          <a:xfrm>
            <a:off x="7278624" y="3529584"/>
            <a:ext cx="3291840" cy="2084832"/>
          </a:xfrm>
          <a:prstGeom prst="roundRect">
            <a:avLst>
              <a:gd name="adj" fmla="val 2000"/>
            </a:avLst>
          </a:prstGeom>
          <a:solidFill>
            <a:srgbClr val="D5E3E2"/>
          </a:solidFill>
          <a:ln>
            <a:noFill/>
          </a:ln>
          <a:effectLst/>
        </p:spPr>
        <p:txBody>
          <a:bodyPr rtlCol="0" anchor="ctr"/>
          <a:lstStyle/>
          <a:p>
            <a:pPr algn="ctr"/>
          </a:p>
        </p:txBody>
      </p:sp>
      <p:pic>
        <p:nvPicPr>
          <p:cNvPr id="63" name="Picture 62" descr="dm_login.png"/>
          <p:cNvPicPr>
            <a:picLocks noChangeAspect="1"/>
          </p:cNvPicPr>
          <p:nvPr/>
        </p:nvPicPr>
        <p:blipFill>
          <a:blip r:embed="rId3"/>
          <a:stretch>
            <a:fillRect/>
          </a:stretch>
        </p:blipFill>
        <p:spPr>
          <a:xfrm>
            <a:off x="7315200" y="3566160"/>
            <a:ext cx="3218688" cy="2011680"/>
          </a:xfrm>
          <a:prstGeom prst="rect">
            <a:avLst/>
          </a:prstGeom>
        </p:spPr>
      </p:pic>
      <p:sp>
        <p:nvSpPr>
          <p:cNvPr id="64" name="TextBox 63"/>
          <p:cNvSpPr txBox="1"/>
          <p:nvPr/>
        </p:nvSpPr>
        <p:spPr>
          <a:xfrm>
            <a:off x="420624" y="5852160"/>
            <a:ext cx="11338560" cy="274320"/>
          </a:xfrm>
          <a:prstGeom prst="rect">
            <a:avLst/>
          </a:prstGeom>
          <a:noFill/>
        </p:spPr>
        <p:txBody>
          <a:bodyPr wrap="square" anchor="t" lIns="0" rIns="0" tIns="0" bIns="0">
            <a:spAutoFit/>
          </a:bodyPr>
          <a:lstStyle/>
          <a:p>
            <a:pPr algn="l"/>
            <a:r>
              <a:rPr sz="1200" b="1" i="0">
                <a:solidFill>
                  <a:srgbClr val="0F766E"/>
                </a:solidFill>
                <a:latin typeface="Aptos"/>
                <a:hlinkClick r:id="rId4"/>
              </a:rPr>
              <a:t>Dùng thử: thptyenhoa.github.io/Theo-doi-hanh-kiem-11D3-nam-hoc-2026-2027/?demo=1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8595360" y="1234440"/>
            <a:ext cx="3172968" cy="4233672"/>
          </a:xfrm>
          <a:prstGeom prst="rect">
            <a:avLst/>
          </a:prstGeom>
          <a:solidFill>
            <a:srgbClr val="F4F7F7"/>
          </a:solidFill>
          <a:ln>
            <a:noFill/>
          </a:ln>
          <a:effectLst/>
        </p:spPr>
        <p:txBody>
          <a:bodyPr rtlCol="0" anchor="ctr"/>
          <a:lstStyle/>
          <a:p>
            <a:pPr algn="ctr"/>
          </a:p>
        </p:txBody>
      </p:sp>
      <p:sp>
        <p:nvSpPr>
          <p:cNvPr id="4" name="TextBox 3"/>
          <p:cNvSpPr txBox="1"/>
          <p:nvPr/>
        </p:nvSpPr>
        <p:spPr>
          <a:xfrm>
            <a:off x="8595360" y="3168396"/>
            <a:ext cx="3172968" cy="365760"/>
          </a:xfrm>
          <a:prstGeom prst="rect">
            <a:avLst/>
          </a:prstGeom>
          <a:noFill/>
        </p:spPr>
        <p:txBody>
          <a:bodyPr wrap="square" anchor="ctr" lIns="0" rIns="0" tIns="0" bIns="0">
            <a:spAutoFit/>
          </a:bodyPr>
          <a:lstStyle/>
          <a:p>
            <a:pPr algn="ctr"/>
            <a:r>
              <a:rPr sz="1300" b="1" i="0">
                <a:solidFill>
                  <a:srgbClr val="5F7472"/>
                </a:solidFill>
                <a:latin typeface="Aptos"/>
              </a:rPr>
              <a:t>ẢNH 04 · 3:4</a:t>
            </a:r>
          </a:p>
        </p:txBody>
      </p:sp>
      <p:sp>
        <p:nvSpPr>
          <p:cNvPr id="2" name="Picture Placeholder 1"/>
          <p:cNvSpPr>
            <a:spLocks noGrp="1"/>
          </p:cNvSpPr>
          <p:nvPr>
            <p:ph type="pic" idx="20" sz="quarter"/>
          </p:nvPr>
        </p:nvSpPr>
        <p:spPr/>
        <p:txBody>
          <a:bodyPr/>
          <a:p/>
        </p:txBody>
      </p:sp>
      <p:cxnSp>
        <p:nvCxnSpPr>
          <p:cNvPr id="5" name="Connector 4"/>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V · MỞ RỘNG</a:t>
            </a:r>
          </a:p>
        </p:txBody>
      </p:sp>
      <p:sp>
        <p:nvSpPr>
          <p:cNvPr id="7" name="TextBox 6"/>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20</a:t>
            </a:r>
          </a:p>
        </p:txBody>
      </p:sp>
      <p:sp>
        <p:nvSpPr>
          <p:cNvPr id="8" name="TextBox 7"/>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Hướng phát triển khả thi, phục vụ giáo dục toàn diện</a:t>
            </a:r>
          </a:p>
        </p:txBody>
      </p:sp>
      <p:cxnSp>
        <p:nvCxnSpPr>
          <p:cNvPr id="9" name="Connector 8"/>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11" name="TextBox 10"/>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12" name="TextBox 11"/>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3" name="TextBox 12"/>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4" name="TextBox 13"/>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5" name="Rounded Rectangle 14"/>
          <p:cNvSpPr/>
          <p:nvPr/>
        </p:nvSpPr>
        <p:spPr>
          <a:xfrm>
            <a:off x="9938004"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6" name="TextBox 15"/>
          <p:cNvSpPr txBox="1"/>
          <p:nvPr/>
        </p:nvSpPr>
        <p:spPr>
          <a:xfrm>
            <a:off x="10029444"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V · MỞ RỘNG</a:t>
            </a:r>
          </a:p>
        </p:txBody>
      </p:sp>
      <p:sp>
        <p:nvSpPr>
          <p:cNvPr id="17" name="Pentagon 16"/>
          <p:cNvSpPr/>
          <p:nvPr/>
        </p:nvSpPr>
        <p:spPr>
          <a:xfrm>
            <a:off x="420624" y="1234440"/>
            <a:ext cx="2651760" cy="658368"/>
          </a:xfrm>
          <a:prstGeom prst="homePlate">
            <a:avLst>
              <a:gd name="adj" fmla="val 30000"/>
            </a:avLst>
          </a:prstGeom>
          <a:solidFill>
            <a:srgbClr val="99D5CF"/>
          </a:solidFill>
          <a:ln>
            <a:noFill/>
          </a:ln>
          <a:effectLst/>
        </p:spPr>
        <p:txBody>
          <a:bodyPr rtlCol="0" anchor="ctr"/>
          <a:lstStyle/>
          <a:p>
            <a:pPr algn="ctr"/>
          </a:p>
        </p:txBody>
      </p:sp>
      <p:sp>
        <p:nvSpPr>
          <p:cNvPr id="18" name="TextBox 17"/>
          <p:cNvSpPr txBox="1"/>
          <p:nvPr/>
        </p:nvSpPr>
        <p:spPr>
          <a:xfrm>
            <a:off x="649224" y="1234440"/>
            <a:ext cx="2103120" cy="658368"/>
          </a:xfrm>
          <a:prstGeom prst="rect">
            <a:avLst/>
          </a:prstGeom>
          <a:noFill/>
        </p:spPr>
        <p:txBody>
          <a:bodyPr wrap="square" anchor="ctr" lIns="0" rIns="0" tIns="0" bIns="0">
            <a:spAutoFit/>
          </a:bodyPr>
          <a:lstStyle/>
          <a:p>
            <a:pPr algn="ctr"/>
            <a:r>
              <a:rPr sz="1600" b="1" i="0">
                <a:solidFill>
                  <a:srgbClr val="0F4C47"/>
                </a:solidFill>
                <a:latin typeface="Aptos"/>
              </a:rPr>
              <a:t>Học kỳ II</a:t>
            </a:r>
          </a:p>
        </p:txBody>
      </p:sp>
      <p:sp>
        <p:nvSpPr>
          <p:cNvPr id="19" name="Rounded Rectangle 18"/>
          <p:cNvSpPr/>
          <p:nvPr/>
        </p:nvSpPr>
        <p:spPr>
          <a:xfrm>
            <a:off x="420624" y="2103120"/>
            <a:ext cx="2606040" cy="822960"/>
          </a:xfrm>
          <a:prstGeom prst="roundRect">
            <a:avLst>
              <a:gd name="adj" fmla="val 14000"/>
            </a:avLst>
          </a:prstGeom>
          <a:solidFill>
            <a:srgbClr val="F4F7F7"/>
          </a:solidFill>
          <a:ln>
            <a:noFill/>
          </a:ln>
          <a:effectLst/>
        </p:spPr>
        <p:txBody>
          <a:bodyPr rtlCol="0" anchor="ctr"/>
          <a:lstStyle/>
          <a:p>
            <a:pPr algn="ctr"/>
          </a:p>
        </p:txBody>
      </p:sp>
      <p:sp>
        <p:nvSpPr>
          <p:cNvPr id="20" name="TextBox 19"/>
          <p:cNvSpPr txBox="1"/>
          <p:nvPr/>
        </p:nvSpPr>
        <p:spPr>
          <a:xfrm>
            <a:off x="585216" y="2103120"/>
            <a:ext cx="2286000" cy="822960"/>
          </a:xfrm>
          <a:prstGeom prst="rect">
            <a:avLst/>
          </a:prstGeom>
          <a:noFill/>
        </p:spPr>
        <p:txBody>
          <a:bodyPr wrap="square" anchor="ctr" lIns="0" rIns="0" tIns="0" bIns="0">
            <a:spAutoFit/>
          </a:bodyPr>
          <a:lstStyle/>
          <a:p>
            <a:pPr algn="l"/>
            <a:r>
              <a:rPr sz="1300" b="0" i="0">
                <a:solidFill>
                  <a:srgbClr val="1F2D2C"/>
                </a:solidFill>
                <a:latin typeface="Aptos"/>
              </a:rPr>
              <a:t>Dùng cho nhiều lớp, cùng một mẫu</a:t>
            </a:r>
          </a:p>
        </p:txBody>
      </p:sp>
      <p:sp>
        <p:nvSpPr>
          <p:cNvPr id="21" name="Rounded Rectangle 20"/>
          <p:cNvSpPr/>
          <p:nvPr/>
        </p:nvSpPr>
        <p:spPr>
          <a:xfrm>
            <a:off x="420624" y="3063239"/>
            <a:ext cx="2606040" cy="822960"/>
          </a:xfrm>
          <a:prstGeom prst="roundRect">
            <a:avLst>
              <a:gd name="adj" fmla="val 14000"/>
            </a:avLst>
          </a:prstGeom>
          <a:solidFill>
            <a:srgbClr val="F4F7F7"/>
          </a:solidFill>
          <a:ln>
            <a:noFill/>
          </a:ln>
          <a:effectLst/>
        </p:spPr>
        <p:txBody>
          <a:bodyPr rtlCol="0" anchor="ctr"/>
          <a:lstStyle/>
          <a:p>
            <a:pPr algn="ctr"/>
          </a:p>
        </p:txBody>
      </p:sp>
      <p:sp>
        <p:nvSpPr>
          <p:cNvPr id="22" name="TextBox 21"/>
          <p:cNvSpPr txBox="1"/>
          <p:nvPr/>
        </p:nvSpPr>
        <p:spPr>
          <a:xfrm>
            <a:off x="585216" y="3063239"/>
            <a:ext cx="2286000" cy="822960"/>
          </a:xfrm>
          <a:prstGeom prst="rect">
            <a:avLst/>
          </a:prstGeom>
          <a:noFill/>
        </p:spPr>
        <p:txBody>
          <a:bodyPr wrap="square" anchor="ctr" lIns="0" rIns="0" tIns="0" bIns="0">
            <a:spAutoFit/>
          </a:bodyPr>
          <a:lstStyle/>
          <a:p>
            <a:pPr algn="l"/>
            <a:r>
              <a:rPr sz="1300" b="0" i="0">
                <a:solidFill>
                  <a:srgbClr val="1F2D2C"/>
                </a:solidFill>
                <a:latin typeface="Aptos"/>
              </a:rPr>
              <a:t>Bảng tổng hợp toàn trường cho Ban giám hiệu</a:t>
            </a:r>
          </a:p>
        </p:txBody>
      </p:sp>
      <p:sp>
        <p:nvSpPr>
          <p:cNvPr id="23" name="Rounded Rectangle 22"/>
          <p:cNvSpPr/>
          <p:nvPr/>
        </p:nvSpPr>
        <p:spPr>
          <a:xfrm>
            <a:off x="420624" y="4023360"/>
            <a:ext cx="2606040" cy="822960"/>
          </a:xfrm>
          <a:prstGeom prst="roundRect">
            <a:avLst>
              <a:gd name="adj" fmla="val 14000"/>
            </a:avLst>
          </a:prstGeom>
          <a:solidFill>
            <a:srgbClr val="F4F7F7"/>
          </a:solidFill>
          <a:ln>
            <a:noFill/>
          </a:ln>
          <a:effectLst/>
        </p:spPr>
        <p:txBody>
          <a:bodyPr rtlCol="0" anchor="ctr"/>
          <a:lstStyle/>
          <a:p>
            <a:pPr algn="ctr"/>
          </a:p>
        </p:txBody>
      </p:sp>
      <p:sp>
        <p:nvSpPr>
          <p:cNvPr id="24" name="TextBox 23"/>
          <p:cNvSpPr txBox="1"/>
          <p:nvPr/>
        </p:nvSpPr>
        <p:spPr>
          <a:xfrm>
            <a:off x="585216" y="4023360"/>
            <a:ext cx="2286000" cy="822960"/>
          </a:xfrm>
          <a:prstGeom prst="rect">
            <a:avLst/>
          </a:prstGeom>
          <a:noFill/>
        </p:spPr>
        <p:txBody>
          <a:bodyPr wrap="square" anchor="ctr" lIns="0" rIns="0" tIns="0" bIns="0">
            <a:spAutoFit/>
          </a:bodyPr>
          <a:lstStyle/>
          <a:p>
            <a:pPr algn="l"/>
            <a:r>
              <a:rPr sz="1300" b="1" i="0">
                <a:solidFill>
                  <a:srgbClr val="C2410C"/>
                </a:solidFill>
                <a:latin typeface="Aptos"/>
              </a:rPr>
              <a:t>AI</a:t>
            </a:r>
            <a:r>
              <a:rPr sz="1300" b="0" i="0">
                <a:solidFill>
                  <a:srgbClr val="1F2D2C"/>
                </a:solidFill>
                <a:latin typeface="Aptos"/>
              </a:rPr>
              <a:t> gợi ý lời nhận xét, giáo viên duyệt</a:t>
            </a:r>
          </a:p>
        </p:txBody>
      </p:sp>
      <p:sp>
        <p:nvSpPr>
          <p:cNvPr id="25" name="Chevron 24"/>
          <p:cNvSpPr/>
          <p:nvPr/>
        </p:nvSpPr>
        <p:spPr>
          <a:xfrm>
            <a:off x="3145536" y="1234440"/>
            <a:ext cx="2651760" cy="658368"/>
          </a:xfrm>
          <a:prstGeom prst="chevron">
            <a:avLst>
              <a:gd name="adj" fmla="val 30000"/>
            </a:avLst>
          </a:prstGeom>
          <a:solidFill>
            <a:srgbClr val="2A9D8F"/>
          </a:solidFill>
          <a:ln>
            <a:noFill/>
          </a:ln>
          <a:effectLst/>
        </p:spPr>
        <p:txBody>
          <a:bodyPr rtlCol="0" anchor="ctr"/>
          <a:lstStyle/>
          <a:p>
            <a:pPr algn="ctr"/>
          </a:p>
        </p:txBody>
      </p:sp>
      <p:sp>
        <p:nvSpPr>
          <p:cNvPr id="26" name="TextBox 25"/>
          <p:cNvSpPr txBox="1"/>
          <p:nvPr/>
        </p:nvSpPr>
        <p:spPr>
          <a:xfrm>
            <a:off x="3374136" y="1234440"/>
            <a:ext cx="2103120" cy="658368"/>
          </a:xfrm>
          <a:prstGeom prst="rect">
            <a:avLst/>
          </a:prstGeom>
          <a:noFill/>
        </p:spPr>
        <p:txBody>
          <a:bodyPr wrap="square" anchor="ctr" lIns="0" rIns="0" tIns="0" bIns="0">
            <a:spAutoFit/>
          </a:bodyPr>
          <a:lstStyle/>
          <a:p>
            <a:pPr algn="ctr"/>
            <a:r>
              <a:rPr sz="1600" b="1" i="0">
                <a:solidFill>
                  <a:srgbClr val="FFFFFF"/>
                </a:solidFill>
                <a:latin typeface="Aptos"/>
              </a:rPr>
              <a:t>Năm học tới</a:t>
            </a:r>
          </a:p>
        </p:txBody>
      </p:sp>
      <p:sp>
        <p:nvSpPr>
          <p:cNvPr id="27" name="Rounded Rectangle 26"/>
          <p:cNvSpPr/>
          <p:nvPr/>
        </p:nvSpPr>
        <p:spPr>
          <a:xfrm>
            <a:off x="3145536" y="2103120"/>
            <a:ext cx="2606040" cy="822960"/>
          </a:xfrm>
          <a:prstGeom prst="roundRect">
            <a:avLst>
              <a:gd name="adj" fmla="val 14000"/>
            </a:avLst>
          </a:prstGeom>
          <a:solidFill>
            <a:srgbClr val="F4F7F7"/>
          </a:solidFill>
          <a:ln>
            <a:noFill/>
          </a:ln>
          <a:effectLst/>
        </p:spPr>
        <p:txBody>
          <a:bodyPr rtlCol="0" anchor="ctr"/>
          <a:lstStyle/>
          <a:p>
            <a:pPr algn="ctr"/>
          </a:p>
        </p:txBody>
      </p:sp>
      <p:sp>
        <p:nvSpPr>
          <p:cNvPr id="28" name="TextBox 27"/>
          <p:cNvSpPr txBox="1"/>
          <p:nvPr/>
        </p:nvSpPr>
        <p:spPr>
          <a:xfrm>
            <a:off x="3310128" y="2103120"/>
            <a:ext cx="2286000" cy="822960"/>
          </a:xfrm>
          <a:prstGeom prst="rect">
            <a:avLst/>
          </a:prstGeom>
          <a:noFill/>
        </p:spPr>
        <p:txBody>
          <a:bodyPr wrap="square" anchor="ctr" lIns="0" rIns="0" tIns="0" bIns="0">
            <a:spAutoFit/>
          </a:bodyPr>
          <a:lstStyle/>
          <a:p>
            <a:pPr algn="l"/>
            <a:r>
              <a:rPr sz="1300" b="0" i="0">
                <a:solidFill>
                  <a:srgbClr val="1F2D2C"/>
                </a:solidFill>
                <a:latin typeface="Aptos"/>
              </a:rPr>
              <a:t>Cảnh báo sớm học sinh vi phạm tăng</a:t>
            </a:r>
          </a:p>
        </p:txBody>
      </p:sp>
      <p:sp>
        <p:nvSpPr>
          <p:cNvPr id="29" name="Rounded Rectangle 28"/>
          <p:cNvSpPr/>
          <p:nvPr/>
        </p:nvSpPr>
        <p:spPr>
          <a:xfrm>
            <a:off x="3145536" y="3063239"/>
            <a:ext cx="2606040" cy="822960"/>
          </a:xfrm>
          <a:prstGeom prst="roundRect">
            <a:avLst>
              <a:gd name="adj" fmla="val 14000"/>
            </a:avLst>
          </a:prstGeom>
          <a:solidFill>
            <a:srgbClr val="F4F7F7"/>
          </a:solidFill>
          <a:ln>
            <a:noFill/>
          </a:ln>
          <a:effectLst/>
        </p:spPr>
        <p:txBody>
          <a:bodyPr rtlCol="0" anchor="ctr"/>
          <a:lstStyle/>
          <a:p>
            <a:pPr algn="ctr"/>
          </a:p>
        </p:txBody>
      </p:sp>
      <p:sp>
        <p:nvSpPr>
          <p:cNvPr id="30" name="TextBox 29"/>
          <p:cNvSpPr txBox="1"/>
          <p:nvPr/>
        </p:nvSpPr>
        <p:spPr>
          <a:xfrm>
            <a:off x="3310128" y="3063239"/>
            <a:ext cx="2286000" cy="822960"/>
          </a:xfrm>
          <a:prstGeom prst="rect">
            <a:avLst/>
          </a:prstGeom>
          <a:noFill/>
        </p:spPr>
        <p:txBody>
          <a:bodyPr wrap="square" anchor="ctr" lIns="0" rIns="0" tIns="0" bIns="0">
            <a:spAutoFit/>
          </a:bodyPr>
          <a:lstStyle/>
          <a:p>
            <a:pPr algn="l"/>
            <a:r>
              <a:rPr sz="1300" b="0" i="0">
                <a:solidFill>
                  <a:srgbClr val="1F2D2C"/>
                </a:solidFill>
                <a:latin typeface="Aptos"/>
              </a:rPr>
              <a:t>Học sinh tự đánh giá, nhận huy hiệu</a:t>
            </a:r>
          </a:p>
        </p:txBody>
      </p:sp>
      <p:sp>
        <p:nvSpPr>
          <p:cNvPr id="31" name="Rounded Rectangle 30"/>
          <p:cNvSpPr/>
          <p:nvPr/>
        </p:nvSpPr>
        <p:spPr>
          <a:xfrm>
            <a:off x="3145536" y="4023360"/>
            <a:ext cx="2606040" cy="822960"/>
          </a:xfrm>
          <a:prstGeom prst="roundRect">
            <a:avLst>
              <a:gd name="adj" fmla="val 14000"/>
            </a:avLst>
          </a:prstGeom>
          <a:solidFill>
            <a:srgbClr val="F4F7F7"/>
          </a:solidFill>
          <a:ln>
            <a:noFill/>
          </a:ln>
          <a:effectLst/>
        </p:spPr>
        <p:txBody>
          <a:bodyPr rtlCol="0" anchor="ctr"/>
          <a:lstStyle/>
          <a:p>
            <a:pPr algn="ctr"/>
          </a:p>
        </p:txBody>
      </p:sp>
      <p:sp>
        <p:nvSpPr>
          <p:cNvPr id="32" name="TextBox 31"/>
          <p:cNvSpPr txBox="1"/>
          <p:nvPr/>
        </p:nvSpPr>
        <p:spPr>
          <a:xfrm>
            <a:off x="3310128" y="4023360"/>
            <a:ext cx="2286000" cy="822960"/>
          </a:xfrm>
          <a:prstGeom prst="rect">
            <a:avLst/>
          </a:prstGeom>
          <a:noFill/>
        </p:spPr>
        <p:txBody>
          <a:bodyPr wrap="square" anchor="ctr" lIns="0" rIns="0" tIns="0" bIns="0">
            <a:spAutoFit/>
          </a:bodyPr>
          <a:lstStyle/>
          <a:p>
            <a:pPr algn="l"/>
            <a:r>
              <a:rPr sz="1300" b="0" i="0">
                <a:solidFill>
                  <a:srgbClr val="1F2D2C"/>
                </a:solidFill>
                <a:latin typeface="Aptos"/>
              </a:rPr>
              <a:t>Gửi thông báo qua Zalo</a:t>
            </a:r>
          </a:p>
        </p:txBody>
      </p:sp>
      <p:sp>
        <p:nvSpPr>
          <p:cNvPr id="33" name="Chevron 32"/>
          <p:cNvSpPr/>
          <p:nvPr/>
        </p:nvSpPr>
        <p:spPr>
          <a:xfrm>
            <a:off x="5870448" y="1234440"/>
            <a:ext cx="2651760" cy="658368"/>
          </a:xfrm>
          <a:prstGeom prst="chevron">
            <a:avLst>
              <a:gd name="adj" fmla="val 30000"/>
            </a:avLst>
          </a:prstGeom>
          <a:solidFill>
            <a:srgbClr val="0F766E"/>
          </a:solidFill>
          <a:ln>
            <a:noFill/>
          </a:ln>
          <a:effectLst/>
        </p:spPr>
        <p:txBody>
          <a:bodyPr rtlCol="0" anchor="ctr"/>
          <a:lstStyle/>
          <a:p>
            <a:pPr algn="ctr"/>
          </a:p>
        </p:txBody>
      </p:sp>
      <p:sp>
        <p:nvSpPr>
          <p:cNvPr id="34" name="TextBox 33"/>
          <p:cNvSpPr txBox="1"/>
          <p:nvPr/>
        </p:nvSpPr>
        <p:spPr>
          <a:xfrm>
            <a:off x="6099048" y="1234440"/>
            <a:ext cx="2103120" cy="658368"/>
          </a:xfrm>
          <a:prstGeom prst="rect">
            <a:avLst/>
          </a:prstGeom>
          <a:noFill/>
        </p:spPr>
        <p:txBody>
          <a:bodyPr wrap="square" anchor="ctr" lIns="0" rIns="0" tIns="0" bIns="0">
            <a:spAutoFit/>
          </a:bodyPr>
          <a:lstStyle/>
          <a:p>
            <a:pPr algn="ctr"/>
            <a:r>
              <a:rPr sz="1600" b="1" i="0">
                <a:solidFill>
                  <a:srgbClr val="FFFFFF"/>
                </a:solidFill>
                <a:latin typeface="Aptos"/>
              </a:rPr>
              <a:t>Lâu dài</a:t>
            </a:r>
          </a:p>
        </p:txBody>
      </p:sp>
      <p:sp>
        <p:nvSpPr>
          <p:cNvPr id="35" name="Rounded Rectangle 34"/>
          <p:cNvSpPr/>
          <p:nvPr/>
        </p:nvSpPr>
        <p:spPr>
          <a:xfrm>
            <a:off x="5870448" y="2103120"/>
            <a:ext cx="2606040" cy="822960"/>
          </a:xfrm>
          <a:prstGeom prst="roundRect">
            <a:avLst>
              <a:gd name="adj" fmla="val 14000"/>
            </a:avLst>
          </a:prstGeom>
          <a:solidFill>
            <a:srgbClr val="F4F7F7"/>
          </a:solidFill>
          <a:ln>
            <a:noFill/>
          </a:ln>
          <a:effectLst/>
        </p:spPr>
        <p:txBody>
          <a:bodyPr rtlCol="0" anchor="ctr"/>
          <a:lstStyle/>
          <a:p>
            <a:pPr algn="ctr"/>
          </a:p>
        </p:txBody>
      </p:sp>
      <p:sp>
        <p:nvSpPr>
          <p:cNvPr id="36" name="TextBox 35"/>
          <p:cNvSpPr txBox="1"/>
          <p:nvPr/>
        </p:nvSpPr>
        <p:spPr>
          <a:xfrm>
            <a:off x="6035040" y="2103120"/>
            <a:ext cx="2286000" cy="822960"/>
          </a:xfrm>
          <a:prstGeom prst="rect">
            <a:avLst/>
          </a:prstGeom>
          <a:noFill/>
        </p:spPr>
        <p:txBody>
          <a:bodyPr wrap="square" anchor="ctr" lIns="0" rIns="0" tIns="0" bIns="0">
            <a:spAutoFit/>
          </a:bodyPr>
          <a:lstStyle/>
          <a:p>
            <a:pPr algn="l"/>
            <a:r>
              <a:rPr sz="1300" b="0" i="0">
                <a:solidFill>
                  <a:srgbClr val="1F2D2C"/>
                </a:solidFill>
                <a:latin typeface="Aptos"/>
              </a:rPr>
              <a:t>Kết nối điểm danh, sổ đầu bài</a:t>
            </a:r>
          </a:p>
        </p:txBody>
      </p:sp>
      <p:sp>
        <p:nvSpPr>
          <p:cNvPr id="37" name="Rounded Rectangle 36"/>
          <p:cNvSpPr/>
          <p:nvPr/>
        </p:nvSpPr>
        <p:spPr>
          <a:xfrm>
            <a:off x="5870448" y="3063239"/>
            <a:ext cx="2606040" cy="822960"/>
          </a:xfrm>
          <a:prstGeom prst="roundRect">
            <a:avLst>
              <a:gd name="adj" fmla="val 14000"/>
            </a:avLst>
          </a:prstGeom>
          <a:solidFill>
            <a:srgbClr val="F4F7F7"/>
          </a:solidFill>
          <a:ln>
            <a:noFill/>
          </a:ln>
          <a:effectLst/>
        </p:spPr>
        <p:txBody>
          <a:bodyPr rtlCol="0" anchor="ctr"/>
          <a:lstStyle/>
          <a:p>
            <a:pPr algn="ctr"/>
          </a:p>
        </p:txBody>
      </p:sp>
      <p:sp>
        <p:nvSpPr>
          <p:cNvPr id="38" name="TextBox 37"/>
          <p:cNvSpPr txBox="1"/>
          <p:nvPr/>
        </p:nvSpPr>
        <p:spPr>
          <a:xfrm>
            <a:off x="6035040" y="3063239"/>
            <a:ext cx="2286000" cy="822960"/>
          </a:xfrm>
          <a:prstGeom prst="rect">
            <a:avLst/>
          </a:prstGeom>
          <a:noFill/>
        </p:spPr>
        <p:txBody>
          <a:bodyPr wrap="square" anchor="ctr" lIns="0" rIns="0" tIns="0" bIns="0">
            <a:spAutoFit/>
          </a:bodyPr>
          <a:lstStyle/>
          <a:p>
            <a:pPr algn="l"/>
            <a:r>
              <a:rPr sz="1300" b="0" i="0">
                <a:solidFill>
                  <a:srgbClr val="1F2D2C"/>
                </a:solidFill>
                <a:latin typeface="Aptos"/>
              </a:rPr>
              <a:t>Hồ sơ rèn luyện suốt 3 năm</a:t>
            </a:r>
          </a:p>
        </p:txBody>
      </p:sp>
      <p:sp>
        <p:nvSpPr>
          <p:cNvPr id="39" name="Rounded Rectangle 38"/>
          <p:cNvSpPr/>
          <p:nvPr/>
        </p:nvSpPr>
        <p:spPr>
          <a:xfrm>
            <a:off x="5870448" y="4023360"/>
            <a:ext cx="2606040" cy="822960"/>
          </a:xfrm>
          <a:prstGeom prst="roundRect">
            <a:avLst>
              <a:gd name="adj" fmla="val 14000"/>
            </a:avLst>
          </a:prstGeom>
          <a:solidFill>
            <a:srgbClr val="F4F7F7"/>
          </a:solidFill>
          <a:ln>
            <a:noFill/>
          </a:ln>
          <a:effectLst/>
        </p:spPr>
        <p:txBody>
          <a:bodyPr rtlCol="0" anchor="ctr"/>
          <a:lstStyle/>
          <a:p>
            <a:pPr algn="ctr"/>
          </a:p>
        </p:txBody>
      </p:sp>
      <p:sp>
        <p:nvSpPr>
          <p:cNvPr id="40" name="TextBox 39"/>
          <p:cNvSpPr txBox="1"/>
          <p:nvPr/>
        </p:nvSpPr>
        <p:spPr>
          <a:xfrm>
            <a:off x="6035040" y="4023360"/>
            <a:ext cx="2286000" cy="822960"/>
          </a:xfrm>
          <a:prstGeom prst="rect">
            <a:avLst/>
          </a:prstGeom>
          <a:noFill/>
        </p:spPr>
        <p:txBody>
          <a:bodyPr wrap="square" anchor="ctr" lIns="0" rIns="0" tIns="0" bIns="0">
            <a:spAutoFit/>
          </a:bodyPr>
          <a:lstStyle/>
          <a:p>
            <a:pPr algn="l"/>
            <a:r>
              <a:rPr sz="1300" b="0" i="0">
                <a:solidFill>
                  <a:srgbClr val="1F2D2C"/>
                </a:solidFill>
                <a:latin typeface="Aptos"/>
              </a:rPr>
              <a:t>Ghi nhận năng lực số, hoạt động xanh</a:t>
            </a:r>
          </a:p>
        </p:txBody>
      </p:sp>
      <p:sp>
        <p:nvSpPr>
          <p:cNvPr id="41" name="Rounded Rectangle 40"/>
          <p:cNvSpPr/>
          <p:nvPr/>
        </p:nvSpPr>
        <p:spPr>
          <a:xfrm>
            <a:off x="420624" y="5074920"/>
            <a:ext cx="8037575" cy="868680"/>
          </a:xfrm>
          <a:prstGeom prst="roundRect">
            <a:avLst>
              <a:gd name="adj" fmla="val 14000"/>
            </a:avLst>
          </a:prstGeom>
          <a:solidFill>
            <a:srgbClr val="FFF1E0"/>
          </a:solidFill>
          <a:ln>
            <a:noFill/>
          </a:ln>
          <a:effectLst/>
        </p:spPr>
        <p:txBody>
          <a:bodyPr rtlCol="0" anchor="ctr"/>
          <a:lstStyle/>
          <a:p>
            <a:pPr algn="ctr"/>
          </a:p>
        </p:txBody>
      </p:sp>
      <p:sp>
        <p:nvSpPr>
          <p:cNvPr id="42" name="TextBox 41"/>
          <p:cNvSpPr txBox="1"/>
          <p:nvPr/>
        </p:nvSpPr>
        <p:spPr>
          <a:xfrm>
            <a:off x="685800" y="5074920"/>
            <a:ext cx="7589520" cy="868680"/>
          </a:xfrm>
          <a:prstGeom prst="rect">
            <a:avLst/>
          </a:prstGeom>
          <a:noFill/>
        </p:spPr>
        <p:txBody>
          <a:bodyPr wrap="square" anchor="ctr" lIns="0" rIns="0" tIns="0" bIns="0">
            <a:spAutoFit/>
          </a:bodyPr>
          <a:lstStyle/>
          <a:p>
            <a:pPr algn="l"/>
            <a:r>
              <a:rPr sz="1350" b="1" i="0">
                <a:solidFill>
                  <a:srgbClr val="0F4C47"/>
                </a:solidFill>
                <a:latin typeface="Aptos"/>
              </a:rPr>
              <a:t>Giữ nguyên nguyên tắc: </a:t>
            </a:r>
            <a:r>
              <a:rPr sz="1350" b="1" i="0">
                <a:solidFill>
                  <a:srgbClr val="C2410C"/>
                </a:solidFill>
                <a:latin typeface="Aptos"/>
              </a:rPr>
              <a:t>AI</a:t>
            </a:r>
            <a:r>
              <a:rPr sz="1350" b="0" i="0">
                <a:solidFill>
                  <a:srgbClr val="1F2D2C"/>
                </a:solidFill>
                <a:latin typeface="Aptos"/>
              </a:rPr>
              <a:t> chỉ gợi ý, giáo viên quyết định; dữ liệu học sinh nằm trong hệ thống của nhà trường.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8595360" y="1234440"/>
            <a:ext cx="3172968" cy="4233672"/>
          </a:xfrm>
          <a:prstGeom prst="rect">
            <a:avLst/>
          </a:prstGeom>
          <a:solidFill>
            <a:srgbClr val="F4F7F7"/>
          </a:solidFill>
          <a:ln>
            <a:noFill/>
          </a:ln>
          <a:effectLst/>
        </p:spPr>
        <p:txBody>
          <a:bodyPr rtlCol="0" anchor="ctr"/>
          <a:lstStyle/>
          <a:p>
            <a:pPr algn="ctr"/>
          </a:p>
        </p:txBody>
      </p:sp>
      <p:sp>
        <p:nvSpPr>
          <p:cNvPr id="4" name="TextBox 3"/>
          <p:cNvSpPr txBox="1"/>
          <p:nvPr/>
        </p:nvSpPr>
        <p:spPr>
          <a:xfrm>
            <a:off x="8595360" y="3168396"/>
            <a:ext cx="3172968" cy="365760"/>
          </a:xfrm>
          <a:prstGeom prst="rect">
            <a:avLst/>
          </a:prstGeom>
          <a:noFill/>
        </p:spPr>
        <p:txBody>
          <a:bodyPr wrap="square" anchor="ctr" lIns="0" rIns="0" tIns="0" bIns="0">
            <a:spAutoFit/>
          </a:bodyPr>
          <a:lstStyle/>
          <a:p>
            <a:pPr algn="ctr"/>
            <a:r>
              <a:rPr sz="1300" b="1" i="0">
                <a:solidFill>
                  <a:srgbClr val="5F7472"/>
                </a:solidFill>
                <a:latin typeface="Aptos"/>
              </a:rPr>
              <a:t>ẢNH 05 · 3:4</a:t>
            </a:r>
          </a:p>
        </p:txBody>
      </p:sp>
      <p:sp>
        <p:nvSpPr>
          <p:cNvPr id="2" name="Picture Placeholder 1"/>
          <p:cNvSpPr>
            <a:spLocks noGrp="1"/>
          </p:cNvSpPr>
          <p:nvPr>
            <p:ph type="pic" idx="20" sz="quarter"/>
          </p:nvPr>
        </p:nvSpPr>
        <p:spPr/>
        <p:txBody>
          <a:bodyPr/>
          <a:p/>
        </p:txBody>
      </p:sp>
      <p:cxnSp>
        <p:nvCxnSpPr>
          <p:cNvPr id="5" name="Connector 4"/>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V · MỞ RỘNG</a:t>
            </a:r>
          </a:p>
        </p:txBody>
      </p:sp>
      <p:sp>
        <p:nvSpPr>
          <p:cNvPr id="7" name="TextBox 6"/>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21</a:t>
            </a:r>
          </a:p>
        </p:txBody>
      </p:sp>
      <p:sp>
        <p:nvSpPr>
          <p:cNvPr id="8" name="TextBox 7"/>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Mở rộng thành sổ liên lạc điện tử của cả trường</a:t>
            </a:r>
          </a:p>
        </p:txBody>
      </p:sp>
      <p:cxnSp>
        <p:nvCxnSpPr>
          <p:cNvPr id="9" name="Connector 8"/>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11" name="TextBox 10"/>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12" name="TextBox 11"/>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3" name="TextBox 12"/>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4" name="TextBox 13"/>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5" name="Rounded Rectangle 14"/>
          <p:cNvSpPr/>
          <p:nvPr/>
        </p:nvSpPr>
        <p:spPr>
          <a:xfrm>
            <a:off x="9938004"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6" name="TextBox 15"/>
          <p:cNvSpPr txBox="1"/>
          <p:nvPr/>
        </p:nvSpPr>
        <p:spPr>
          <a:xfrm>
            <a:off x="10029444"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V · MỞ RỘNG</a:t>
            </a:r>
          </a:p>
        </p:txBody>
      </p:sp>
      <p:sp>
        <p:nvSpPr>
          <p:cNvPr id="17" name="Rounded Rectangle 16"/>
          <p:cNvSpPr/>
          <p:nvPr/>
        </p:nvSpPr>
        <p:spPr>
          <a:xfrm>
            <a:off x="420624" y="1234440"/>
            <a:ext cx="2606040" cy="1783080"/>
          </a:xfrm>
          <a:prstGeom prst="roundRect">
            <a:avLst>
              <a:gd name="adj" fmla="val 6000"/>
            </a:avLst>
          </a:prstGeom>
          <a:solidFill>
            <a:srgbClr val="FFF1E0"/>
          </a:solidFill>
          <a:ln>
            <a:noFill/>
          </a:ln>
          <a:effectLst/>
        </p:spPr>
        <p:txBody>
          <a:bodyPr rtlCol="0" anchor="ctr"/>
          <a:lstStyle/>
          <a:p>
            <a:pPr algn="ctr"/>
          </a:p>
        </p:txBody>
      </p:sp>
      <p:sp>
        <p:nvSpPr>
          <p:cNvPr id="18" name="TextBox 17"/>
          <p:cNvSpPr txBox="1"/>
          <p:nvPr/>
        </p:nvSpPr>
        <p:spPr>
          <a:xfrm>
            <a:off x="603504" y="1371600"/>
            <a:ext cx="914400" cy="457200"/>
          </a:xfrm>
          <a:prstGeom prst="rect">
            <a:avLst/>
          </a:prstGeom>
          <a:noFill/>
        </p:spPr>
        <p:txBody>
          <a:bodyPr wrap="square" anchor="t" lIns="0" rIns="0" tIns="0" bIns="0">
            <a:spAutoFit/>
          </a:bodyPr>
          <a:lstStyle/>
          <a:p>
            <a:pPr algn="l"/>
            <a:r>
              <a:rPr sz="2200" b="1" i="0">
                <a:solidFill>
                  <a:srgbClr val="2A9D8F"/>
                </a:solidFill>
                <a:latin typeface="Aptos"/>
              </a:rPr>
              <a:t>01</a:t>
            </a:r>
          </a:p>
        </p:txBody>
      </p:sp>
      <p:sp>
        <p:nvSpPr>
          <p:cNvPr id="19" name="Rounded Rectangle 18"/>
          <p:cNvSpPr/>
          <p:nvPr/>
        </p:nvSpPr>
        <p:spPr>
          <a:xfrm>
            <a:off x="1563624" y="1463040"/>
            <a:ext cx="864523" cy="274320"/>
          </a:xfrm>
          <a:prstGeom prst="roundRect">
            <a:avLst>
              <a:gd name="adj" fmla="val 50000"/>
            </a:avLst>
          </a:prstGeom>
          <a:solidFill>
            <a:srgbClr val="0F766E"/>
          </a:solidFill>
          <a:ln>
            <a:noFill/>
          </a:ln>
          <a:effectLst/>
        </p:spPr>
        <p:txBody>
          <a:bodyPr rtlCol="0" anchor="ctr"/>
          <a:lstStyle/>
          <a:p>
            <a:pPr algn="ctr"/>
          </a:p>
        </p:txBody>
      </p:sp>
      <p:sp>
        <p:nvSpPr>
          <p:cNvPr id="20" name="TextBox 19"/>
          <p:cNvSpPr txBox="1"/>
          <p:nvPr/>
        </p:nvSpPr>
        <p:spPr>
          <a:xfrm>
            <a:off x="1563624" y="1463040"/>
            <a:ext cx="864523" cy="274320"/>
          </a:xfrm>
          <a:prstGeom prst="rect">
            <a:avLst/>
          </a:prstGeom>
          <a:noFill/>
        </p:spPr>
        <p:txBody>
          <a:bodyPr wrap="square" anchor="ctr" lIns="0" rIns="0" tIns="0" bIns="0">
            <a:spAutoFit/>
          </a:bodyPr>
          <a:lstStyle/>
          <a:p>
            <a:pPr algn="ctr"/>
            <a:r>
              <a:rPr sz="1000" b="1" i="0">
                <a:solidFill>
                  <a:srgbClr val="FFFFFF"/>
                </a:solidFill>
                <a:latin typeface="Aptos"/>
              </a:rPr>
              <a:t>ĐANG DÙNG</a:t>
            </a:r>
          </a:p>
        </p:txBody>
      </p:sp>
      <p:sp>
        <p:nvSpPr>
          <p:cNvPr id="21" name="TextBox 20"/>
          <p:cNvSpPr txBox="1"/>
          <p:nvPr/>
        </p:nvSpPr>
        <p:spPr>
          <a:xfrm>
            <a:off x="603504" y="1874519"/>
            <a:ext cx="2286000" cy="347472"/>
          </a:xfrm>
          <a:prstGeom prst="rect">
            <a:avLst/>
          </a:prstGeom>
          <a:noFill/>
        </p:spPr>
        <p:txBody>
          <a:bodyPr wrap="square" anchor="t" lIns="0" rIns="0" tIns="0" bIns="0">
            <a:spAutoFit/>
          </a:bodyPr>
          <a:lstStyle/>
          <a:p>
            <a:pPr algn="l"/>
            <a:r>
              <a:rPr sz="1500" b="1" i="0">
                <a:solidFill>
                  <a:srgbClr val="0F4C47"/>
                </a:solidFill>
                <a:latin typeface="Aptos"/>
              </a:rPr>
              <a:t>Hạnh kiểm</a:t>
            </a:r>
          </a:p>
        </p:txBody>
      </p:sp>
      <p:sp>
        <p:nvSpPr>
          <p:cNvPr id="22" name="TextBox 21"/>
          <p:cNvSpPr txBox="1"/>
          <p:nvPr/>
        </p:nvSpPr>
        <p:spPr>
          <a:xfrm>
            <a:off x="603504" y="2221992"/>
            <a:ext cx="2286000" cy="731520"/>
          </a:xfrm>
          <a:prstGeom prst="rect">
            <a:avLst/>
          </a:prstGeom>
          <a:noFill/>
        </p:spPr>
        <p:txBody>
          <a:bodyPr wrap="square" anchor="t" lIns="0" rIns="0" tIns="0" bIns="0">
            <a:spAutoFit/>
          </a:bodyPr>
          <a:lstStyle/>
          <a:p>
            <a:pPr algn="l"/>
            <a:r>
              <a:rPr sz="1300" b="0" i="0">
                <a:solidFill>
                  <a:srgbClr val="1F2D2C"/>
                </a:solidFill>
                <a:latin typeface="Aptos"/>
              </a:rPr>
              <a:t>Ghi điểm, xếp loại, báo phụ huynh.</a:t>
            </a:r>
          </a:p>
        </p:txBody>
      </p:sp>
      <p:sp>
        <p:nvSpPr>
          <p:cNvPr id="23" name="Rounded Rectangle 22"/>
          <p:cNvSpPr/>
          <p:nvPr/>
        </p:nvSpPr>
        <p:spPr>
          <a:xfrm>
            <a:off x="3145536" y="1234440"/>
            <a:ext cx="2606040" cy="1783080"/>
          </a:xfrm>
          <a:prstGeom prst="roundRect">
            <a:avLst>
              <a:gd name="adj" fmla="val 6000"/>
            </a:avLst>
          </a:prstGeom>
          <a:solidFill>
            <a:srgbClr val="F4F7F7"/>
          </a:solidFill>
          <a:ln>
            <a:noFill/>
          </a:ln>
          <a:effectLst/>
        </p:spPr>
        <p:txBody>
          <a:bodyPr rtlCol="0" anchor="ctr"/>
          <a:lstStyle/>
          <a:p>
            <a:pPr algn="ctr"/>
          </a:p>
        </p:txBody>
      </p:sp>
      <p:sp>
        <p:nvSpPr>
          <p:cNvPr id="24" name="TextBox 23"/>
          <p:cNvSpPr txBox="1"/>
          <p:nvPr/>
        </p:nvSpPr>
        <p:spPr>
          <a:xfrm>
            <a:off x="3328416" y="1371600"/>
            <a:ext cx="914400" cy="457200"/>
          </a:xfrm>
          <a:prstGeom prst="rect">
            <a:avLst/>
          </a:prstGeom>
          <a:noFill/>
        </p:spPr>
        <p:txBody>
          <a:bodyPr wrap="square" anchor="t" lIns="0" rIns="0" tIns="0" bIns="0">
            <a:spAutoFit/>
          </a:bodyPr>
          <a:lstStyle/>
          <a:p>
            <a:pPr algn="l"/>
            <a:r>
              <a:rPr sz="2200" b="1" i="0">
                <a:solidFill>
                  <a:srgbClr val="2A9D8F"/>
                </a:solidFill>
                <a:latin typeface="Aptos"/>
              </a:rPr>
              <a:t>02</a:t>
            </a:r>
          </a:p>
        </p:txBody>
      </p:sp>
      <p:sp>
        <p:nvSpPr>
          <p:cNvPr id="25" name="TextBox 24"/>
          <p:cNvSpPr txBox="1"/>
          <p:nvPr/>
        </p:nvSpPr>
        <p:spPr>
          <a:xfrm>
            <a:off x="3328416" y="1874519"/>
            <a:ext cx="2286000" cy="347472"/>
          </a:xfrm>
          <a:prstGeom prst="rect">
            <a:avLst/>
          </a:prstGeom>
          <a:noFill/>
        </p:spPr>
        <p:txBody>
          <a:bodyPr wrap="square" anchor="t" lIns="0" rIns="0" tIns="0" bIns="0">
            <a:spAutoFit/>
          </a:bodyPr>
          <a:lstStyle/>
          <a:p>
            <a:pPr algn="l"/>
            <a:r>
              <a:rPr sz="1500" b="1" i="0">
                <a:solidFill>
                  <a:srgbClr val="0F4C47"/>
                </a:solidFill>
                <a:latin typeface="Aptos"/>
              </a:rPr>
              <a:t>Học bạ, điểm số</a:t>
            </a:r>
          </a:p>
        </p:txBody>
      </p:sp>
      <p:sp>
        <p:nvSpPr>
          <p:cNvPr id="26" name="TextBox 25"/>
          <p:cNvSpPr txBox="1"/>
          <p:nvPr/>
        </p:nvSpPr>
        <p:spPr>
          <a:xfrm>
            <a:off x="3328416" y="2221992"/>
            <a:ext cx="2286000" cy="731520"/>
          </a:xfrm>
          <a:prstGeom prst="rect">
            <a:avLst/>
          </a:prstGeom>
          <a:noFill/>
        </p:spPr>
        <p:txBody>
          <a:bodyPr wrap="square" anchor="t" lIns="0" rIns="0" tIns="0" bIns="0">
            <a:spAutoFit/>
          </a:bodyPr>
          <a:lstStyle/>
          <a:p>
            <a:pPr algn="l"/>
            <a:r>
              <a:rPr sz="1300" b="0" i="0">
                <a:solidFill>
                  <a:srgbClr val="1F2D2C"/>
                </a:solidFill>
                <a:latin typeface="Aptos"/>
              </a:rPr>
              <a:t>Kết quả học tập từng môn, từng kỳ.</a:t>
            </a:r>
          </a:p>
        </p:txBody>
      </p:sp>
      <p:sp>
        <p:nvSpPr>
          <p:cNvPr id="27" name="Rounded Rectangle 26"/>
          <p:cNvSpPr/>
          <p:nvPr/>
        </p:nvSpPr>
        <p:spPr>
          <a:xfrm>
            <a:off x="5870448" y="1234440"/>
            <a:ext cx="2606040" cy="1783080"/>
          </a:xfrm>
          <a:prstGeom prst="roundRect">
            <a:avLst>
              <a:gd name="adj" fmla="val 6000"/>
            </a:avLst>
          </a:prstGeom>
          <a:solidFill>
            <a:srgbClr val="F4F7F7"/>
          </a:solidFill>
          <a:ln>
            <a:noFill/>
          </a:ln>
          <a:effectLst/>
        </p:spPr>
        <p:txBody>
          <a:bodyPr rtlCol="0" anchor="ctr"/>
          <a:lstStyle/>
          <a:p>
            <a:pPr algn="ctr"/>
          </a:p>
        </p:txBody>
      </p:sp>
      <p:sp>
        <p:nvSpPr>
          <p:cNvPr id="28" name="TextBox 27"/>
          <p:cNvSpPr txBox="1"/>
          <p:nvPr/>
        </p:nvSpPr>
        <p:spPr>
          <a:xfrm>
            <a:off x="6053328" y="1371600"/>
            <a:ext cx="914400" cy="457200"/>
          </a:xfrm>
          <a:prstGeom prst="rect">
            <a:avLst/>
          </a:prstGeom>
          <a:noFill/>
        </p:spPr>
        <p:txBody>
          <a:bodyPr wrap="square" anchor="t" lIns="0" rIns="0" tIns="0" bIns="0">
            <a:spAutoFit/>
          </a:bodyPr>
          <a:lstStyle/>
          <a:p>
            <a:pPr algn="l"/>
            <a:r>
              <a:rPr sz="2200" b="1" i="0">
                <a:solidFill>
                  <a:srgbClr val="2A9D8F"/>
                </a:solidFill>
                <a:latin typeface="Aptos"/>
              </a:rPr>
              <a:t>03</a:t>
            </a:r>
          </a:p>
        </p:txBody>
      </p:sp>
      <p:sp>
        <p:nvSpPr>
          <p:cNvPr id="29" name="TextBox 28"/>
          <p:cNvSpPr txBox="1"/>
          <p:nvPr/>
        </p:nvSpPr>
        <p:spPr>
          <a:xfrm>
            <a:off x="6053328" y="1874519"/>
            <a:ext cx="2286000" cy="347472"/>
          </a:xfrm>
          <a:prstGeom prst="rect">
            <a:avLst/>
          </a:prstGeom>
          <a:noFill/>
        </p:spPr>
        <p:txBody>
          <a:bodyPr wrap="square" anchor="t" lIns="0" rIns="0" tIns="0" bIns="0">
            <a:spAutoFit/>
          </a:bodyPr>
          <a:lstStyle/>
          <a:p>
            <a:pPr algn="l"/>
            <a:r>
              <a:rPr sz="1500" b="1" i="0">
                <a:solidFill>
                  <a:srgbClr val="0F4C47"/>
                </a:solidFill>
                <a:latin typeface="Aptos"/>
              </a:rPr>
              <a:t>Ban giám hiệu theo dõi thi đua</a:t>
            </a:r>
          </a:p>
        </p:txBody>
      </p:sp>
      <p:sp>
        <p:nvSpPr>
          <p:cNvPr id="30" name="TextBox 29"/>
          <p:cNvSpPr txBox="1"/>
          <p:nvPr/>
        </p:nvSpPr>
        <p:spPr>
          <a:xfrm>
            <a:off x="6053328" y="2221992"/>
            <a:ext cx="2286000" cy="731520"/>
          </a:xfrm>
          <a:prstGeom prst="rect">
            <a:avLst/>
          </a:prstGeom>
          <a:noFill/>
        </p:spPr>
        <p:txBody>
          <a:bodyPr wrap="square" anchor="t" lIns="0" rIns="0" tIns="0" bIns="0">
            <a:spAutoFit/>
          </a:bodyPr>
          <a:lstStyle/>
          <a:p>
            <a:pPr algn="l"/>
            <a:r>
              <a:rPr sz="1300" b="0" i="0">
                <a:solidFill>
                  <a:srgbClr val="1F2D2C"/>
                </a:solidFill>
                <a:latin typeface="Aptos"/>
              </a:rPr>
              <a:t>Nhiều lớp dùng chung; so sánh thi đua các lớp.</a:t>
            </a:r>
          </a:p>
        </p:txBody>
      </p:sp>
      <p:sp>
        <p:nvSpPr>
          <p:cNvPr id="31" name="Rounded Rectangle 30"/>
          <p:cNvSpPr/>
          <p:nvPr/>
        </p:nvSpPr>
        <p:spPr>
          <a:xfrm>
            <a:off x="420624" y="3154680"/>
            <a:ext cx="2606040" cy="1783080"/>
          </a:xfrm>
          <a:prstGeom prst="roundRect">
            <a:avLst>
              <a:gd name="adj" fmla="val 6000"/>
            </a:avLst>
          </a:prstGeom>
          <a:solidFill>
            <a:srgbClr val="F4F7F7"/>
          </a:solidFill>
          <a:ln>
            <a:noFill/>
          </a:ln>
          <a:effectLst/>
        </p:spPr>
        <p:txBody>
          <a:bodyPr rtlCol="0" anchor="ctr"/>
          <a:lstStyle/>
          <a:p>
            <a:pPr algn="ctr"/>
          </a:p>
        </p:txBody>
      </p:sp>
      <p:sp>
        <p:nvSpPr>
          <p:cNvPr id="32" name="TextBox 31"/>
          <p:cNvSpPr txBox="1"/>
          <p:nvPr/>
        </p:nvSpPr>
        <p:spPr>
          <a:xfrm>
            <a:off x="603504" y="3291840"/>
            <a:ext cx="914400" cy="457200"/>
          </a:xfrm>
          <a:prstGeom prst="rect">
            <a:avLst/>
          </a:prstGeom>
          <a:noFill/>
        </p:spPr>
        <p:txBody>
          <a:bodyPr wrap="square" anchor="t" lIns="0" rIns="0" tIns="0" bIns="0">
            <a:spAutoFit/>
          </a:bodyPr>
          <a:lstStyle/>
          <a:p>
            <a:pPr algn="l"/>
            <a:r>
              <a:rPr sz="2200" b="1" i="0">
                <a:solidFill>
                  <a:srgbClr val="2A9D8F"/>
                </a:solidFill>
                <a:latin typeface="Aptos"/>
              </a:rPr>
              <a:t>04</a:t>
            </a:r>
          </a:p>
        </p:txBody>
      </p:sp>
      <p:sp>
        <p:nvSpPr>
          <p:cNvPr id="33" name="TextBox 32"/>
          <p:cNvSpPr txBox="1"/>
          <p:nvPr/>
        </p:nvSpPr>
        <p:spPr>
          <a:xfrm>
            <a:off x="603504" y="3794760"/>
            <a:ext cx="2286000" cy="347472"/>
          </a:xfrm>
          <a:prstGeom prst="rect">
            <a:avLst/>
          </a:prstGeom>
          <a:noFill/>
        </p:spPr>
        <p:txBody>
          <a:bodyPr wrap="square" anchor="t" lIns="0" rIns="0" tIns="0" bIns="0">
            <a:spAutoFit/>
          </a:bodyPr>
          <a:lstStyle/>
          <a:p>
            <a:pPr algn="l"/>
            <a:r>
              <a:rPr sz="1500" b="1" i="0">
                <a:solidFill>
                  <a:srgbClr val="0F4C47"/>
                </a:solidFill>
                <a:latin typeface="Aptos"/>
              </a:rPr>
              <a:t>Nội quy, quy định</a:t>
            </a:r>
          </a:p>
        </p:txBody>
      </p:sp>
      <p:sp>
        <p:nvSpPr>
          <p:cNvPr id="34" name="TextBox 33"/>
          <p:cNvSpPr txBox="1"/>
          <p:nvPr/>
        </p:nvSpPr>
        <p:spPr>
          <a:xfrm>
            <a:off x="603504" y="4142232"/>
            <a:ext cx="2286000" cy="731520"/>
          </a:xfrm>
          <a:prstGeom prst="rect">
            <a:avLst/>
          </a:prstGeom>
          <a:noFill/>
        </p:spPr>
        <p:txBody>
          <a:bodyPr wrap="square" anchor="t" lIns="0" rIns="0" tIns="0" bIns="0">
            <a:spAutoFit/>
          </a:bodyPr>
          <a:lstStyle/>
          <a:p>
            <a:pPr algn="l"/>
            <a:r>
              <a:rPr sz="1300" b="0" i="0">
                <a:solidFill>
                  <a:srgbClr val="1F2D2C"/>
                </a:solidFill>
                <a:latin typeface="Aptos"/>
              </a:rPr>
              <a:t>Nội quy trường, lớp; quy định thi đua.</a:t>
            </a:r>
          </a:p>
        </p:txBody>
      </p:sp>
      <p:sp>
        <p:nvSpPr>
          <p:cNvPr id="35" name="Rounded Rectangle 34"/>
          <p:cNvSpPr/>
          <p:nvPr/>
        </p:nvSpPr>
        <p:spPr>
          <a:xfrm>
            <a:off x="3145536" y="3154680"/>
            <a:ext cx="2606040" cy="1783080"/>
          </a:xfrm>
          <a:prstGeom prst="roundRect">
            <a:avLst>
              <a:gd name="adj" fmla="val 6000"/>
            </a:avLst>
          </a:prstGeom>
          <a:solidFill>
            <a:srgbClr val="F4F7F7"/>
          </a:solidFill>
          <a:ln>
            <a:noFill/>
          </a:ln>
          <a:effectLst/>
        </p:spPr>
        <p:txBody>
          <a:bodyPr rtlCol="0" anchor="ctr"/>
          <a:lstStyle/>
          <a:p>
            <a:pPr algn="ctr"/>
          </a:p>
        </p:txBody>
      </p:sp>
      <p:sp>
        <p:nvSpPr>
          <p:cNvPr id="36" name="TextBox 35"/>
          <p:cNvSpPr txBox="1"/>
          <p:nvPr/>
        </p:nvSpPr>
        <p:spPr>
          <a:xfrm>
            <a:off x="3328416" y="3291840"/>
            <a:ext cx="914400" cy="457200"/>
          </a:xfrm>
          <a:prstGeom prst="rect">
            <a:avLst/>
          </a:prstGeom>
          <a:noFill/>
        </p:spPr>
        <p:txBody>
          <a:bodyPr wrap="square" anchor="t" lIns="0" rIns="0" tIns="0" bIns="0">
            <a:spAutoFit/>
          </a:bodyPr>
          <a:lstStyle/>
          <a:p>
            <a:pPr algn="l"/>
            <a:r>
              <a:rPr sz="2200" b="1" i="0">
                <a:solidFill>
                  <a:srgbClr val="2A9D8F"/>
                </a:solidFill>
                <a:latin typeface="Aptos"/>
              </a:rPr>
              <a:t>05</a:t>
            </a:r>
          </a:p>
        </p:txBody>
      </p:sp>
      <p:sp>
        <p:nvSpPr>
          <p:cNvPr id="37" name="TextBox 36"/>
          <p:cNvSpPr txBox="1"/>
          <p:nvPr/>
        </p:nvSpPr>
        <p:spPr>
          <a:xfrm>
            <a:off x="3328416" y="3794760"/>
            <a:ext cx="2286000" cy="347472"/>
          </a:xfrm>
          <a:prstGeom prst="rect">
            <a:avLst/>
          </a:prstGeom>
          <a:noFill/>
        </p:spPr>
        <p:txBody>
          <a:bodyPr wrap="square" anchor="t" lIns="0" rIns="0" tIns="0" bIns="0">
            <a:spAutoFit/>
          </a:bodyPr>
          <a:lstStyle/>
          <a:p>
            <a:pPr algn="l"/>
            <a:r>
              <a:rPr sz="1500" b="1" i="0">
                <a:solidFill>
                  <a:srgbClr val="0F4C47"/>
                </a:solidFill>
                <a:latin typeface="Aptos"/>
              </a:rPr>
              <a:t>Hoạt động của trường</a:t>
            </a:r>
          </a:p>
        </p:txBody>
      </p:sp>
      <p:sp>
        <p:nvSpPr>
          <p:cNvPr id="38" name="TextBox 37"/>
          <p:cNvSpPr txBox="1"/>
          <p:nvPr/>
        </p:nvSpPr>
        <p:spPr>
          <a:xfrm>
            <a:off x="3328416" y="4142232"/>
            <a:ext cx="2286000" cy="731520"/>
          </a:xfrm>
          <a:prstGeom prst="rect">
            <a:avLst/>
          </a:prstGeom>
          <a:noFill/>
        </p:spPr>
        <p:txBody>
          <a:bodyPr wrap="square" anchor="t" lIns="0" rIns="0" tIns="0" bIns="0">
            <a:spAutoFit/>
          </a:bodyPr>
          <a:lstStyle/>
          <a:p>
            <a:pPr algn="l"/>
            <a:r>
              <a:rPr sz="1300" b="0" i="0">
                <a:solidFill>
                  <a:srgbClr val="1F2D2C"/>
                </a:solidFill>
                <a:latin typeface="Aptos"/>
              </a:rPr>
              <a:t>Lịch học, lịch thi, sự kiện, ngoại khoá.</a:t>
            </a:r>
          </a:p>
        </p:txBody>
      </p:sp>
      <p:sp>
        <p:nvSpPr>
          <p:cNvPr id="39" name="Rounded Rectangle 38"/>
          <p:cNvSpPr/>
          <p:nvPr/>
        </p:nvSpPr>
        <p:spPr>
          <a:xfrm>
            <a:off x="5870448" y="3154680"/>
            <a:ext cx="2606040" cy="1783080"/>
          </a:xfrm>
          <a:prstGeom prst="roundRect">
            <a:avLst>
              <a:gd name="adj" fmla="val 6000"/>
            </a:avLst>
          </a:prstGeom>
          <a:solidFill>
            <a:srgbClr val="F4F7F7"/>
          </a:solidFill>
          <a:ln>
            <a:noFill/>
          </a:ln>
          <a:effectLst/>
        </p:spPr>
        <p:txBody>
          <a:bodyPr rtlCol="0" anchor="ctr"/>
          <a:lstStyle/>
          <a:p>
            <a:pPr algn="ctr"/>
          </a:p>
        </p:txBody>
      </p:sp>
      <p:sp>
        <p:nvSpPr>
          <p:cNvPr id="40" name="TextBox 39"/>
          <p:cNvSpPr txBox="1"/>
          <p:nvPr/>
        </p:nvSpPr>
        <p:spPr>
          <a:xfrm>
            <a:off x="6053328" y="3291840"/>
            <a:ext cx="914400" cy="457200"/>
          </a:xfrm>
          <a:prstGeom prst="rect">
            <a:avLst/>
          </a:prstGeom>
          <a:noFill/>
        </p:spPr>
        <p:txBody>
          <a:bodyPr wrap="square" anchor="t" lIns="0" rIns="0" tIns="0" bIns="0">
            <a:spAutoFit/>
          </a:bodyPr>
          <a:lstStyle/>
          <a:p>
            <a:pPr algn="l"/>
            <a:r>
              <a:rPr sz="2200" b="1" i="0">
                <a:solidFill>
                  <a:srgbClr val="2A9D8F"/>
                </a:solidFill>
                <a:latin typeface="Aptos"/>
              </a:rPr>
              <a:t>06</a:t>
            </a:r>
          </a:p>
        </p:txBody>
      </p:sp>
      <p:sp>
        <p:nvSpPr>
          <p:cNvPr id="41" name="TextBox 40"/>
          <p:cNvSpPr txBox="1"/>
          <p:nvPr/>
        </p:nvSpPr>
        <p:spPr>
          <a:xfrm>
            <a:off x="6053328" y="3794760"/>
            <a:ext cx="2286000" cy="347472"/>
          </a:xfrm>
          <a:prstGeom prst="rect">
            <a:avLst/>
          </a:prstGeom>
          <a:noFill/>
        </p:spPr>
        <p:txBody>
          <a:bodyPr wrap="square" anchor="t" lIns="0" rIns="0" tIns="0" bIns="0">
            <a:spAutoFit/>
          </a:bodyPr>
          <a:lstStyle/>
          <a:p>
            <a:pPr algn="l"/>
            <a:r>
              <a:rPr sz="1500" b="1" i="0">
                <a:solidFill>
                  <a:srgbClr val="0F4C47"/>
                </a:solidFill>
                <a:latin typeface="Aptos"/>
              </a:rPr>
              <a:t>Thông báo chung</a:t>
            </a:r>
          </a:p>
        </p:txBody>
      </p:sp>
      <p:sp>
        <p:nvSpPr>
          <p:cNvPr id="42" name="TextBox 41"/>
          <p:cNvSpPr txBox="1"/>
          <p:nvPr/>
        </p:nvSpPr>
        <p:spPr>
          <a:xfrm>
            <a:off x="6053328" y="4142232"/>
            <a:ext cx="2286000" cy="731520"/>
          </a:xfrm>
          <a:prstGeom prst="rect">
            <a:avLst/>
          </a:prstGeom>
          <a:noFill/>
        </p:spPr>
        <p:txBody>
          <a:bodyPr wrap="square" anchor="t" lIns="0" rIns="0" tIns="0" bIns="0">
            <a:spAutoFit/>
          </a:bodyPr>
          <a:lstStyle/>
          <a:p>
            <a:pPr algn="l"/>
            <a:r>
              <a:rPr sz="1300" b="0" i="0">
                <a:solidFill>
                  <a:srgbClr val="1F2D2C"/>
                </a:solidFill>
                <a:latin typeface="Aptos"/>
              </a:rPr>
              <a:t>Từ Ban giám hiệu, giáo viên tới đúng người.</a:t>
            </a:r>
          </a:p>
        </p:txBody>
      </p:sp>
      <p:sp>
        <p:nvSpPr>
          <p:cNvPr id="43" name="Rounded Rectangle 42"/>
          <p:cNvSpPr/>
          <p:nvPr/>
        </p:nvSpPr>
        <p:spPr>
          <a:xfrm>
            <a:off x="420624" y="5120640"/>
            <a:ext cx="8037575" cy="822960"/>
          </a:xfrm>
          <a:prstGeom prst="roundRect">
            <a:avLst>
              <a:gd name="adj" fmla="val 14000"/>
            </a:avLst>
          </a:prstGeom>
          <a:solidFill>
            <a:srgbClr val="E0F2F1"/>
          </a:solidFill>
          <a:ln>
            <a:noFill/>
          </a:ln>
          <a:effectLst/>
        </p:spPr>
        <p:txBody>
          <a:bodyPr rtlCol="0" anchor="ctr"/>
          <a:lstStyle/>
          <a:p>
            <a:pPr algn="ctr"/>
          </a:p>
        </p:txBody>
      </p:sp>
      <p:sp>
        <p:nvSpPr>
          <p:cNvPr id="44" name="TextBox 43"/>
          <p:cNvSpPr txBox="1"/>
          <p:nvPr/>
        </p:nvSpPr>
        <p:spPr>
          <a:xfrm>
            <a:off x="685800" y="5120640"/>
            <a:ext cx="7589520" cy="822960"/>
          </a:xfrm>
          <a:prstGeom prst="rect">
            <a:avLst/>
          </a:prstGeom>
          <a:noFill/>
        </p:spPr>
        <p:txBody>
          <a:bodyPr wrap="square" anchor="ctr" lIns="0" rIns="0" tIns="0" bIns="0">
            <a:spAutoFit/>
          </a:bodyPr>
          <a:lstStyle/>
          <a:p>
            <a:pPr algn="l"/>
            <a:r>
              <a:rPr sz="1350" b="1" i="0">
                <a:solidFill>
                  <a:srgbClr val="0F4C47"/>
                </a:solidFill>
                <a:latin typeface="Aptos"/>
              </a:rPr>
              <a:t>Cùng một nền tảng: </a:t>
            </a:r>
            <a:r>
              <a:rPr sz="1350" b="0" i="0">
                <a:solidFill>
                  <a:srgbClr val="1F2D2C"/>
                </a:solidFill>
                <a:latin typeface="Aptos"/>
              </a:rPr>
              <a:t>Google Sheet lưu dữ liệu, trang web hiển thị; mỗi người chỉ thấy phần được phép.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V · MỞ RỘNG</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22</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Bảo vệ dữ liệu cá nhân của học sinh, chia sẻ khéo léo</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8" name="TextBox 7"/>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9" name="TextBox 8"/>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0" name="TextBox 9"/>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1" name="TextBox 10"/>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2" name="Rounded Rectangle 11"/>
          <p:cNvSpPr/>
          <p:nvPr/>
        </p:nvSpPr>
        <p:spPr>
          <a:xfrm>
            <a:off x="9938004"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3" name="TextBox 12"/>
          <p:cNvSpPr txBox="1"/>
          <p:nvPr/>
        </p:nvSpPr>
        <p:spPr>
          <a:xfrm>
            <a:off x="10029444"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V · MỞ RỘNG</a:t>
            </a:r>
          </a:p>
        </p:txBody>
      </p:sp>
      <p:sp>
        <p:nvSpPr>
          <p:cNvPr id="14" name="Rounded Rectangle 13"/>
          <p:cNvSpPr/>
          <p:nvPr/>
        </p:nvSpPr>
        <p:spPr>
          <a:xfrm>
            <a:off x="420624" y="1234440"/>
            <a:ext cx="4754880" cy="3931920"/>
          </a:xfrm>
          <a:prstGeom prst="roundRect">
            <a:avLst>
              <a:gd name="adj" fmla="val 6000"/>
            </a:avLst>
          </a:prstGeom>
          <a:solidFill>
            <a:srgbClr val="F4F7F7"/>
          </a:solidFill>
          <a:ln>
            <a:noFill/>
          </a:ln>
          <a:effectLst/>
        </p:spPr>
        <p:txBody>
          <a:bodyPr rtlCol="0" anchor="ctr"/>
          <a:lstStyle/>
          <a:p>
            <a:pPr algn="ctr"/>
          </a:p>
        </p:txBody>
      </p:sp>
      <p:sp>
        <p:nvSpPr>
          <p:cNvPr id="15" name="Rounded Rectangle 14"/>
          <p:cNvSpPr/>
          <p:nvPr/>
        </p:nvSpPr>
        <p:spPr>
          <a:xfrm>
            <a:off x="420624" y="1234440"/>
            <a:ext cx="4754880" cy="548640"/>
          </a:xfrm>
          <a:prstGeom prst="roundRect">
            <a:avLst>
              <a:gd name="adj" fmla="val 10000"/>
            </a:avLst>
          </a:prstGeom>
          <a:solidFill>
            <a:srgbClr val="0F766E"/>
          </a:solidFill>
          <a:ln>
            <a:noFill/>
          </a:ln>
          <a:effectLst/>
        </p:spPr>
        <p:txBody>
          <a:bodyPr rtlCol="0" anchor="ctr"/>
          <a:lstStyle/>
          <a:p>
            <a:pPr algn="ctr"/>
          </a:p>
        </p:txBody>
      </p:sp>
      <p:sp>
        <p:nvSpPr>
          <p:cNvPr id="16" name="TextBox 15"/>
          <p:cNvSpPr txBox="1"/>
          <p:nvPr/>
        </p:nvSpPr>
        <p:spPr>
          <a:xfrm>
            <a:off x="649224" y="1234440"/>
            <a:ext cx="4297680" cy="548640"/>
          </a:xfrm>
          <a:prstGeom prst="rect">
            <a:avLst/>
          </a:prstGeom>
          <a:noFill/>
        </p:spPr>
        <p:txBody>
          <a:bodyPr wrap="square" anchor="ctr" lIns="0" rIns="0" tIns="0" bIns="0">
            <a:spAutoFit/>
          </a:bodyPr>
          <a:lstStyle/>
          <a:p>
            <a:pPr algn="l"/>
            <a:r>
              <a:rPr sz="1600" b="1" i="0">
                <a:solidFill>
                  <a:srgbClr val="FFFFFF"/>
                </a:solidFill>
                <a:latin typeface="Aptos"/>
              </a:rPr>
              <a:t>Bảo mật, đúng pháp luật</a:t>
            </a:r>
          </a:p>
        </p:txBody>
      </p:sp>
      <p:sp>
        <p:nvSpPr>
          <p:cNvPr id="17" name="Oval 16"/>
          <p:cNvSpPr/>
          <p:nvPr/>
        </p:nvSpPr>
        <p:spPr>
          <a:xfrm>
            <a:off x="649224" y="2057400"/>
            <a:ext cx="310896" cy="310896"/>
          </a:xfrm>
          <a:prstGeom prst="ellipse">
            <a:avLst/>
          </a:prstGeom>
          <a:solidFill>
            <a:srgbClr val="99D5CF"/>
          </a:solidFill>
          <a:ln>
            <a:noFill/>
          </a:ln>
          <a:effectLst/>
        </p:spPr>
        <p:txBody>
          <a:bodyPr rtlCol="0" anchor="ctr"/>
          <a:lstStyle/>
          <a:p>
            <a:pPr algn="ctr"/>
          </a:p>
        </p:txBody>
      </p:sp>
      <p:sp>
        <p:nvSpPr>
          <p:cNvPr id="18" name="TextBox 17"/>
          <p:cNvSpPr txBox="1"/>
          <p:nvPr/>
        </p:nvSpPr>
        <p:spPr>
          <a:xfrm>
            <a:off x="649224" y="2057400"/>
            <a:ext cx="310896" cy="310896"/>
          </a:xfrm>
          <a:prstGeom prst="rect">
            <a:avLst/>
          </a:prstGeom>
          <a:noFill/>
        </p:spPr>
        <p:txBody>
          <a:bodyPr wrap="square" anchor="ctr" lIns="0" rIns="0" tIns="0" bIns="0">
            <a:spAutoFit/>
          </a:bodyPr>
          <a:lstStyle/>
          <a:p>
            <a:pPr algn="ctr"/>
            <a:r>
              <a:rPr sz="1150" b="1" i="0">
                <a:solidFill>
                  <a:srgbClr val="0F4C47"/>
                </a:solidFill>
                <a:latin typeface="Aptos"/>
              </a:rPr>
              <a:t>1</a:t>
            </a:r>
          </a:p>
        </p:txBody>
      </p:sp>
      <p:sp>
        <p:nvSpPr>
          <p:cNvPr id="19" name="TextBox 18"/>
          <p:cNvSpPr txBox="1"/>
          <p:nvPr/>
        </p:nvSpPr>
        <p:spPr>
          <a:xfrm>
            <a:off x="1106424" y="1965960"/>
            <a:ext cx="3886200" cy="731520"/>
          </a:xfrm>
          <a:prstGeom prst="rect">
            <a:avLst/>
          </a:prstGeom>
          <a:noFill/>
        </p:spPr>
        <p:txBody>
          <a:bodyPr wrap="square" anchor="ctr" lIns="0" rIns="0" tIns="0" bIns="0">
            <a:spAutoFit/>
          </a:bodyPr>
          <a:lstStyle/>
          <a:p>
            <a:pPr algn="l"/>
            <a:r>
              <a:rPr sz="1300" b="0" i="0">
                <a:solidFill>
                  <a:srgbClr val="1F2D2C"/>
                </a:solidFill>
                <a:latin typeface="Aptos"/>
              </a:rPr>
              <a:t>Tuân thủ Luật Bảo vệ dữ liệu cá nhân năm 2025 và các văn bản hướng dẫn.</a:t>
            </a:r>
          </a:p>
        </p:txBody>
      </p:sp>
      <p:sp>
        <p:nvSpPr>
          <p:cNvPr id="20" name="Oval 19"/>
          <p:cNvSpPr/>
          <p:nvPr/>
        </p:nvSpPr>
        <p:spPr>
          <a:xfrm>
            <a:off x="649224" y="2843784"/>
            <a:ext cx="310896" cy="310896"/>
          </a:xfrm>
          <a:prstGeom prst="ellipse">
            <a:avLst/>
          </a:prstGeom>
          <a:solidFill>
            <a:srgbClr val="99D5CF"/>
          </a:solidFill>
          <a:ln>
            <a:noFill/>
          </a:ln>
          <a:effectLst/>
        </p:spPr>
        <p:txBody>
          <a:bodyPr rtlCol="0" anchor="ctr"/>
          <a:lstStyle/>
          <a:p>
            <a:pPr algn="ctr"/>
          </a:p>
        </p:txBody>
      </p:sp>
      <p:sp>
        <p:nvSpPr>
          <p:cNvPr id="21" name="TextBox 20"/>
          <p:cNvSpPr txBox="1"/>
          <p:nvPr/>
        </p:nvSpPr>
        <p:spPr>
          <a:xfrm>
            <a:off x="649224" y="2843784"/>
            <a:ext cx="310896" cy="310896"/>
          </a:xfrm>
          <a:prstGeom prst="rect">
            <a:avLst/>
          </a:prstGeom>
          <a:noFill/>
        </p:spPr>
        <p:txBody>
          <a:bodyPr wrap="square" anchor="ctr" lIns="0" rIns="0" tIns="0" bIns="0">
            <a:spAutoFit/>
          </a:bodyPr>
          <a:lstStyle/>
          <a:p>
            <a:pPr algn="ctr"/>
            <a:r>
              <a:rPr sz="1150" b="1" i="0">
                <a:solidFill>
                  <a:srgbClr val="0F4C47"/>
                </a:solidFill>
                <a:latin typeface="Aptos"/>
              </a:rPr>
              <a:t>2</a:t>
            </a:r>
          </a:p>
        </p:txBody>
      </p:sp>
      <p:sp>
        <p:nvSpPr>
          <p:cNvPr id="22" name="TextBox 21"/>
          <p:cNvSpPr txBox="1"/>
          <p:nvPr/>
        </p:nvSpPr>
        <p:spPr>
          <a:xfrm>
            <a:off x="1106424" y="2752344"/>
            <a:ext cx="3886200" cy="731520"/>
          </a:xfrm>
          <a:prstGeom prst="rect">
            <a:avLst/>
          </a:prstGeom>
          <a:noFill/>
        </p:spPr>
        <p:txBody>
          <a:bodyPr wrap="square" anchor="ctr" lIns="0" rIns="0" tIns="0" bIns="0">
            <a:spAutoFit/>
          </a:bodyPr>
          <a:lstStyle/>
          <a:p>
            <a:pPr algn="l"/>
            <a:r>
              <a:rPr sz="1300" b="0" i="0">
                <a:solidFill>
                  <a:srgbClr val="1F2D2C"/>
                </a:solidFill>
                <a:latin typeface="Aptos"/>
              </a:rPr>
              <a:t>Chỉ thu thập thông tin cần thiết, có sự đồng ý của cha mẹ học sinh.</a:t>
            </a:r>
          </a:p>
        </p:txBody>
      </p:sp>
      <p:sp>
        <p:nvSpPr>
          <p:cNvPr id="23" name="Oval 22"/>
          <p:cNvSpPr/>
          <p:nvPr/>
        </p:nvSpPr>
        <p:spPr>
          <a:xfrm>
            <a:off x="649224" y="3630168"/>
            <a:ext cx="310896" cy="310896"/>
          </a:xfrm>
          <a:prstGeom prst="ellipse">
            <a:avLst/>
          </a:prstGeom>
          <a:solidFill>
            <a:srgbClr val="99D5CF"/>
          </a:solidFill>
          <a:ln>
            <a:noFill/>
          </a:ln>
          <a:effectLst/>
        </p:spPr>
        <p:txBody>
          <a:bodyPr rtlCol="0" anchor="ctr"/>
          <a:lstStyle/>
          <a:p>
            <a:pPr algn="ctr"/>
          </a:p>
        </p:txBody>
      </p:sp>
      <p:sp>
        <p:nvSpPr>
          <p:cNvPr id="24" name="TextBox 23"/>
          <p:cNvSpPr txBox="1"/>
          <p:nvPr/>
        </p:nvSpPr>
        <p:spPr>
          <a:xfrm>
            <a:off x="649224" y="3630168"/>
            <a:ext cx="310896" cy="310896"/>
          </a:xfrm>
          <a:prstGeom prst="rect">
            <a:avLst/>
          </a:prstGeom>
          <a:noFill/>
        </p:spPr>
        <p:txBody>
          <a:bodyPr wrap="square" anchor="ctr" lIns="0" rIns="0" tIns="0" bIns="0">
            <a:spAutoFit/>
          </a:bodyPr>
          <a:lstStyle/>
          <a:p>
            <a:pPr algn="ctr"/>
            <a:r>
              <a:rPr sz="1150" b="1" i="0">
                <a:solidFill>
                  <a:srgbClr val="0F4C47"/>
                </a:solidFill>
                <a:latin typeface="Aptos"/>
              </a:rPr>
              <a:t>3</a:t>
            </a:r>
          </a:p>
        </p:txBody>
      </p:sp>
      <p:sp>
        <p:nvSpPr>
          <p:cNvPr id="25" name="TextBox 24"/>
          <p:cNvSpPr txBox="1"/>
          <p:nvPr/>
        </p:nvSpPr>
        <p:spPr>
          <a:xfrm>
            <a:off x="1106424" y="3538728"/>
            <a:ext cx="3886200" cy="731520"/>
          </a:xfrm>
          <a:prstGeom prst="rect">
            <a:avLst/>
          </a:prstGeom>
          <a:noFill/>
        </p:spPr>
        <p:txBody>
          <a:bodyPr wrap="square" anchor="ctr" lIns="0" rIns="0" tIns="0" bIns="0">
            <a:spAutoFit/>
          </a:bodyPr>
          <a:lstStyle/>
          <a:p>
            <a:pPr algn="l"/>
            <a:r>
              <a:rPr sz="1300" b="0" i="0">
                <a:solidFill>
                  <a:srgbClr val="1F2D2C"/>
                </a:solidFill>
                <a:latin typeface="Aptos"/>
              </a:rPr>
              <a:t>Mỗi người chỉ xem đúng phần của mình; phụ huynh xem thông tin của con mình.</a:t>
            </a:r>
          </a:p>
        </p:txBody>
      </p:sp>
      <p:sp>
        <p:nvSpPr>
          <p:cNvPr id="26" name="Oval 25"/>
          <p:cNvSpPr/>
          <p:nvPr/>
        </p:nvSpPr>
        <p:spPr>
          <a:xfrm>
            <a:off x="649224" y="4416552"/>
            <a:ext cx="310896" cy="310896"/>
          </a:xfrm>
          <a:prstGeom prst="ellipse">
            <a:avLst/>
          </a:prstGeom>
          <a:solidFill>
            <a:srgbClr val="99D5CF"/>
          </a:solidFill>
          <a:ln>
            <a:noFill/>
          </a:ln>
          <a:effectLst/>
        </p:spPr>
        <p:txBody>
          <a:bodyPr rtlCol="0" anchor="ctr"/>
          <a:lstStyle/>
          <a:p>
            <a:pPr algn="ctr"/>
          </a:p>
        </p:txBody>
      </p:sp>
      <p:sp>
        <p:nvSpPr>
          <p:cNvPr id="27" name="TextBox 26"/>
          <p:cNvSpPr txBox="1"/>
          <p:nvPr/>
        </p:nvSpPr>
        <p:spPr>
          <a:xfrm>
            <a:off x="649224" y="4416552"/>
            <a:ext cx="310896" cy="310896"/>
          </a:xfrm>
          <a:prstGeom prst="rect">
            <a:avLst/>
          </a:prstGeom>
          <a:noFill/>
        </p:spPr>
        <p:txBody>
          <a:bodyPr wrap="square" anchor="ctr" lIns="0" rIns="0" tIns="0" bIns="0">
            <a:spAutoFit/>
          </a:bodyPr>
          <a:lstStyle/>
          <a:p>
            <a:pPr algn="ctr"/>
            <a:r>
              <a:rPr sz="1150" b="1" i="0">
                <a:solidFill>
                  <a:srgbClr val="0F4C47"/>
                </a:solidFill>
                <a:latin typeface="Aptos"/>
              </a:rPr>
              <a:t>4</a:t>
            </a:r>
          </a:p>
        </p:txBody>
      </p:sp>
      <p:sp>
        <p:nvSpPr>
          <p:cNvPr id="28" name="TextBox 27"/>
          <p:cNvSpPr txBox="1"/>
          <p:nvPr/>
        </p:nvSpPr>
        <p:spPr>
          <a:xfrm>
            <a:off x="1106424" y="4325112"/>
            <a:ext cx="3886200" cy="731520"/>
          </a:xfrm>
          <a:prstGeom prst="rect">
            <a:avLst/>
          </a:prstGeom>
          <a:noFill/>
        </p:spPr>
        <p:txBody>
          <a:bodyPr wrap="square" anchor="ctr" lIns="0" rIns="0" tIns="0" bIns="0">
            <a:spAutoFit/>
          </a:bodyPr>
          <a:lstStyle/>
          <a:p>
            <a:pPr algn="l"/>
            <a:r>
              <a:rPr sz="1300" b="0" i="0">
                <a:solidFill>
                  <a:srgbClr val="1F2D2C"/>
                </a:solidFill>
                <a:latin typeface="Aptos"/>
              </a:rPr>
              <a:t>Dữ liệu lưu trong hệ thống của nhà trường; không đưa dữ liệu thật cho </a:t>
            </a:r>
            <a:r>
              <a:rPr sz="1300" b="1" i="0">
                <a:solidFill>
                  <a:srgbClr val="C2410C"/>
                </a:solidFill>
                <a:latin typeface="Aptos"/>
              </a:rPr>
              <a:t>AI</a:t>
            </a:r>
            <a:r>
              <a:rPr sz="1300" b="0" i="0">
                <a:solidFill>
                  <a:srgbClr val="1F2D2C"/>
                </a:solidFill>
                <a:latin typeface="Aptos"/>
              </a:rPr>
              <a:t>.</a:t>
            </a:r>
          </a:p>
        </p:txBody>
      </p:sp>
      <p:sp>
        <p:nvSpPr>
          <p:cNvPr id="29" name="Rounded Rectangle 28"/>
          <p:cNvSpPr/>
          <p:nvPr/>
        </p:nvSpPr>
        <p:spPr>
          <a:xfrm>
            <a:off x="5312664" y="1234440"/>
            <a:ext cx="4754880" cy="3931920"/>
          </a:xfrm>
          <a:prstGeom prst="roundRect">
            <a:avLst>
              <a:gd name="adj" fmla="val 6000"/>
            </a:avLst>
          </a:prstGeom>
          <a:solidFill>
            <a:srgbClr val="F4F7F7"/>
          </a:solidFill>
          <a:ln>
            <a:noFill/>
          </a:ln>
          <a:effectLst/>
        </p:spPr>
        <p:txBody>
          <a:bodyPr rtlCol="0" anchor="ctr"/>
          <a:lstStyle/>
          <a:p>
            <a:pPr algn="ctr"/>
          </a:p>
        </p:txBody>
      </p:sp>
      <p:sp>
        <p:nvSpPr>
          <p:cNvPr id="30" name="Rounded Rectangle 29"/>
          <p:cNvSpPr/>
          <p:nvPr/>
        </p:nvSpPr>
        <p:spPr>
          <a:xfrm>
            <a:off x="5312664" y="1234440"/>
            <a:ext cx="4754880" cy="548640"/>
          </a:xfrm>
          <a:prstGeom prst="roundRect">
            <a:avLst>
              <a:gd name="adj" fmla="val 10000"/>
            </a:avLst>
          </a:prstGeom>
          <a:solidFill>
            <a:srgbClr val="2A9D8F"/>
          </a:solidFill>
          <a:ln>
            <a:noFill/>
          </a:ln>
          <a:effectLst/>
        </p:spPr>
        <p:txBody>
          <a:bodyPr rtlCol="0" anchor="ctr"/>
          <a:lstStyle/>
          <a:p>
            <a:pPr algn="ctr"/>
          </a:p>
        </p:txBody>
      </p:sp>
      <p:sp>
        <p:nvSpPr>
          <p:cNvPr id="31" name="TextBox 30"/>
          <p:cNvSpPr txBox="1"/>
          <p:nvPr/>
        </p:nvSpPr>
        <p:spPr>
          <a:xfrm>
            <a:off x="5541264" y="1234440"/>
            <a:ext cx="4297680" cy="548640"/>
          </a:xfrm>
          <a:prstGeom prst="rect">
            <a:avLst/>
          </a:prstGeom>
          <a:noFill/>
        </p:spPr>
        <p:txBody>
          <a:bodyPr wrap="square" anchor="ctr" lIns="0" rIns="0" tIns="0" bIns="0">
            <a:spAutoFit/>
          </a:bodyPr>
          <a:lstStyle/>
          <a:p>
            <a:pPr algn="l"/>
            <a:r>
              <a:rPr sz="1600" b="1" i="0">
                <a:solidFill>
                  <a:srgbClr val="FFFFFF"/>
                </a:solidFill>
                <a:latin typeface="Aptos"/>
              </a:rPr>
              <a:t>Chia sẻ khéo léo, phù hợp</a:t>
            </a:r>
          </a:p>
        </p:txBody>
      </p:sp>
      <p:sp>
        <p:nvSpPr>
          <p:cNvPr id="32" name="Oval 31"/>
          <p:cNvSpPr/>
          <p:nvPr/>
        </p:nvSpPr>
        <p:spPr>
          <a:xfrm>
            <a:off x="5541264" y="2057400"/>
            <a:ext cx="310896" cy="310896"/>
          </a:xfrm>
          <a:prstGeom prst="ellipse">
            <a:avLst/>
          </a:prstGeom>
          <a:solidFill>
            <a:srgbClr val="99D5CF"/>
          </a:solidFill>
          <a:ln>
            <a:noFill/>
          </a:ln>
          <a:effectLst/>
        </p:spPr>
        <p:txBody>
          <a:bodyPr rtlCol="0" anchor="ctr"/>
          <a:lstStyle/>
          <a:p>
            <a:pPr algn="ctr"/>
          </a:p>
        </p:txBody>
      </p:sp>
      <p:sp>
        <p:nvSpPr>
          <p:cNvPr id="33" name="TextBox 32"/>
          <p:cNvSpPr txBox="1"/>
          <p:nvPr/>
        </p:nvSpPr>
        <p:spPr>
          <a:xfrm>
            <a:off x="5541264" y="2057400"/>
            <a:ext cx="310896" cy="310896"/>
          </a:xfrm>
          <a:prstGeom prst="rect">
            <a:avLst/>
          </a:prstGeom>
          <a:noFill/>
        </p:spPr>
        <p:txBody>
          <a:bodyPr wrap="square" anchor="ctr" lIns="0" rIns="0" tIns="0" bIns="0">
            <a:spAutoFit/>
          </a:bodyPr>
          <a:lstStyle/>
          <a:p>
            <a:pPr algn="ctr"/>
            <a:r>
              <a:rPr sz="1150" b="1" i="0">
                <a:solidFill>
                  <a:srgbClr val="0F4C47"/>
                </a:solidFill>
                <a:latin typeface="Aptos"/>
              </a:rPr>
              <a:t>1</a:t>
            </a:r>
          </a:p>
        </p:txBody>
      </p:sp>
      <p:sp>
        <p:nvSpPr>
          <p:cNvPr id="34" name="TextBox 33"/>
          <p:cNvSpPr txBox="1"/>
          <p:nvPr/>
        </p:nvSpPr>
        <p:spPr>
          <a:xfrm>
            <a:off x="5998464" y="1965960"/>
            <a:ext cx="3886200" cy="731520"/>
          </a:xfrm>
          <a:prstGeom prst="rect">
            <a:avLst/>
          </a:prstGeom>
          <a:noFill/>
        </p:spPr>
        <p:txBody>
          <a:bodyPr wrap="square" anchor="ctr" lIns="0" rIns="0" tIns="0" bIns="0">
            <a:spAutoFit/>
          </a:bodyPr>
          <a:lstStyle/>
          <a:p>
            <a:pPr algn="l"/>
            <a:r>
              <a:rPr sz="1300" b="0" i="0">
                <a:solidFill>
                  <a:srgbClr val="1F2D2C"/>
                </a:solidFill>
                <a:latin typeface="Aptos"/>
              </a:rPr>
              <a:t>Lời nhắn gửi phụ huynh: ghi nhận cố gắng trước, nhắc nhở nhẹ nhàng.</a:t>
            </a:r>
          </a:p>
        </p:txBody>
      </p:sp>
      <p:sp>
        <p:nvSpPr>
          <p:cNvPr id="35" name="Oval 34"/>
          <p:cNvSpPr/>
          <p:nvPr/>
        </p:nvSpPr>
        <p:spPr>
          <a:xfrm>
            <a:off x="5541264" y="2843784"/>
            <a:ext cx="310896" cy="310896"/>
          </a:xfrm>
          <a:prstGeom prst="ellipse">
            <a:avLst/>
          </a:prstGeom>
          <a:solidFill>
            <a:srgbClr val="99D5CF"/>
          </a:solidFill>
          <a:ln>
            <a:noFill/>
          </a:ln>
          <a:effectLst/>
        </p:spPr>
        <p:txBody>
          <a:bodyPr rtlCol="0" anchor="ctr"/>
          <a:lstStyle/>
          <a:p>
            <a:pPr algn="ctr"/>
          </a:p>
        </p:txBody>
      </p:sp>
      <p:sp>
        <p:nvSpPr>
          <p:cNvPr id="36" name="TextBox 35"/>
          <p:cNvSpPr txBox="1"/>
          <p:nvPr/>
        </p:nvSpPr>
        <p:spPr>
          <a:xfrm>
            <a:off x="5541264" y="2843784"/>
            <a:ext cx="310896" cy="310896"/>
          </a:xfrm>
          <a:prstGeom prst="rect">
            <a:avLst/>
          </a:prstGeom>
          <a:noFill/>
        </p:spPr>
        <p:txBody>
          <a:bodyPr wrap="square" anchor="ctr" lIns="0" rIns="0" tIns="0" bIns="0">
            <a:spAutoFit/>
          </a:bodyPr>
          <a:lstStyle/>
          <a:p>
            <a:pPr algn="ctr"/>
            <a:r>
              <a:rPr sz="1150" b="1" i="0">
                <a:solidFill>
                  <a:srgbClr val="0F4C47"/>
                </a:solidFill>
                <a:latin typeface="Aptos"/>
              </a:rPr>
              <a:t>2</a:t>
            </a:r>
          </a:p>
        </p:txBody>
      </p:sp>
      <p:sp>
        <p:nvSpPr>
          <p:cNvPr id="37" name="TextBox 36"/>
          <p:cNvSpPr txBox="1"/>
          <p:nvPr/>
        </p:nvSpPr>
        <p:spPr>
          <a:xfrm>
            <a:off x="5998464" y="2752344"/>
            <a:ext cx="3886200" cy="731520"/>
          </a:xfrm>
          <a:prstGeom prst="rect">
            <a:avLst/>
          </a:prstGeom>
          <a:noFill/>
        </p:spPr>
        <p:txBody>
          <a:bodyPr wrap="square" anchor="ctr" lIns="0" rIns="0" tIns="0" bIns="0">
            <a:spAutoFit/>
          </a:bodyPr>
          <a:lstStyle/>
          <a:p>
            <a:pPr algn="l"/>
            <a:r>
              <a:rPr sz="1300" b="0" i="0">
                <a:solidFill>
                  <a:srgbClr val="1F2D2C"/>
                </a:solidFill>
                <a:latin typeface="Aptos"/>
              </a:rPr>
              <a:t>Tin gửi nhóm lớp chỉ nêu số liệu chung, không nêu tên học sinh vi phạm.</a:t>
            </a:r>
          </a:p>
        </p:txBody>
      </p:sp>
      <p:sp>
        <p:nvSpPr>
          <p:cNvPr id="38" name="Oval 37"/>
          <p:cNvSpPr/>
          <p:nvPr/>
        </p:nvSpPr>
        <p:spPr>
          <a:xfrm>
            <a:off x="5541264" y="3630168"/>
            <a:ext cx="310896" cy="310896"/>
          </a:xfrm>
          <a:prstGeom prst="ellipse">
            <a:avLst/>
          </a:prstGeom>
          <a:solidFill>
            <a:srgbClr val="99D5CF"/>
          </a:solidFill>
          <a:ln>
            <a:noFill/>
          </a:ln>
          <a:effectLst/>
        </p:spPr>
        <p:txBody>
          <a:bodyPr rtlCol="0" anchor="ctr"/>
          <a:lstStyle/>
          <a:p>
            <a:pPr algn="ctr"/>
          </a:p>
        </p:txBody>
      </p:sp>
      <p:sp>
        <p:nvSpPr>
          <p:cNvPr id="39" name="TextBox 38"/>
          <p:cNvSpPr txBox="1"/>
          <p:nvPr/>
        </p:nvSpPr>
        <p:spPr>
          <a:xfrm>
            <a:off x="5541264" y="3630168"/>
            <a:ext cx="310896" cy="310896"/>
          </a:xfrm>
          <a:prstGeom prst="rect">
            <a:avLst/>
          </a:prstGeom>
          <a:noFill/>
        </p:spPr>
        <p:txBody>
          <a:bodyPr wrap="square" anchor="ctr" lIns="0" rIns="0" tIns="0" bIns="0">
            <a:spAutoFit/>
          </a:bodyPr>
          <a:lstStyle/>
          <a:p>
            <a:pPr algn="ctr"/>
            <a:r>
              <a:rPr sz="1150" b="1" i="0">
                <a:solidFill>
                  <a:srgbClr val="0F4C47"/>
                </a:solidFill>
                <a:latin typeface="Aptos"/>
              </a:rPr>
              <a:t>3</a:t>
            </a:r>
          </a:p>
        </p:txBody>
      </p:sp>
      <p:sp>
        <p:nvSpPr>
          <p:cNvPr id="40" name="TextBox 39"/>
          <p:cNvSpPr txBox="1"/>
          <p:nvPr/>
        </p:nvSpPr>
        <p:spPr>
          <a:xfrm>
            <a:off x="5998464" y="3538728"/>
            <a:ext cx="3886200" cy="731520"/>
          </a:xfrm>
          <a:prstGeom prst="rect">
            <a:avLst/>
          </a:prstGeom>
          <a:noFill/>
        </p:spPr>
        <p:txBody>
          <a:bodyPr wrap="square" anchor="ctr" lIns="0" rIns="0" tIns="0" bIns="0">
            <a:spAutoFit/>
          </a:bodyPr>
          <a:lstStyle/>
          <a:p>
            <a:pPr algn="l"/>
            <a:r>
              <a:rPr sz="1300" b="0" i="0">
                <a:solidFill>
                  <a:srgbClr val="1F2D2C"/>
                </a:solidFill>
                <a:latin typeface="Aptos"/>
              </a:rPr>
              <a:t>Thông tin nhạy cảm (sức khoẻ, hoàn cảnh gia đình) chỉ người có trách nhiệm được xem.</a:t>
            </a:r>
          </a:p>
        </p:txBody>
      </p:sp>
      <p:sp>
        <p:nvSpPr>
          <p:cNvPr id="41" name="Oval 40"/>
          <p:cNvSpPr/>
          <p:nvPr/>
        </p:nvSpPr>
        <p:spPr>
          <a:xfrm>
            <a:off x="5541264" y="4416552"/>
            <a:ext cx="310896" cy="310896"/>
          </a:xfrm>
          <a:prstGeom prst="ellipse">
            <a:avLst/>
          </a:prstGeom>
          <a:solidFill>
            <a:srgbClr val="99D5CF"/>
          </a:solidFill>
          <a:ln>
            <a:noFill/>
          </a:ln>
          <a:effectLst/>
        </p:spPr>
        <p:txBody>
          <a:bodyPr rtlCol="0" anchor="ctr"/>
          <a:lstStyle/>
          <a:p>
            <a:pPr algn="ctr"/>
          </a:p>
        </p:txBody>
      </p:sp>
      <p:sp>
        <p:nvSpPr>
          <p:cNvPr id="42" name="TextBox 41"/>
          <p:cNvSpPr txBox="1"/>
          <p:nvPr/>
        </p:nvSpPr>
        <p:spPr>
          <a:xfrm>
            <a:off x="5541264" y="4416552"/>
            <a:ext cx="310896" cy="310896"/>
          </a:xfrm>
          <a:prstGeom prst="rect">
            <a:avLst/>
          </a:prstGeom>
          <a:noFill/>
        </p:spPr>
        <p:txBody>
          <a:bodyPr wrap="square" anchor="ctr" lIns="0" rIns="0" tIns="0" bIns="0">
            <a:spAutoFit/>
          </a:bodyPr>
          <a:lstStyle/>
          <a:p>
            <a:pPr algn="ctr"/>
            <a:r>
              <a:rPr sz="1150" b="1" i="0">
                <a:solidFill>
                  <a:srgbClr val="0F4C47"/>
                </a:solidFill>
                <a:latin typeface="Aptos"/>
              </a:rPr>
              <a:t>4</a:t>
            </a:r>
          </a:p>
        </p:txBody>
      </p:sp>
      <p:sp>
        <p:nvSpPr>
          <p:cNvPr id="43" name="TextBox 42"/>
          <p:cNvSpPr txBox="1"/>
          <p:nvPr/>
        </p:nvSpPr>
        <p:spPr>
          <a:xfrm>
            <a:off x="5998464" y="4325112"/>
            <a:ext cx="3886200" cy="731520"/>
          </a:xfrm>
          <a:prstGeom prst="rect">
            <a:avLst/>
          </a:prstGeom>
          <a:noFill/>
        </p:spPr>
        <p:txBody>
          <a:bodyPr wrap="square" anchor="ctr" lIns="0" rIns="0" tIns="0" bIns="0">
            <a:spAutoFit/>
          </a:bodyPr>
          <a:lstStyle/>
          <a:p>
            <a:pPr algn="l"/>
            <a:r>
              <a:rPr sz="1300" b="0" i="0">
                <a:solidFill>
                  <a:srgbClr val="1F2D2C"/>
                </a:solidFill>
                <a:latin typeface="Aptos"/>
              </a:rPr>
              <a:t>Kết quả học tập, học bạ gửi riêng từng gia đình, không công khai.</a:t>
            </a:r>
          </a:p>
        </p:txBody>
      </p:sp>
      <p:sp>
        <p:nvSpPr>
          <p:cNvPr id="44" name="Rounded Rectangle 43"/>
          <p:cNvSpPr/>
          <p:nvPr/>
        </p:nvSpPr>
        <p:spPr>
          <a:xfrm>
            <a:off x="420624" y="5349240"/>
            <a:ext cx="9646920" cy="594360"/>
          </a:xfrm>
          <a:prstGeom prst="roundRect">
            <a:avLst>
              <a:gd name="adj" fmla="val 14000"/>
            </a:avLst>
          </a:prstGeom>
          <a:solidFill>
            <a:srgbClr val="FFF1E0"/>
          </a:solidFill>
          <a:ln>
            <a:noFill/>
          </a:ln>
          <a:effectLst/>
        </p:spPr>
        <p:txBody>
          <a:bodyPr rtlCol="0" anchor="ctr"/>
          <a:lstStyle/>
          <a:p>
            <a:pPr algn="ctr"/>
          </a:p>
        </p:txBody>
      </p:sp>
      <p:sp>
        <p:nvSpPr>
          <p:cNvPr id="45" name="TextBox 44"/>
          <p:cNvSpPr txBox="1"/>
          <p:nvPr/>
        </p:nvSpPr>
        <p:spPr>
          <a:xfrm>
            <a:off x="685800" y="5349240"/>
            <a:ext cx="9235440" cy="594360"/>
          </a:xfrm>
          <a:prstGeom prst="rect">
            <a:avLst/>
          </a:prstGeom>
          <a:noFill/>
        </p:spPr>
        <p:txBody>
          <a:bodyPr wrap="square" anchor="ctr" lIns="0" rIns="0" tIns="0" bIns="0">
            <a:spAutoFit/>
          </a:bodyPr>
          <a:lstStyle/>
          <a:p>
            <a:pPr algn="l"/>
            <a:r>
              <a:rPr sz="1400" b="1" i="0">
                <a:solidFill>
                  <a:srgbClr val="0F4C47"/>
                </a:solidFill>
                <a:latin typeface="Aptos"/>
              </a:rPr>
              <a:t>Nguyên tắc: </a:t>
            </a:r>
            <a:r>
              <a:rPr sz="1400" b="0" i="0">
                <a:solidFill>
                  <a:srgbClr val="1F2D2C"/>
                </a:solidFill>
                <a:latin typeface="Aptos"/>
              </a:rPr>
              <a:t>thông tin đến đúng người, đúng mức cần biết, bằng lời lẽ tôn trọng học sinh.</a:t>
            </a:r>
          </a:p>
        </p:txBody>
      </p:sp>
      <p:pic>
        <p:nvPicPr>
          <p:cNvPr id="46" name="Picture 45" descr="c_chu-nhiem_nghiem.png"/>
          <p:cNvPicPr>
            <a:picLocks noChangeAspect="1"/>
          </p:cNvPicPr>
          <p:nvPr/>
        </p:nvPicPr>
        <p:blipFill>
          <a:blip r:embed="rId2"/>
          <a:stretch>
            <a:fillRect/>
          </a:stretch>
        </p:blipFill>
        <p:spPr>
          <a:xfrm>
            <a:off x="10195560" y="2505456"/>
            <a:ext cx="1572768" cy="157276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420624" y="292608"/>
            <a:ext cx="11347704" cy="0"/>
          </a:xfrm>
          <a:prstGeom prst="line">
            <a:avLst/>
          </a:prstGeom>
          <a:ln w="19050">
            <a:solidFill>
              <a:srgbClr val="1F2D2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20624" y="91440"/>
            <a:ext cx="7315200" cy="182880"/>
          </a:xfrm>
          <a:prstGeom prst="rect">
            <a:avLst/>
          </a:prstGeom>
          <a:noFill/>
        </p:spPr>
        <p:txBody>
          <a:bodyPr wrap="square" anchor="t" lIns="0" rIns="0" tIns="0" bIns="0">
            <a:spAutoFit/>
          </a:bodyPr>
          <a:lstStyle/>
          <a:p>
            <a:pPr algn="l"/>
            <a:r>
              <a:rPr sz="900" b="1" i="0">
                <a:solidFill>
                  <a:srgbClr val="5F7472"/>
                </a:solidFill>
                <a:latin typeface="Aptos"/>
              </a:rPr>
              <a:t>V · MỞ RỘNG</a:t>
            </a:r>
          </a:p>
        </p:txBody>
      </p:sp>
      <p:sp>
        <p:nvSpPr>
          <p:cNvPr id="4" name="TextBox 3"/>
          <p:cNvSpPr txBox="1"/>
          <p:nvPr/>
        </p:nvSpPr>
        <p:spPr>
          <a:xfrm>
            <a:off x="10424160" y="91440"/>
            <a:ext cx="1344168" cy="182880"/>
          </a:xfrm>
          <a:prstGeom prst="rect">
            <a:avLst/>
          </a:prstGeom>
          <a:noFill/>
        </p:spPr>
        <p:txBody>
          <a:bodyPr wrap="square" anchor="t" lIns="0" rIns="0" tIns="0" bIns="0">
            <a:spAutoFit/>
          </a:bodyPr>
          <a:lstStyle/>
          <a:p>
            <a:pPr algn="r"/>
            <a:r>
              <a:rPr sz="900" b="1" i="0">
                <a:solidFill>
                  <a:srgbClr val="5F7472"/>
                </a:solidFill>
                <a:latin typeface="Aptos"/>
              </a:rPr>
              <a:t>TRANG 23</a:t>
            </a:r>
          </a:p>
        </p:txBody>
      </p:sp>
      <p:sp>
        <p:nvSpPr>
          <p:cNvPr id="5" name="TextBox 4"/>
          <p:cNvSpPr txBox="1"/>
          <p:nvPr/>
        </p:nvSpPr>
        <p:spPr>
          <a:xfrm>
            <a:off x="420624" y="502920"/>
            <a:ext cx="10917936" cy="420624"/>
          </a:xfrm>
          <a:prstGeom prst="rect">
            <a:avLst/>
          </a:prstGeom>
          <a:noFill/>
        </p:spPr>
        <p:txBody>
          <a:bodyPr wrap="square" anchor="ctr" lIns="0" rIns="0" tIns="0" bIns="0">
            <a:spAutoFit/>
          </a:bodyPr>
          <a:lstStyle/>
          <a:p>
            <a:pPr algn="l"/>
            <a:r>
              <a:rPr sz="2500" b="1" i="0">
                <a:solidFill>
                  <a:srgbClr val="0F4C47"/>
                </a:solidFill>
                <a:latin typeface="Aptos"/>
              </a:rPr>
              <a:t>Ba mã QR để mở ứng dụng</a:t>
            </a:r>
          </a:p>
        </p:txBody>
      </p:sp>
      <p:cxnSp>
        <p:nvCxnSpPr>
          <p:cNvPr id="6" name="Connector 5"/>
          <p:cNvCxnSpPr/>
          <p:nvPr/>
        </p:nvCxnSpPr>
        <p:spPr>
          <a:xfrm>
            <a:off x="420624" y="996696"/>
            <a:ext cx="11347704" cy="0"/>
          </a:xfrm>
          <a:prstGeom prst="line">
            <a:avLst/>
          </a:prstGeom>
          <a:ln w="12700">
            <a:solidFill>
              <a:srgbClr val="D5E3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MỞ ĐẦU</a:t>
            </a:r>
          </a:p>
        </p:txBody>
      </p:sp>
      <p:sp>
        <p:nvSpPr>
          <p:cNvPr id="8" name="TextBox 7"/>
          <p:cNvSpPr txBox="1"/>
          <p:nvPr/>
        </p:nvSpPr>
        <p:spPr>
          <a:xfrm>
            <a:off x="2415540"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 · VẤN ĐỀ</a:t>
            </a:r>
          </a:p>
        </p:txBody>
      </p:sp>
      <p:sp>
        <p:nvSpPr>
          <p:cNvPr id="9" name="TextBox 8"/>
          <p:cNvSpPr txBox="1"/>
          <p:nvPr/>
        </p:nvSpPr>
        <p:spPr>
          <a:xfrm>
            <a:off x="4319015"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 · GIẢI PHÁP</a:t>
            </a:r>
          </a:p>
        </p:txBody>
      </p:sp>
      <p:sp>
        <p:nvSpPr>
          <p:cNvPr id="10" name="TextBox 9"/>
          <p:cNvSpPr txBox="1"/>
          <p:nvPr/>
        </p:nvSpPr>
        <p:spPr>
          <a:xfrm>
            <a:off x="6222491"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III · SỬ DỤNG</a:t>
            </a:r>
          </a:p>
        </p:txBody>
      </p:sp>
      <p:sp>
        <p:nvSpPr>
          <p:cNvPr id="11" name="TextBox 10"/>
          <p:cNvSpPr txBox="1"/>
          <p:nvPr/>
        </p:nvSpPr>
        <p:spPr>
          <a:xfrm>
            <a:off x="8125968" y="6382512"/>
            <a:ext cx="1647443" cy="246888"/>
          </a:xfrm>
          <a:prstGeom prst="rect">
            <a:avLst/>
          </a:prstGeom>
          <a:noFill/>
        </p:spPr>
        <p:txBody>
          <a:bodyPr wrap="square" anchor="ctr" lIns="0" rIns="0" tIns="0" bIns="0">
            <a:spAutoFit/>
          </a:bodyPr>
          <a:lstStyle/>
          <a:p>
            <a:pPr algn="l"/>
            <a:r>
              <a:rPr sz="1000" b="0" i="0">
                <a:solidFill>
                  <a:srgbClr val="5F7472"/>
                </a:solidFill>
                <a:latin typeface="Aptos"/>
              </a:rPr>
              <a:t>IV · HIỆU QUẢ</a:t>
            </a:r>
          </a:p>
        </p:txBody>
      </p:sp>
      <p:sp>
        <p:nvSpPr>
          <p:cNvPr id="12" name="Rounded Rectangle 11"/>
          <p:cNvSpPr/>
          <p:nvPr/>
        </p:nvSpPr>
        <p:spPr>
          <a:xfrm>
            <a:off x="9938004" y="6382512"/>
            <a:ext cx="1830323" cy="246888"/>
          </a:xfrm>
          <a:prstGeom prst="roundRect">
            <a:avLst>
              <a:gd name="adj" fmla="val 30000"/>
            </a:avLst>
          </a:prstGeom>
          <a:solidFill>
            <a:srgbClr val="2A9D8F"/>
          </a:solidFill>
          <a:ln>
            <a:noFill/>
          </a:ln>
          <a:effectLst/>
        </p:spPr>
        <p:txBody>
          <a:bodyPr rtlCol="0" anchor="ctr"/>
          <a:lstStyle/>
          <a:p>
            <a:pPr algn="ctr"/>
          </a:p>
        </p:txBody>
      </p:sp>
      <p:sp>
        <p:nvSpPr>
          <p:cNvPr id="13" name="TextBox 12"/>
          <p:cNvSpPr txBox="1"/>
          <p:nvPr/>
        </p:nvSpPr>
        <p:spPr>
          <a:xfrm>
            <a:off x="10029444" y="6382512"/>
            <a:ext cx="1647443" cy="246888"/>
          </a:xfrm>
          <a:prstGeom prst="rect">
            <a:avLst/>
          </a:prstGeom>
          <a:noFill/>
        </p:spPr>
        <p:txBody>
          <a:bodyPr wrap="square" anchor="ctr" lIns="0" rIns="0" tIns="0" bIns="0">
            <a:spAutoFit/>
          </a:bodyPr>
          <a:lstStyle/>
          <a:p>
            <a:pPr algn="l"/>
            <a:r>
              <a:rPr sz="1000" b="1" i="0">
                <a:solidFill>
                  <a:srgbClr val="FFFFFF"/>
                </a:solidFill>
                <a:latin typeface="Aptos"/>
              </a:rPr>
              <a:t>V · MỞ RỘNG</a:t>
            </a:r>
          </a:p>
        </p:txBody>
      </p:sp>
      <p:sp>
        <p:nvSpPr>
          <p:cNvPr id="14" name="Rounded Rectangle 13"/>
          <p:cNvSpPr/>
          <p:nvPr/>
        </p:nvSpPr>
        <p:spPr>
          <a:xfrm>
            <a:off x="420624" y="1234440"/>
            <a:ext cx="3657600" cy="4709160"/>
          </a:xfrm>
          <a:prstGeom prst="roundRect">
            <a:avLst>
              <a:gd name="adj" fmla="val 6000"/>
            </a:avLst>
          </a:prstGeom>
          <a:solidFill>
            <a:srgbClr val="E0F2F1"/>
          </a:solidFill>
          <a:ln>
            <a:noFill/>
          </a:ln>
          <a:effectLst/>
        </p:spPr>
        <p:txBody>
          <a:bodyPr rtlCol="0" anchor="ctr"/>
          <a:lstStyle/>
          <a:p>
            <a:pPr algn="ctr"/>
          </a:p>
        </p:txBody>
      </p:sp>
      <p:pic>
        <p:nvPicPr>
          <p:cNvPr id="15" name="Picture 14" descr="qr_app.png"/>
          <p:cNvPicPr>
            <a:picLocks noChangeAspect="1"/>
          </p:cNvPicPr>
          <p:nvPr/>
        </p:nvPicPr>
        <p:blipFill>
          <a:blip r:embed="rId2"/>
          <a:stretch>
            <a:fillRect/>
          </a:stretch>
        </p:blipFill>
        <p:spPr>
          <a:xfrm>
            <a:off x="1060704" y="1463040"/>
            <a:ext cx="2377440" cy="2377440"/>
          </a:xfrm>
          <a:prstGeom prst="rect">
            <a:avLst/>
          </a:prstGeom>
        </p:spPr>
      </p:pic>
      <p:sp>
        <p:nvSpPr>
          <p:cNvPr id="16" name="TextBox 15"/>
          <p:cNvSpPr txBox="1"/>
          <p:nvPr/>
        </p:nvSpPr>
        <p:spPr>
          <a:xfrm>
            <a:off x="694944" y="4023360"/>
            <a:ext cx="3108960" cy="365760"/>
          </a:xfrm>
          <a:prstGeom prst="rect">
            <a:avLst/>
          </a:prstGeom>
          <a:noFill/>
        </p:spPr>
        <p:txBody>
          <a:bodyPr wrap="square" anchor="t" lIns="0" rIns="0" tIns="0" bIns="0">
            <a:spAutoFit/>
          </a:bodyPr>
          <a:lstStyle/>
          <a:p>
            <a:pPr algn="ctr"/>
            <a:r>
              <a:rPr sz="1800" b="1" i="0">
                <a:solidFill>
                  <a:srgbClr val="0F4C47"/>
                </a:solidFill>
                <a:latin typeface="Aptos"/>
              </a:rPr>
              <a:t>Link ứng dụng</a:t>
            </a:r>
          </a:p>
        </p:txBody>
      </p:sp>
      <p:sp>
        <p:nvSpPr>
          <p:cNvPr id="17" name="TextBox 16"/>
          <p:cNvSpPr txBox="1"/>
          <p:nvPr/>
        </p:nvSpPr>
        <p:spPr>
          <a:xfrm>
            <a:off x="694944" y="4434840"/>
            <a:ext cx="3108960" cy="914400"/>
          </a:xfrm>
          <a:prstGeom prst="rect">
            <a:avLst/>
          </a:prstGeom>
          <a:noFill/>
        </p:spPr>
        <p:txBody>
          <a:bodyPr wrap="square" anchor="t" lIns="0" rIns="0" tIns="0" bIns="0">
            <a:spAutoFit/>
          </a:bodyPr>
          <a:lstStyle/>
          <a:p>
            <a:pPr algn="ctr"/>
            <a:r>
              <a:rPr sz="1300" b="0" i="0">
                <a:solidFill>
                  <a:srgbClr val="1F2D2C"/>
                </a:solidFill>
                <a:latin typeface="Aptos"/>
              </a:rPr>
              <a:t>Trang chính của sổ. Từ đây mở được bản dùng thử, trang phụ huynh và các file hướng dẫn sử dụng.</a:t>
            </a:r>
          </a:p>
        </p:txBody>
      </p:sp>
      <p:sp>
        <p:nvSpPr>
          <p:cNvPr id="18" name="TextBox 17"/>
          <p:cNvSpPr txBox="1"/>
          <p:nvPr/>
        </p:nvSpPr>
        <p:spPr>
          <a:xfrm>
            <a:off x="512064" y="5303520"/>
            <a:ext cx="3474720" cy="548640"/>
          </a:xfrm>
          <a:prstGeom prst="rect">
            <a:avLst/>
          </a:prstGeom>
          <a:noFill/>
        </p:spPr>
        <p:txBody>
          <a:bodyPr wrap="square" anchor="t" lIns="0" rIns="0" tIns="0" bIns="0">
            <a:spAutoFit/>
          </a:bodyPr>
          <a:lstStyle/>
          <a:p>
            <a:pPr algn="ctr"/>
            <a:r>
              <a:rPr sz="950" b="1" i="0">
                <a:solidFill>
                  <a:srgbClr val="0F766E"/>
                </a:solidFill>
                <a:latin typeface="Aptos"/>
                <a:hlinkClick r:id="rId3"/>
              </a:rPr>
              <a:t>thptyenhoa.github.io/Theo-doi-hanh-kiem-</a:t>
            </a:r>
          </a:p>
          <a:p>
            <a:pPr algn="ctr"/>
            <a:r>
              <a:rPr sz="950" b="1" i="0">
                <a:solidFill>
                  <a:srgbClr val="0F766E"/>
                </a:solidFill>
                <a:latin typeface="Aptos"/>
                <a:hlinkClick r:id="rId3"/>
              </a:rPr>
              <a:t>11D3-nam-hoc-2026-2027/</a:t>
            </a:r>
          </a:p>
        </p:txBody>
      </p:sp>
      <p:sp>
        <p:nvSpPr>
          <p:cNvPr id="19" name="Rounded Rectangle 18"/>
          <p:cNvSpPr/>
          <p:nvPr/>
        </p:nvSpPr>
        <p:spPr>
          <a:xfrm>
            <a:off x="4233672" y="1234440"/>
            <a:ext cx="3657600" cy="4709160"/>
          </a:xfrm>
          <a:prstGeom prst="roundRect">
            <a:avLst>
              <a:gd name="adj" fmla="val 6000"/>
            </a:avLst>
          </a:prstGeom>
          <a:solidFill>
            <a:srgbClr val="F4F7F7"/>
          </a:solidFill>
          <a:ln>
            <a:noFill/>
          </a:ln>
          <a:effectLst/>
        </p:spPr>
        <p:txBody>
          <a:bodyPr rtlCol="0" anchor="ctr"/>
          <a:lstStyle/>
          <a:p>
            <a:pPr algn="ctr"/>
          </a:p>
        </p:txBody>
      </p:sp>
      <p:pic>
        <p:nvPicPr>
          <p:cNvPr id="20" name="Picture 19" descr="qr_demo.png"/>
          <p:cNvPicPr>
            <a:picLocks noChangeAspect="1"/>
          </p:cNvPicPr>
          <p:nvPr/>
        </p:nvPicPr>
        <p:blipFill>
          <a:blip r:embed="rId4"/>
          <a:stretch>
            <a:fillRect/>
          </a:stretch>
        </p:blipFill>
        <p:spPr>
          <a:xfrm>
            <a:off x="4873752" y="1463040"/>
            <a:ext cx="2377440" cy="2377440"/>
          </a:xfrm>
          <a:prstGeom prst="rect">
            <a:avLst/>
          </a:prstGeom>
        </p:spPr>
      </p:pic>
      <p:sp>
        <p:nvSpPr>
          <p:cNvPr id="21" name="TextBox 20"/>
          <p:cNvSpPr txBox="1"/>
          <p:nvPr/>
        </p:nvSpPr>
        <p:spPr>
          <a:xfrm>
            <a:off x="4507992" y="4023360"/>
            <a:ext cx="3108960" cy="365760"/>
          </a:xfrm>
          <a:prstGeom prst="rect">
            <a:avLst/>
          </a:prstGeom>
          <a:noFill/>
        </p:spPr>
        <p:txBody>
          <a:bodyPr wrap="square" anchor="t" lIns="0" rIns="0" tIns="0" bIns="0">
            <a:spAutoFit/>
          </a:bodyPr>
          <a:lstStyle/>
          <a:p>
            <a:pPr algn="ctr"/>
            <a:r>
              <a:rPr sz="1800" b="1" i="0">
                <a:solidFill>
                  <a:srgbClr val="0F4C47"/>
                </a:solidFill>
                <a:latin typeface="Aptos"/>
              </a:rPr>
              <a:t>Bản dùng thử</a:t>
            </a:r>
          </a:p>
        </p:txBody>
      </p:sp>
      <p:sp>
        <p:nvSpPr>
          <p:cNvPr id="22" name="TextBox 21"/>
          <p:cNvSpPr txBox="1"/>
          <p:nvPr/>
        </p:nvSpPr>
        <p:spPr>
          <a:xfrm>
            <a:off x="4507992" y="4434840"/>
            <a:ext cx="3108960" cy="914400"/>
          </a:xfrm>
          <a:prstGeom prst="rect">
            <a:avLst/>
          </a:prstGeom>
          <a:noFill/>
        </p:spPr>
        <p:txBody>
          <a:bodyPr wrap="square" anchor="t" lIns="0" rIns="0" tIns="0" bIns="0">
            <a:spAutoFit/>
          </a:bodyPr>
          <a:lstStyle/>
          <a:p>
            <a:pPr algn="ctr"/>
            <a:r>
              <a:rPr sz="1300" b="0" i="0">
                <a:solidFill>
                  <a:srgbClr val="1F2D2C"/>
                </a:solidFill>
                <a:latin typeface="Aptos"/>
              </a:rPr>
              <a:t>Vào thẳng chế độ Kiểm tra tính năng ứng dụng, dữ liệu mẫu, không cần mật khẩu.</a:t>
            </a:r>
          </a:p>
        </p:txBody>
      </p:sp>
      <p:sp>
        <p:nvSpPr>
          <p:cNvPr id="23" name="TextBox 22"/>
          <p:cNvSpPr txBox="1"/>
          <p:nvPr/>
        </p:nvSpPr>
        <p:spPr>
          <a:xfrm>
            <a:off x="4325112" y="5303520"/>
            <a:ext cx="3474720" cy="548640"/>
          </a:xfrm>
          <a:prstGeom prst="rect">
            <a:avLst/>
          </a:prstGeom>
          <a:noFill/>
        </p:spPr>
        <p:txBody>
          <a:bodyPr wrap="square" anchor="t" lIns="0" rIns="0" tIns="0" bIns="0">
            <a:spAutoFit/>
          </a:bodyPr>
          <a:lstStyle/>
          <a:p>
            <a:pPr algn="ctr"/>
            <a:r>
              <a:rPr sz="950" b="1" i="0">
                <a:solidFill>
                  <a:srgbClr val="0F766E"/>
                </a:solidFill>
                <a:latin typeface="Aptos"/>
                <a:hlinkClick r:id="rId5"/>
              </a:rPr>
              <a:t>thptyenhoa.github.io/Theo-doi-hanh-kiem-</a:t>
            </a:r>
          </a:p>
          <a:p>
            <a:pPr algn="ctr"/>
            <a:r>
              <a:rPr sz="950" b="1" i="0">
                <a:solidFill>
                  <a:srgbClr val="0F766E"/>
                </a:solidFill>
                <a:latin typeface="Aptos"/>
                <a:hlinkClick r:id="rId5"/>
              </a:rPr>
              <a:t>11D3-nam-hoc-2026-2027/?demo=1</a:t>
            </a:r>
          </a:p>
        </p:txBody>
      </p:sp>
      <p:sp>
        <p:nvSpPr>
          <p:cNvPr id="24" name="Rounded Rectangle 23"/>
          <p:cNvSpPr/>
          <p:nvPr/>
        </p:nvSpPr>
        <p:spPr>
          <a:xfrm>
            <a:off x="8046720" y="1234440"/>
            <a:ext cx="3657600" cy="4709160"/>
          </a:xfrm>
          <a:prstGeom prst="roundRect">
            <a:avLst>
              <a:gd name="adj" fmla="val 6000"/>
            </a:avLst>
          </a:prstGeom>
          <a:solidFill>
            <a:srgbClr val="F4F7F7"/>
          </a:solidFill>
          <a:ln>
            <a:noFill/>
          </a:ln>
          <a:effectLst/>
        </p:spPr>
        <p:txBody>
          <a:bodyPr rtlCol="0" anchor="ctr"/>
          <a:lstStyle/>
          <a:p>
            <a:pPr algn="ctr"/>
          </a:p>
        </p:txBody>
      </p:sp>
      <p:pic>
        <p:nvPicPr>
          <p:cNvPr id="25" name="Picture 24" descr="qr_ph.png"/>
          <p:cNvPicPr>
            <a:picLocks noChangeAspect="1"/>
          </p:cNvPicPr>
          <p:nvPr/>
        </p:nvPicPr>
        <p:blipFill>
          <a:blip r:embed="rId6"/>
          <a:stretch>
            <a:fillRect/>
          </a:stretch>
        </p:blipFill>
        <p:spPr>
          <a:xfrm>
            <a:off x="8686800" y="1463040"/>
            <a:ext cx="2377440" cy="2377440"/>
          </a:xfrm>
          <a:prstGeom prst="rect">
            <a:avLst/>
          </a:prstGeom>
        </p:spPr>
      </p:pic>
      <p:sp>
        <p:nvSpPr>
          <p:cNvPr id="26" name="TextBox 25"/>
          <p:cNvSpPr txBox="1"/>
          <p:nvPr/>
        </p:nvSpPr>
        <p:spPr>
          <a:xfrm>
            <a:off x="8321040" y="4023360"/>
            <a:ext cx="3108960" cy="365760"/>
          </a:xfrm>
          <a:prstGeom prst="rect">
            <a:avLst/>
          </a:prstGeom>
          <a:noFill/>
        </p:spPr>
        <p:txBody>
          <a:bodyPr wrap="square" anchor="t" lIns="0" rIns="0" tIns="0" bIns="0">
            <a:spAutoFit/>
          </a:bodyPr>
          <a:lstStyle/>
          <a:p>
            <a:pPr algn="ctr"/>
            <a:r>
              <a:rPr sz="1800" b="1" i="0">
                <a:solidFill>
                  <a:srgbClr val="0F4C47"/>
                </a:solidFill>
                <a:latin typeface="Aptos"/>
              </a:rPr>
              <a:t>Bản cho phụ huynh</a:t>
            </a:r>
          </a:p>
        </p:txBody>
      </p:sp>
      <p:sp>
        <p:nvSpPr>
          <p:cNvPr id="27" name="TextBox 26"/>
          <p:cNvSpPr txBox="1"/>
          <p:nvPr/>
        </p:nvSpPr>
        <p:spPr>
          <a:xfrm>
            <a:off x="8321040" y="4434840"/>
            <a:ext cx="3108960" cy="914400"/>
          </a:xfrm>
          <a:prstGeom prst="rect">
            <a:avLst/>
          </a:prstGeom>
          <a:noFill/>
        </p:spPr>
        <p:txBody>
          <a:bodyPr wrap="square" anchor="t" lIns="0" rIns="0" tIns="0" bIns="0">
            <a:spAutoFit/>
          </a:bodyPr>
          <a:lstStyle/>
          <a:p>
            <a:pPr algn="ctr"/>
            <a:r>
              <a:rPr sz="1300" b="0" i="0">
                <a:solidFill>
                  <a:srgbClr val="1F2D2C"/>
                </a:solidFill>
                <a:latin typeface="Aptos"/>
              </a:rPr>
              <a:t>Trang phụ huynh xem kết quả của con (bản dữ liệu mẫu).</a:t>
            </a:r>
          </a:p>
        </p:txBody>
      </p:sp>
      <p:sp>
        <p:nvSpPr>
          <p:cNvPr id="28" name="TextBox 27"/>
          <p:cNvSpPr txBox="1"/>
          <p:nvPr/>
        </p:nvSpPr>
        <p:spPr>
          <a:xfrm>
            <a:off x="8138160" y="5303520"/>
            <a:ext cx="3474720" cy="548640"/>
          </a:xfrm>
          <a:prstGeom prst="rect">
            <a:avLst/>
          </a:prstGeom>
          <a:noFill/>
        </p:spPr>
        <p:txBody>
          <a:bodyPr wrap="square" anchor="t" lIns="0" rIns="0" tIns="0" bIns="0">
            <a:spAutoFit/>
          </a:bodyPr>
          <a:lstStyle/>
          <a:p>
            <a:pPr algn="ctr"/>
            <a:r>
              <a:rPr sz="950" b="1" i="0">
                <a:solidFill>
                  <a:srgbClr val="0F766E"/>
                </a:solidFill>
                <a:latin typeface="Aptos"/>
                <a:hlinkClick r:id="rId7"/>
              </a:rPr>
              <a:t>thptyenhoa.github.io/Theo-doi-hanh-kiem-</a:t>
            </a:r>
          </a:p>
          <a:p>
            <a:pPr algn="ctr"/>
            <a:r>
              <a:rPr sz="950" b="1" i="0">
                <a:solidFill>
                  <a:srgbClr val="0F766E"/>
                </a:solidFill>
                <a:latin typeface="Aptos"/>
                <a:hlinkClick r:id="rId7"/>
              </a:rPr>
              <a:t>11D3-nam-hoc-2026-2027/phu-huynh.html?demo=1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0F2F1"/>
          </a:solidFill>
          <a:ln>
            <a:noFill/>
          </a:ln>
          <a:effectLst/>
        </p:spPr>
        <p:txBody>
          <a:bodyPr rtlCol="0" anchor="ctr"/>
          <a:lstStyle/>
          <a:p>
            <a:pPr algn="ctr"/>
          </a:p>
        </p:txBody>
      </p:sp>
      <p:sp>
        <p:nvSpPr>
          <p:cNvPr id="3" name="TextBox 2"/>
          <p:cNvSpPr txBox="1"/>
          <p:nvPr/>
        </p:nvSpPr>
        <p:spPr>
          <a:xfrm>
            <a:off x="822960" y="1371600"/>
            <a:ext cx="6400800" cy="1097280"/>
          </a:xfrm>
          <a:prstGeom prst="rect">
            <a:avLst/>
          </a:prstGeom>
          <a:noFill/>
        </p:spPr>
        <p:txBody>
          <a:bodyPr wrap="square" anchor="t" lIns="0" rIns="0" tIns="0" bIns="0">
            <a:spAutoFit/>
          </a:bodyPr>
          <a:lstStyle/>
          <a:p>
            <a:pPr algn="l"/>
            <a:r>
              <a:rPr sz="6000" b="1" i="0">
                <a:solidFill>
                  <a:srgbClr val="0F4C47"/>
                </a:solidFill>
                <a:latin typeface="Aptos"/>
              </a:rPr>
              <a:t>CẢM ƠN</a:t>
            </a:r>
          </a:p>
        </p:txBody>
      </p:sp>
      <p:sp>
        <p:nvSpPr>
          <p:cNvPr id="4" name="TextBox 3"/>
          <p:cNvSpPr txBox="1"/>
          <p:nvPr/>
        </p:nvSpPr>
        <p:spPr>
          <a:xfrm>
            <a:off x="822960" y="2560320"/>
            <a:ext cx="6400800" cy="548640"/>
          </a:xfrm>
          <a:prstGeom prst="rect">
            <a:avLst/>
          </a:prstGeom>
          <a:noFill/>
        </p:spPr>
        <p:txBody>
          <a:bodyPr wrap="square" anchor="t" lIns="0" rIns="0" tIns="0" bIns="0">
            <a:spAutoFit/>
          </a:bodyPr>
          <a:lstStyle/>
          <a:p>
            <a:pPr algn="l"/>
            <a:r>
              <a:rPr sz="1800" b="0" i="0">
                <a:solidFill>
                  <a:srgbClr val="1F2D2C"/>
                </a:solidFill>
                <a:latin typeface="Aptos"/>
              </a:rPr>
              <a:t>Rất mong nhận được góp ý của các thầy cô.</a:t>
            </a:r>
          </a:p>
        </p:txBody>
      </p:sp>
      <p:cxnSp>
        <p:nvCxnSpPr>
          <p:cNvPr id="5" name="Connector 4"/>
          <p:cNvCxnSpPr/>
          <p:nvPr/>
        </p:nvCxnSpPr>
        <p:spPr>
          <a:xfrm>
            <a:off x="822960" y="3383280"/>
            <a:ext cx="6035040" cy="0"/>
          </a:xfrm>
          <a:prstGeom prst="line">
            <a:avLst/>
          </a:prstGeom>
          <a:ln w="19050">
            <a:solidFill>
              <a:srgbClr val="2A9D8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3566160"/>
            <a:ext cx="6400800" cy="914400"/>
          </a:xfrm>
          <a:prstGeom prst="rect">
            <a:avLst/>
          </a:prstGeom>
          <a:noFill/>
        </p:spPr>
        <p:txBody>
          <a:bodyPr wrap="square" anchor="t" lIns="0" rIns="0" tIns="0" bIns="0">
            <a:spAutoFit/>
          </a:bodyPr>
          <a:lstStyle/>
          <a:p>
            <a:pPr algn="l">
              <a:spcAft>
                <a:spcPts val="400"/>
              </a:spcAft>
            </a:pPr>
            <a:r>
              <a:rPr sz="1600" b="1" i="0">
                <a:solidFill>
                  <a:srgbClr val="0F4C47"/>
                </a:solidFill>
                <a:latin typeface="Aptos"/>
              </a:rPr>
              <a:t>Nguyễn Thị Thu Thảo</a:t>
            </a:r>
          </a:p>
          <a:p>
            <a:pPr algn="l">
              <a:spcAft>
                <a:spcPts val="400"/>
              </a:spcAft>
            </a:pPr>
            <a:r>
              <a:rPr sz="1300" b="0" i="0">
                <a:solidFill>
                  <a:srgbClr val="1F2D2C"/>
                </a:solidFill>
                <a:latin typeface="Aptos"/>
              </a:rPr>
              <a:t>Giáo viên chủ nhiệm lớp 11D3 · Trường THPT Yên Hòa</a:t>
            </a:r>
          </a:p>
        </p:txBody>
      </p:sp>
      <p:pic>
        <p:nvPicPr>
          <p:cNvPr id="7" name="Picture 6" descr="qr_app.png"/>
          <p:cNvPicPr>
            <a:picLocks noChangeAspect="1"/>
          </p:cNvPicPr>
          <p:nvPr/>
        </p:nvPicPr>
        <p:blipFill>
          <a:blip r:embed="rId2"/>
          <a:stretch>
            <a:fillRect/>
          </a:stretch>
        </p:blipFill>
        <p:spPr>
          <a:xfrm>
            <a:off x="822960" y="4572000"/>
            <a:ext cx="1371600" cy="1371600"/>
          </a:xfrm>
          <a:prstGeom prst="rect">
            <a:avLst/>
          </a:prstGeom>
        </p:spPr>
      </p:pic>
      <p:sp>
        <p:nvSpPr>
          <p:cNvPr id="8" name="TextBox 7"/>
          <p:cNvSpPr txBox="1"/>
          <p:nvPr/>
        </p:nvSpPr>
        <p:spPr>
          <a:xfrm>
            <a:off x="2377440" y="4572000"/>
            <a:ext cx="5029200" cy="1371600"/>
          </a:xfrm>
          <a:prstGeom prst="rect">
            <a:avLst/>
          </a:prstGeom>
          <a:noFill/>
        </p:spPr>
        <p:txBody>
          <a:bodyPr wrap="square" anchor="ctr" lIns="0" rIns="0" tIns="0" bIns="0">
            <a:spAutoFit/>
          </a:bodyPr>
          <a:lstStyle/>
          <a:p>
            <a:pPr algn="l"/>
            <a:r>
              <a:rPr sz="1300" b="0" i="0">
                <a:solidFill>
                  <a:srgbClr val="5F7472"/>
                </a:solidFill>
                <a:latin typeface="Aptos"/>
                <a:hlinkClick r:id="rId3"/>
              </a:rPr>
              <a:t>Link ứng dụng:</a:t>
            </a:r>
          </a:p>
          <a:p>
            <a:pPr algn="l"/>
            <a:r>
              <a:rPr sz="1200" b="1" i="0">
                <a:solidFill>
                  <a:srgbClr val="0F766E"/>
                </a:solidFill>
                <a:latin typeface="Aptos"/>
                <a:hlinkClick r:id="rId3"/>
              </a:rPr>
              <a:t>thptyenhoa.github.io/Theo-doi-hanh-kiem-</a:t>
            </a:r>
          </a:p>
          <a:p>
            <a:pPr algn="l"/>
            <a:r>
              <a:rPr sz="1200" b="1" i="0">
                <a:solidFill>
                  <a:srgbClr val="0F766E"/>
                </a:solidFill>
                <a:latin typeface="Aptos"/>
                <a:hlinkClick r:id="rId3"/>
              </a:rPr>
              <a:t>11D3-nam-hoc-2026-2027/</a:t>
            </a:r>
          </a:p>
        </p:txBody>
      </p:sp>
      <p:pic>
        <p:nvPicPr>
          <p:cNvPr id="9" name="Picture 8" descr="c_chu-nhiem_cam-on.png"/>
          <p:cNvPicPr>
            <a:picLocks noChangeAspect="1"/>
          </p:cNvPicPr>
          <p:nvPr/>
        </p:nvPicPr>
        <p:blipFill>
          <a:blip r:embed="rId4"/>
          <a:stretch>
            <a:fillRect/>
          </a:stretch>
        </p:blipFill>
        <p:spPr>
          <a:xfrm>
            <a:off x="7680960" y="822960"/>
            <a:ext cx="5303520" cy="5303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