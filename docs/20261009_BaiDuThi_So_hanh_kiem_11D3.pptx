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Giới thiệu bài dự thi, tác giả và sản phẩm trong một câu.</a:t>
            </a:r>
          </a:p>
          <a:p/>
          <a:p>
            <a:r>
              <a:t>TRÌNH BÀY</a:t>
            </a:r>
          </a:p>
          <a:p>
            <a:r>
              <a:t>• Kính thưa ban tổ chức, tôi là Nguyễn Thị Thu Thảo, giáo viên chủ nhiệm lớp 11D3 trường THPT Yên Hòa.</a:t>
            </a:r>
          </a:p>
          <a:p>
            <a:r>
              <a:t>• Sản phẩm dự thi là Sổ hạnh kiểm 11D3: một ứng dụng web giúp lớp ghi nhận nề nếp hằng ngày, giúp cô chủ nhiệm nhận xét và xếp loại, và gửi thông tin kịp thời tới phụ huynh.</a:t>
            </a:r>
          </a:p>
          <a:p>
            <a:r>
              <a:t>• Ứng dụng thuộc nhóm chủ đề quản lý học sinh, kiểm tra đánh giá, và ứng dụng AI có trách nhiệm.</a:t>
            </a:r>
          </a:p>
          <a:p>
            <a:r>
              <a:t>• Nhân vật hoạt hình bên phải là "cô Thảo 3D" do AI tạo, đồng hành cùng người dùng trong ứng dụng.</a:t>
            </a:r>
          </a:p>
          <a:p/>
          <a:p>
            <a:r>
              <a:t>CHUYỂN Ý</a:t>
            </a:r>
          </a:p>
          <a:p>
            <a:r>
              <a:t>Bài trình bày gồm 5 phần, đi từ vấn đề thực tế đến giải pháp và hướng mở rộng.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Cho người nghe thấy mạch trình bày.</a:t>
            </a:r>
          </a:p>
          <a:p/>
          <a:p>
            <a:r>
              <a:t>TRÌNH BÀY</a:t>
            </a:r>
          </a:p>
          <a:p>
            <a:r>
              <a:t>• Phần một nêu vấn đề khi theo dõi hạnh kiểm bằng sổ giấy, Excel hay Google Sheet rời rạc.</a:t>
            </a:r>
          </a:p>
          <a:p>
            <a:r>
              <a:t>• Phần hai giải thích app được tạo ra như thế nào, bằng lời đơn giản, và vai trò của từng người dùng.</a:t>
            </a:r>
          </a:p>
          <a:p>
            <a:r>
              <a:t>• Phần ba đi qua các chức năng chính bằng ảnh chụp thật. Phần bốn là hiệu quả và cách trải nghiệm. Phần năm là hướng mở rộng.</a:t>
            </a:r>
          </a:p>
          <a:p/>
          <a:p>
            <a:r>
              <a:t>CHUYỂN Ý</a:t>
            </a:r>
          </a:p>
          <a:p>
            <a:r>
              <a:t>Bắt đầu với những khó khăn mà giáo viên chủ nhiệm gặp hằng tuần.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Nêu 5 khó khăn thực tế của cách làm cũ.</a:t>
            </a:r>
          </a:p>
          <a:p/>
          <a:p>
            <a:r>
              <a:t>TRÌNH BÀY</a:t>
            </a:r>
          </a:p>
          <a:p>
            <a:r>
              <a:t>• Trước đây, mỗi tổ ghi điểm vào sổ giấy hoặc một file riêng; cô chủ nhiệm phải gom lại mới tổng hợp được.</a:t>
            </a:r>
          </a:p>
          <a:p>
            <a:r>
              <a:t>• Việc cộng trừ điểm và xếp loại làm tay mất thời gian và dễ sai, nhất là cuối tháng, cuối kỳ.</a:t>
            </a:r>
          </a:p>
          <a:p>
            <a:r>
              <a:t>• Phụ huynh thường chỉ biết tình hình của con khi họp phụ huynh, hoặc qua tin nhắn lẻ, ít khi có bằng chứng cụ thể.</a:t>
            </a:r>
          </a:p>
          <a:p>
            <a:r>
              <a:t>• Ban giám hiệu và cô chủ nhiệm khó nhìn tổng thể theo tổ, theo tuần, và rất khó kiểm soát việc sửa dữ liệu sau khi đã chốt.</a:t>
            </a:r>
          </a:p>
          <a:p/>
          <a:p>
            <a:r>
              <a:t>LẬP LUẬN</a:t>
            </a:r>
          </a:p>
          <a:p>
            <a:r>
              <a:t>Đây là các khó khăn chung của công tác chủ nhiệm, không riêng lớp 11D3.</a:t>
            </a:r>
          </a:p>
          <a:p/>
          <a:p>
            <a:r>
              <a:t>CHUYỂN Ý</a:t>
            </a:r>
          </a:p>
          <a:p>
            <a:r>
              <a:t>Từ đó, mục đích của app được đặt ra rất rõ.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Nêu mục đích cốt lõi của app trong một câu.</a:t>
            </a:r>
          </a:p>
          <a:p/>
          <a:p>
            <a:r>
              <a:t>TRÌNH BÀY</a:t>
            </a:r>
          </a:p>
          <a:p>
            <a:r>
              <a:t>• Mục đích của app là: mỗi ghi nhận về nề nếp chỉ cần ghi một lần, và đến ngay với những người cần biết.</a:t>
            </a:r>
          </a:p>
          <a:p>
            <a:r>
              <a:t>• Từ đó có bốn mục tiêu: ghi một lần, tự tổng hợp, minh bạch có bằng chứng, và kết nối với gia đình.</a:t>
            </a:r>
          </a:p>
          <a:p/>
          <a:p>
            <a:r>
              <a:t>CHUYỂN Ý</a:t>
            </a:r>
          </a:p>
          <a:p>
            <a:r>
              <a:t>Vậy app được tạo ra như thế nào? Tôi xin giải thích bằng ngôn ngữ đơn giản nhất.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Giải thích cách tạo app thật dễ hiểu, không đi sâu kỹ thuật.</a:t>
            </a:r>
          </a:p>
          <a:p/>
          <a:p>
            <a:r>
              <a:t>TRÌNH BÀY</a:t>
            </a:r>
          </a:p>
          <a:p>
            <a:r>
              <a:t>• App giống như một ngôi nhà ghép từ 4 mảnh quen thuộc. Google Sheet là cái tủ lưu hồ sơ: danh sách học sinh, điểm, nhận xét.</a:t>
            </a:r>
          </a:p>
          <a:p>
            <a:r>
              <a:t>• Apps Script là người trung gian của Google Sheet: nhận yêu cầu, đọc và ghi vào Sheet, gửi email cho phụ huynh.</a:t>
            </a:r>
          </a:p>
          <a:p>
            <a:r>
              <a:t>• Web app là phần giao diện, trình bày dữ liệu cho dễ nhìn, dễ bấm. Web app được đăng trên GitHub Pages nên chỉ cần mở một đường link, không cần cài đặt.</a:t>
            </a:r>
          </a:p>
          <a:p>
            <a:r>
              <a:t>• AI tham gia ở hai chỗ. Claude viết code: tôi mô tả bằng tiếng Việt điều cần làm, Claude viết, tôi dùng thử và yêu cầu sửa. Gemini là AI thứ hai, dùng để tạo hình nhân vật cô Thảo 3D cho giao diện.</a:t>
            </a:r>
          </a:p>
          <a:p/>
          <a:p>
            <a:r>
              <a:t>LẬP LUẬN</a:t>
            </a:r>
          </a:p>
          <a:p>
            <a:r>
              <a:t>Toàn bộ công cụ là dịch vụ miễn phí, quen thuộc; giáo viên không cần biết lập trình vẫn làm chủ được sản phẩm.</a:t>
            </a:r>
          </a:p>
          <a:p/>
          <a:p>
            <a:r>
              <a:t>CHUYỂN Ý</a:t>
            </a:r>
          </a:p>
          <a:p>
            <a:r>
              <a:t>Trong quá trình đó, vai trò của AI và của giáo viên được phân định rõ.</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Làm rõ vai trò của AI và nguyên tắc dùng AI có trách nhiệm.</a:t>
            </a:r>
          </a:p>
          <a:p/>
          <a:p>
            <a:r>
              <a:t>TRÌNH BÀY</a:t>
            </a:r>
          </a:p>
          <a:p>
            <a:r>
              <a:t>• Tôi là người đặt bài toán: tôi biết lớp cần gì, tôi dùng thử từng bản và quyết định.</a:t>
            </a:r>
          </a:p>
          <a:p>
            <a:r>
              <a:t>• Claude là trợ lý viết code, Gemini là trợ lý tạo hình. Cả hai đều làm theo yêu cầu và chịu sự kiểm tra của tôi.</a:t>
            </a:r>
          </a:p>
          <a:p>
            <a:r>
              <a:t>• Về trách nhiệm: tôi không đưa dữ liệu thật của học sinh cho AI. Ảnh minh hoạ và bản trải nghiệm đều dùng tên giả. Dữ liệu thật nằm trong Google Sheet của nhà trường. Nhận xét và xếp loại luôn do giáo viên quyết định.</a:t>
            </a:r>
          </a:p>
          <a:p/>
          <a:p>
            <a:r>
              <a:t>LẬP LUẬN</a:t>
            </a:r>
          </a:p>
          <a:p>
            <a:r>
              <a:t>Thể lệ cuộc thi khuyến khích ứng dụng AI có trách nhiệm; đây là điểm sản phẩm thể hiện rõ.</a:t>
            </a:r>
          </a:p>
          <a:p/>
          <a:p>
            <a:r>
              <a:t>CHUYỂN Ý</a:t>
            </a:r>
          </a:p>
          <a:p>
            <a:r>
              <a:t>Tiếp theo là những ai dùng app và mỗi người làm gì.</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Cho thấy ai làm gì trong app.</a:t>
            </a:r>
          </a:p>
          <a:p/>
          <a:p>
            <a:r>
              <a:t>TRÌNH BÀY</a:t>
            </a:r>
          </a:p>
          <a:p>
            <a:r>
              <a:t>• Cô chủ nhiệm có toàn quyền: ghi điểm, nhận xét, chốt tháng, xem mọi báo cáo và duyệt phụ huynh.</a:t>
            </a:r>
          </a:p>
          <a:p>
            <a:r>
              <a:t>• Lớp trưởng ghi điểm cả lớp; tổ trưởng chỉ ghi cho tổ mình. Cả hai đều thấy điểm thay đổi ngay khi người khác ghi.</a:t>
            </a:r>
          </a:p>
          <a:p>
            <a:r>
              <a:t>• Phụ huynh không sửa được gì, chỉ xem hồ sơ của con, đọc nhận xét của cô và nhận email.</a:t>
            </a:r>
          </a:p>
          <a:p>
            <a:r>
              <a:t>• Mọi người đăng nhập bằng email và mã 6 số gửi qua email, không phải nhớ mật khẩu.</a:t>
            </a:r>
          </a:p>
          <a:p/>
          <a:p>
            <a:r>
              <a:t>CHUYỂN Ý</a:t>
            </a:r>
          </a:p>
          <a:p>
            <a:r>
              <a:t>Bốn vai trò này nối với nhau thành một vòng thông tin khép kín.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Tóm tắt luồng thông tin chính của app.</a:t>
            </a:r>
          </a:p>
          <a:p/>
          <a:p>
            <a:r>
              <a:t>TRÌNH BÀY</a:t>
            </a:r>
          </a:p>
          <a:p>
            <a:r>
              <a:t>• Bước một: cán bộ lớp ghi nhận trên điện thoại. Bước hai: hệ thống tự tổng hợp điểm và xếp loại, mọi máy thấy ngay.</a:t>
            </a:r>
          </a:p>
          <a:p>
            <a:r>
              <a:t>• Bước ba: cô chủ nhiệm xem lại, nhận xét và chốt tháng. Bước bốn: phụ huynh nhận email và xem hồ sơ của con.</a:t>
            </a:r>
          </a:p>
          <a:p>
            <a:r>
              <a:t>• Thông tin vì vậy đến với gia đình ngay trong ngày.</a:t>
            </a:r>
          </a:p>
          <a:p/>
          <a:p>
            <a:r>
              <a:t>CHUYỂN Ý</a:t>
            </a:r>
          </a:p>
          <a:p>
            <a:r>
              <a:t>Phần ba sẽ minh hoạ từng bước này bằng ảnh chụp thật của app.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Minh hoạ thao tác ghi điểm của cán bộ lớp.</a:t>
            </a:r>
          </a:p>
          <a:p/>
          <a:p>
            <a:r>
              <a:t>TRÌNH BÀY</a:t>
            </a:r>
          </a:p>
          <a:p>
            <a:r>
              <a:t>• Ảnh 1: lớp trưởng mở app trên điện thoại, thấy danh sách học sinh theo tổ.</a:t>
            </a:r>
          </a:p>
          <a:p>
            <a:r>
              <a:t>• Ảnh 2: chạm tên một bạn, chọn lỗi như "Đi học muộn" hoặc một điểm cộng. Danh mục lỗi do cô chủ nhiệm quy định trước.</a:t>
            </a:r>
          </a:p>
          <a:p>
            <a:r>
              <a:t>• Ảnh 3: bấm lưu, điểm hiện ngay. Nếu mạng yếu, app giữ lại và tự gửi khi có mạng, nên không mất dữ liệu.</a:t>
            </a:r>
          </a:p>
          <a:p/>
          <a:p>
            <a:r>
              <a:t>CHUYỂN Ý</a:t>
            </a:r>
          </a:p>
          <a:p>
            <a:r>
              <a:t>Ở phía cô chủ nhiệm, mọi điểm vừa ghi được tổng hợp ngay trên máy tính.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Cho thấy công cụ của cô chủ nhiệm.</a:t>
            </a:r>
          </a:p>
          <a:p/>
          <a:p>
            <a:r>
              <a:t>TRÌNH BÀY</a:t>
            </a:r>
          </a:p>
          <a:p>
            <a:r>
              <a:t>• Trên máy tính, tôi thấy bảng tổng hợp cả lớp theo tuần, theo tổ.</a:t>
            </a:r>
          </a:p>
          <a:p>
            <a:r>
              <a:t>• Khi rê chuột vào một ô điểm, app tóm tắt điểm đó từ đâu: lỗi gì, ngày nào, ai ghi. Tôi không phải lật sổ.</a:t>
            </a:r>
          </a:p>
          <a:p>
            <a:r>
              <a:t>• Ô tìm kiếm hiểu câu tự nhiên như "tổ 2 vi phạm". Màn hình tự cập nhật khi lớp ghi điểm.</a:t>
            </a:r>
          </a:p>
          <a:p>
            <a:r>
              <a:t>• Cuối tháng tôi bấm Chốt tháng: dữ liệu bị khoá, không ai sửa được nữa trừ khi tôi mở lại.</a:t>
            </a:r>
          </a:p>
          <a:p/>
          <a:p>
            <a:r>
              <a:t>CHUYỂN Ý</a:t>
            </a:r>
          </a:p>
          <a:p>
            <a:r>
              <a:t>Từ dữ liệu đó, báo cáo được soạn tự động.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Giới thiệu chức năng báo cáo.</a:t>
            </a:r>
          </a:p>
          <a:p/>
          <a:p>
            <a:r>
              <a:t>TRÌNH BÀY</a:t>
            </a:r>
          </a:p>
          <a:p>
            <a:r>
              <a:t>• Menu Báo cáo tự tính số liệu theo tuần, tháng, học kỳ hay cả năm, so sánh với kỳ trước, xếp hạng tổ, nêu học sinh được tuyên dương và cần nhắc nhở.</a:t>
            </a:r>
          </a:p>
          <a:p>
            <a:r>
              <a:t>• App gợi ý lời văn nhận xét chung và phương hướng; tôi sửa lại theo ý mình. Mọi báo cáo luôn có mục "Nhận xét của cô Thảo".</a:t>
            </a:r>
          </a:p>
          <a:p>
            <a:r>
              <a:t>• Chỉ một nút là có PDF báo cáo lớp, hoặc PDF riêng một học sinh để gửi phụ huynh.</a:t>
            </a:r>
          </a:p>
          <a:p/>
          <a:p>
            <a:r>
              <a:t>CHUYỂN Ý</a:t>
            </a:r>
          </a:p>
          <a:p>
            <a:r>
              <a:t>Phụ huynh là người được hưởng lợi rõ nhất.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Cho thấy trải nghiệm của phụ huynh.</a:t>
            </a:r>
          </a:p>
          <a:p/>
          <a:p>
            <a:r>
              <a:t>TRÌNH BÀY</a:t>
            </a:r>
          </a:p>
          <a:p>
            <a:r>
              <a:t>• Phụ huynh tự đăng ký email bằng mã 6 số. Tôi nhận thông báo trên màn hình và qua email, bấm Duyệt; phụ huynh nhận thư xác nhận kèm file hướng dẫn PDF.</a:t>
            </a:r>
          </a:p>
          <a:p>
            <a:r>
              <a:t>• Từ đó, mỗi lần con được ghi điểm, phụ huynh nhận email có lời của cô theo đúng tình huống: khen hay nhắc nhở.</a:t>
            </a:r>
          </a:p>
          <a:p>
            <a:r>
              <a:t>• Phụ huynh mở trang riêng để xem hồ sơ của con và tải PDF, không phải đợi họp phụ huynh.</a:t>
            </a:r>
          </a:p>
          <a:p/>
          <a:p>
            <a:r>
              <a:t>CHUYỂN Ý</a:t>
            </a:r>
          </a:p>
          <a:p>
            <a:r>
              <a:t>Để app gần gũi hơn với học sinh, tôi dùng AI thứ hai là Gemini.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Giới thiệu nhân vật cô Thảo 3D do Gemini tạo.</a:t>
            </a:r>
          </a:p>
          <a:p/>
          <a:p>
            <a:r>
              <a:t>TRÌNH BÀY</a:t>
            </a:r>
          </a:p>
          <a:p>
            <a:r>
              <a:t>• Nhân vật cô Thảo 3D xuất hiện trong app, trong báo cáo và trong hướng dẫn sử dụng.</a:t>
            </a:r>
          </a:p>
          <a:p>
            <a:r>
              <a:t>• Cô phản ứng theo tình huống: vui và khen khi học sinh được cộng điểm, nghiêm khi vi phạm lặp lại, và hướng dẫn từng bước khi người dùng mới vào.</a:t>
            </a:r>
          </a:p>
          <a:p>
            <a:r>
              <a:t>• Có nhiều bộ trang phục do Gemini tạo; app chọn ngẫu nhiên, dịp 20/11 thì cô mặc áo dài.</a:t>
            </a:r>
          </a:p>
          <a:p/>
          <a:p>
            <a:r>
              <a:t>LẬP LUẬN</a:t>
            </a:r>
          </a:p>
          <a:p>
            <a:r>
              <a:t>Học sinh và phụ huynh dễ tiếp nhận thông tin hơn khi giao diện gần gũi.</a:t>
            </a:r>
          </a:p>
          <a:p/>
          <a:p>
            <a:r>
              <a:t>CHUYỂN Ý</a:t>
            </a:r>
          </a:p>
          <a:p>
            <a:r>
              <a:t>Một câu hỏi quan trọng: dữ liệu học sinh có an toàn không?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Trấn an về an toàn dữ liệu học sinh.</a:t>
            </a:r>
          </a:p>
          <a:p/>
          <a:p>
            <a:r>
              <a:t>TRÌNH BÀY</a:t>
            </a:r>
          </a:p>
          <a:p>
            <a:r>
              <a:t>• Không ai phải nhớ mật khẩu: mỗi lần đăng nhập, app gửi một mã 6 số tới email đã được cô cấp quyền.</a:t>
            </a:r>
          </a:p>
          <a:p>
            <a:r>
              <a:t>• Quyền theo vai trò được kiểm tra cả trên máy chủ, không chỉ ẩn nút trên màn hình.</a:t>
            </a:r>
          </a:p>
          <a:p>
            <a:r>
              <a:t>• Tháng đã chốt thì không sửa được. Dữ liệu nằm trong Google Sheet và Drive riêng tư của nhà trường.</a:t>
            </a:r>
          </a:p>
          <a:p>
            <a:r>
              <a:t>• Khi giới thiệu, chụp ảnh hay cho trải nghiệm, tôi chỉ dùng dữ liệu mẫu.</a:t>
            </a:r>
          </a:p>
          <a:p/>
          <a:p>
            <a:r>
              <a:t>CHUYỂN Ý</a:t>
            </a:r>
          </a:p>
          <a:p>
            <a:r>
              <a:t>Phần bốn: so sánh hiệu quả với cách làm cũ.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So sánh trực tiếp hai cách làm.</a:t>
            </a:r>
          </a:p>
          <a:p/>
          <a:p>
            <a:r>
              <a:t>TRÌNH BÀY</a:t>
            </a:r>
          </a:p>
          <a:p>
            <a:r>
              <a:t>• Bảng này so sánh cách làm truyền thống với app theo bảy tiêu chí.</a:t>
            </a:r>
          </a:p>
          <a:p>
            <a:r>
              <a:t>• Điểm khác lớn nhất: ghi một lần, tổng hợp tự động, và phụ huynh nhận tin ngay thay vì chờ họp.</a:t>
            </a:r>
          </a:p>
          <a:p>
            <a:r>
              <a:t>• Về chi phí, app dùng các dịch vụ miễn phí của Google và GitHub nên nhà trường không phải mua phần mềm.</a:t>
            </a:r>
          </a:p>
          <a:p/>
          <a:p>
            <a:r>
              <a:t>CHUYỂN Ý</a:t>
            </a:r>
          </a:p>
          <a:p>
            <a:r>
              <a:t>Lợi ích cụ thể cho từng bên như sau.</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Liệt kê lợi ích theo từng đối tượng.</a:t>
            </a:r>
          </a:p>
          <a:p/>
          <a:p>
            <a:r>
              <a:t>TRÌNH BÀY</a:t>
            </a:r>
          </a:p>
          <a:p>
            <a:r>
              <a:t>• Học sinh biết ngay lý do được cộng hay bị trừ điểm, nên tự điều chỉnh sớm.</a:t>
            </a:r>
          </a:p>
          <a:p>
            <a:r>
              <a:t>• Cán bộ lớp rèn kỹ năng số và tinh thần trách nhiệm. Tôi bớt việc tính toán để dành thời gian cho học sinh.</a:t>
            </a:r>
          </a:p>
          <a:p>
            <a:r>
              <a:t>• Phụ huynh phối hợp với giáo viên sớm hơn. Ban giám hiệu có số liệu rõ ràng và có thể nhân rộng mô hình.</a:t>
            </a:r>
          </a:p>
          <a:p>
            <a:r>
              <a:t>• Việc số hoá cũng giảm in ấn giấy tờ, góp phần bảo vệ môi trường.</a:t>
            </a:r>
          </a:p>
          <a:p/>
          <a:p>
            <a:r>
              <a:t>CHUYỂN Ý</a:t>
            </a:r>
          </a:p>
          <a:p>
            <a:r>
              <a:t>Để thấy rõ hiệu quả, thầy cô có thể tự trải nghiệm app ngay.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Mời trải nghiệm và giới thiệu 9 việc trong hướng dẫn.</a:t>
            </a:r>
          </a:p>
          <a:p/>
          <a:p>
            <a:r>
              <a:t>TRÌNH BÀY</a:t>
            </a:r>
          </a:p>
          <a:p>
            <a:r>
              <a:t>• App có chế độ "Kiểm tra tính năng ứng dụng": quét mã QR hoặc mở link, bấm thẻ màu cam ở màn đăng nhập. Không cần email, không cần mật khẩu.</a:t>
            </a:r>
          </a:p>
          <a:p>
            <a:r>
              <a:t>• Hệ thống tạo dữ liệu mẫu và cho đổi vai bằng thanh phía trên: cô chủ nhiệm, lớp trưởng, tổ trưởng, phụ huynh.</a:t>
            </a:r>
          </a:p>
          <a:p>
            <a:r>
              <a:t>• Hướng dẫn 9 việc dẫn đi trọn vòng: lớp trưởng ghi điểm, phụ huynh nhận email và tải PDF, cô nhận xét, xem báo cáo, duyệt phụ huynh, rồi chốt tháng.</a:t>
            </a:r>
          </a:p>
          <a:p>
            <a:r>
              <a:t>• Email trong chế độ này là mô phỏng, hiện ở nút Hộp thư; không có thư thật nào được gửi đi.</a:t>
            </a:r>
          </a:p>
          <a:p/>
          <a:p>
            <a:r>
              <a:t>DẪN CHỨNG</a:t>
            </a:r>
          </a:p>
          <a:p>
            <a:r>
              <a:t>Hướng dẫn chi tiết có ảnh: https://thptyenhoa.github.io/Theo-doi-hanh-kiem-11D3-nam-hoc-2026-2027/docs/HD_Trai_nghiem.pdf</a:t>
            </a:r>
          </a:p>
          <a:p/>
          <a:p>
            <a:r>
              <a:t>CHUYỂN Ý</a:t>
            </a:r>
          </a:p>
          <a:p>
            <a:r>
              <a:t>Phần cuối: các tiện ích có thể mở rộng trong tương lai.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Đề xuất hướng mở rộng theo 3 giai đoạn.</a:t>
            </a:r>
          </a:p>
          <a:p/>
          <a:p>
            <a:r>
              <a:t>TRÌNH BÀY</a:t>
            </a:r>
          </a:p>
          <a:p>
            <a:r>
              <a:t>• Ngắn hạn: nhân rộng cho các lớp khác bằng cùng một mẫu, có bảng tổng hợp cho Ban giám hiệu, và để AI gợi ý lời nhận xét cho giáo viên duyệt.</a:t>
            </a:r>
          </a:p>
          <a:p>
            <a:r>
              <a:t>• Năm học tới: cảnh báo sớm học sinh có xu hướng vi phạm tăng để giáo viên kịp hỗ trợ; học sinh tự đánh giá và nhận huy hiệu; gửi thông báo qua Zalo.</a:t>
            </a:r>
          </a:p>
          <a:p>
            <a:r>
              <a:t>• Dài hạn: kết nối với điểm danh, sổ đầu bài; xây hồ sơ rèn luyện 3 năm; ghi nhận năng lực số và các hoạt động xanh, tình nguyện.</a:t>
            </a:r>
          </a:p>
          <a:p>
            <a:r>
              <a:t>• Các hướng này đều dùng lại nền tảng hiện có: Google Sheet, Apps Script, web app, nên khả thi về chi phí và thời gian.</a:t>
            </a:r>
          </a:p>
          <a:p/>
          <a:p>
            <a:r>
              <a:t>CHUYỂN Ý</a:t>
            </a:r>
          </a:p>
          <a:p>
            <a:r>
              <a:t>Toàn bộ sản phẩm và tài liệu có thể truy cập qua các đường link sau.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Cung cấp đường link và mã QR.</a:t>
            </a:r>
          </a:p>
          <a:p/>
          <a:p>
            <a:r>
              <a:t>TRÌNH BÀY</a:t>
            </a:r>
          </a:p>
          <a:p>
            <a:r>
              <a:t>• Mã thứ nhất mở thẳng chế độ trải nghiệm của app. Mã thứ hai là file hướng dẫn trải nghiệm từng bước.</a:t>
            </a:r>
          </a:p>
          <a:p>
            <a:r>
              <a:t>• Mã thứ ba là hướng dẫn sử dụng đầy đủ cho cả ba vai trò. Mã thứ tư mở trang phụ huynh với dữ liệu mẫu.</a:t>
            </a:r>
          </a:p>
          <a:p>
            <a:r>
              <a:t>• Các link trên slide đều bấm được khi trình chiếu.</a:t>
            </a:r>
          </a:p>
          <a:p/>
          <a:p>
            <a:r>
              <a:t>DẪN CHỨNG</a:t>
            </a:r>
          </a:p>
          <a:p>
            <a:r>
              <a:t>App: https://thptyenhoa.github.io/Theo-doi-hanh-kiem-11D3-nam-hoc-2026-2027/ · Trải nghiệm: https://thptyenhoa.github.io/Theo-doi-hanh-kiem-11D3-nam-hoc-2026-2027/?demo=1</a:t>
            </a:r>
          </a:p>
          <a:p/>
          <a:p>
            <a:r>
              <a:t>CHUYỂN Ý</a:t>
            </a:r>
          </a:p>
          <a:p>
            <a:r>
              <a:t>Xin cảm ơn.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Kết thúc bài trình bày.</a:t>
            </a:r>
          </a:p>
          <a:p/>
          <a:p>
            <a:r>
              <a:t>TRÌNH BÀY</a:t>
            </a:r>
          </a:p>
          <a:p>
            <a:r>
              <a:t>• Xin cảm ơn ban tổ chức và các thầy cô đã lắng nghe.</a:t>
            </a:r>
          </a:p>
          <a:p>
            <a:r>
              <a:t>• Sổ hạnh kiểm 11D3 là một ví dụ cho thấy giáo viên, với sự hỗ trợ của AI, có thể tự tạo công cụ giải quyết vấn đề thực tế của lớp mình.</a:t>
            </a:r>
          </a:p>
          <a:p>
            <a:r>
              <a:t>• Rất mong nhận được góp ý để app hoàn thiện và nhân rộng.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8.png"/><Relationship Id="rId5" Type="http://schemas.openxmlformats.org/officeDocument/2006/relationships/image" Target="../media/image22.png"/><Relationship Id="rId6" Type="http://schemas.openxmlformats.org/officeDocument/2006/relationships/image" Target="../media/image6.png"/><Relationship Id="rId7" Type="http://schemas.openxmlformats.org/officeDocument/2006/relationships/image" Target="../media/image17.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jpg"/><Relationship Id="rId4" Type="http://schemas.openxmlformats.org/officeDocument/2006/relationships/image" Target="../media/image28.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jp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hyperlink" Target="https://thptyenhoa.github.io/Theo-doi-hanh-kiem-11D3-nam-hoc-2026-2027/?demo=1" TargetMode="Externa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hyperlink" Target="https://thptyenhoa.github.io/Theo-doi-hanh-kiem-11D3-nam-hoc-2026-2027/?demo=1" TargetMode="External"/><Relationship Id="rId4" Type="http://schemas.openxmlformats.org/officeDocument/2006/relationships/image" Target="../media/image34.png"/><Relationship Id="rId5" Type="http://schemas.openxmlformats.org/officeDocument/2006/relationships/hyperlink" Target="https://thptyenhoa.github.io/Theo-doi-hanh-kiem-11D3-nam-hoc-2026-2027/docs/HD_Trai_nghiem.pdf" TargetMode="External"/><Relationship Id="rId6" Type="http://schemas.openxmlformats.org/officeDocument/2006/relationships/image" Target="../media/image35.png"/><Relationship Id="rId7" Type="http://schemas.openxmlformats.org/officeDocument/2006/relationships/hyperlink" Target="https://thptyenhoa.github.io/Theo-doi-hanh-kiem-11D3-nam-hoc-2026-2027/docs/HDSD_Day_du.pdf" TargetMode="External"/><Relationship Id="rId8" Type="http://schemas.openxmlformats.org/officeDocument/2006/relationships/image" Target="../media/image36.png"/><Relationship Id="rId9" Type="http://schemas.openxmlformats.org/officeDocument/2006/relationships/hyperlink" Target="https://thptyenhoa.github.io/Theo-doi-hanh-kiem-11D3-nam-hoc-2026-2027/phu-huynh.html?demo=1" TargetMode="Externa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hyperlink" Target="https://thptyenhoa.github.io/Theo-doi-hanh-kiem-11D3-nam-hoc-2026-2027/?demo=1" TargetMode="External"/><Relationship Id="rId4" Type="http://schemas.openxmlformats.org/officeDocument/2006/relationships/image" Target="../media/image37.png"/><Relationship Id="rId5"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0F766E"/>
          </a:solidFill>
          <a:ln>
            <a:noFill/>
          </a:ln>
          <a:effectLst/>
        </p:spPr>
        <p:txBody>
          <a:bodyPr rtlCol="0" anchor="ctr"/>
          <a:lstStyle/>
          <a:p>
            <a:pPr algn="ctr"/>
          </a:p>
        </p:txBody>
      </p:sp>
      <p:sp>
        <p:nvSpPr>
          <p:cNvPr id="3" name="TextBox 2"/>
          <p:cNvSpPr txBox="1"/>
          <p:nvPr/>
        </p:nvSpPr>
        <p:spPr>
          <a:xfrm>
            <a:off x="640080" y="566928"/>
            <a:ext cx="6400800" cy="274320"/>
          </a:xfrm>
          <a:prstGeom prst="rect">
            <a:avLst/>
          </a:prstGeom>
          <a:noFill/>
        </p:spPr>
        <p:txBody>
          <a:bodyPr wrap="square" anchor="t" lIns="0" rIns="0" tIns="0" bIns="0">
            <a:spAutoFit/>
          </a:bodyPr>
          <a:lstStyle/>
          <a:p>
            <a:pPr algn="l"/>
            <a:r>
              <a:rPr sz="1200" b="1" i="0">
                <a:solidFill>
                  <a:srgbClr val="2A9D8F"/>
                </a:solidFill>
                <a:latin typeface="Aptos"/>
              </a:rPr>
              <a:t>NHÀ GIÁO SÁNG TẠO VỚI CÔNG NGHỆ SỐ VÀ AI · 2026</a:t>
            </a:r>
          </a:p>
        </p:txBody>
      </p:sp>
      <p:sp>
        <p:nvSpPr>
          <p:cNvPr id="4" name="TextBox 3"/>
          <p:cNvSpPr txBox="1"/>
          <p:nvPr/>
        </p:nvSpPr>
        <p:spPr>
          <a:xfrm>
            <a:off x="640080" y="1051560"/>
            <a:ext cx="6583680" cy="1737360"/>
          </a:xfrm>
          <a:prstGeom prst="rect">
            <a:avLst/>
          </a:prstGeom>
          <a:noFill/>
        </p:spPr>
        <p:txBody>
          <a:bodyPr wrap="square" anchor="ctr" lIns="0" rIns="0" tIns="0" bIns="0">
            <a:spAutoFit/>
          </a:bodyPr>
          <a:lstStyle/>
          <a:p>
            <a:pPr algn="l"/>
            <a:r>
              <a:rPr sz="4400" b="1" i="0">
                <a:solidFill>
                  <a:srgbClr val="0F4C47"/>
                </a:solidFill>
                <a:latin typeface="Aptos"/>
              </a:rPr>
              <a:t>Sổ hạnh kiểm 11D3</a:t>
            </a:r>
          </a:p>
        </p:txBody>
      </p:sp>
      <p:sp>
        <p:nvSpPr>
          <p:cNvPr id="5" name="TextBox 4"/>
          <p:cNvSpPr txBox="1"/>
          <p:nvPr/>
        </p:nvSpPr>
        <p:spPr>
          <a:xfrm>
            <a:off x="640080" y="2697480"/>
            <a:ext cx="6309360" cy="914400"/>
          </a:xfrm>
          <a:prstGeom prst="rect">
            <a:avLst/>
          </a:prstGeom>
          <a:noFill/>
        </p:spPr>
        <p:txBody>
          <a:bodyPr wrap="square" anchor="t" lIns="0" rIns="0" tIns="0" bIns="0">
            <a:spAutoFit/>
          </a:bodyPr>
          <a:lstStyle/>
          <a:p>
            <a:pPr algn="l"/>
            <a:r>
              <a:rPr sz="1700" b="0" i="0">
                <a:solidFill>
                  <a:srgbClr val="1F2D2C"/>
                </a:solidFill>
                <a:latin typeface="Aptos"/>
              </a:rPr>
              <a:t>Ứng dụng web quản lý, xếp loại và thông báo hạnh kiểm học sinh: lớp, cô chủ nhiệm và phụ huynh cùng nhìn một nguồn dữ liệu.</a:t>
            </a:r>
          </a:p>
        </p:txBody>
      </p:sp>
      <p:sp>
        <p:nvSpPr>
          <p:cNvPr id="6" name="Rounded Rectangle 5"/>
          <p:cNvSpPr/>
          <p:nvPr/>
        </p:nvSpPr>
        <p:spPr>
          <a:xfrm>
            <a:off x="640080" y="3840480"/>
            <a:ext cx="1585237" cy="310896"/>
          </a:xfrm>
          <a:prstGeom prst="roundRect">
            <a:avLst>
              <a:gd name="adj" fmla="val 50000"/>
            </a:avLst>
          </a:prstGeom>
          <a:solidFill>
            <a:srgbClr val="E0F2F1"/>
          </a:solidFill>
          <a:ln>
            <a:noFill/>
          </a:ln>
          <a:effectLst/>
        </p:spPr>
        <p:txBody>
          <a:bodyPr rtlCol="0" anchor="ctr"/>
          <a:lstStyle/>
          <a:p>
            <a:pPr algn="ctr"/>
          </a:p>
        </p:txBody>
      </p:sp>
      <p:sp>
        <p:nvSpPr>
          <p:cNvPr id="7" name="TextBox 6"/>
          <p:cNvSpPr txBox="1"/>
          <p:nvPr/>
        </p:nvSpPr>
        <p:spPr>
          <a:xfrm>
            <a:off x="640080" y="3840480"/>
            <a:ext cx="1585237" cy="310896"/>
          </a:xfrm>
          <a:prstGeom prst="rect">
            <a:avLst/>
          </a:prstGeom>
          <a:noFill/>
        </p:spPr>
        <p:txBody>
          <a:bodyPr wrap="square" anchor="ctr" lIns="0" rIns="0" tIns="0" bIns="0">
            <a:spAutoFit/>
          </a:bodyPr>
          <a:lstStyle/>
          <a:p>
            <a:pPr algn="ctr"/>
            <a:r>
              <a:rPr sz="1200" b="1" i="0">
                <a:solidFill>
                  <a:srgbClr val="0F4C47"/>
                </a:solidFill>
                <a:latin typeface="Aptos"/>
              </a:rPr>
              <a:t>Quản lý học sinh</a:t>
            </a:r>
          </a:p>
        </p:txBody>
      </p:sp>
      <p:sp>
        <p:nvSpPr>
          <p:cNvPr id="8" name="Rounded Rectangle 7"/>
          <p:cNvSpPr/>
          <p:nvPr/>
        </p:nvSpPr>
        <p:spPr>
          <a:xfrm>
            <a:off x="2335045" y="3840480"/>
            <a:ext cx="1670026" cy="310896"/>
          </a:xfrm>
          <a:prstGeom prst="roundRect">
            <a:avLst>
              <a:gd name="adj" fmla="val 50000"/>
            </a:avLst>
          </a:prstGeom>
          <a:solidFill>
            <a:srgbClr val="E0F2F1"/>
          </a:solidFill>
          <a:ln>
            <a:noFill/>
          </a:ln>
          <a:effectLst/>
        </p:spPr>
        <p:txBody>
          <a:bodyPr rtlCol="0" anchor="ctr"/>
          <a:lstStyle/>
          <a:p>
            <a:pPr algn="ctr"/>
          </a:p>
        </p:txBody>
      </p:sp>
      <p:sp>
        <p:nvSpPr>
          <p:cNvPr id="9" name="TextBox 8"/>
          <p:cNvSpPr txBox="1"/>
          <p:nvPr/>
        </p:nvSpPr>
        <p:spPr>
          <a:xfrm>
            <a:off x="2335045" y="3840480"/>
            <a:ext cx="1670026" cy="310896"/>
          </a:xfrm>
          <a:prstGeom prst="rect">
            <a:avLst/>
          </a:prstGeom>
          <a:noFill/>
        </p:spPr>
        <p:txBody>
          <a:bodyPr wrap="square" anchor="ctr" lIns="0" rIns="0" tIns="0" bIns="0">
            <a:spAutoFit/>
          </a:bodyPr>
          <a:lstStyle/>
          <a:p>
            <a:pPr algn="ctr"/>
            <a:r>
              <a:rPr sz="1200" b="1" i="0">
                <a:solidFill>
                  <a:srgbClr val="0F4C47"/>
                </a:solidFill>
                <a:latin typeface="Aptos"/>
              </a:rPr>
              <a:t>Kiểm tra đánh giá</a:t>
            </a:r>
          </a:p>
        </p:txBody>
      </p:sp>
      <p:sp>
        <p:nvSpPr>
          <p:cNvPr id="10" name="Rounded Rectangle 9"/>
          <p:cNvSpPr/>
          <p:nvPr/>
        </p:nvSpPr>
        <p:spPr>
          <a:xfrm>
            <a:off x="4114800" y="3840480"/>
            <a:ext cx="1670026" cy="310896"/>
          </a:xfrm>
          <a:prstGeom prst="roundRect">
            <a:avLst>
              <a:gd name="adj" fmla="val 50000"/>
            </a:avLst>
          </a:prstGeom>
          <a:solidFill>
            <a:srgbClr val="E0F2F1"/>
          </a:solidFill>
          <a:ln>
            <a:noFill/>
          </a:ln>
          <a:effectLst/>
        </p:spPr>
        <p:txBody>
          <a:bodyPr rtlCol="0" anchor="ctr"/>
          <a:lstStyle/>
          <a:p>
            <a:pPr algn="ctr"/>
          </a:p>
        </p:txBody>
      </p:sp>
      <p:sp>
        <p:nvSpPr>
          <p:cNvPr id="11" name="TextBox 10"/>
          <p:cNvSpPr txBox="1"/>
          <p:nvPr/>
        </p:nvSpPr>
        <p:spPr>
          <a:xfrm>
            <a:off x="4114800" y="3840480"/>
            <a:ext cx="1670026" cy="310896"/>
          </a:xfrm>
          <a:prstGeom prst="rect">
            <a:avLst/>
          </a:prstGeom>
          <a:noFill/>
        </p:spPr>
        <p:txBody>
          <a:bodyPr wrap="square" anchor="ctr" lIns="0" rIns="0" tIns="0" bIns="0">
            <a:spAutoFit/>
          </a:bodyPr>
          <a:lstStyle/>
          <a:p>
            <a:pPr algn="ctr"/>
            <a:r>
              <a:rPr sz="1200" b="1" i="0">
                <a:solidFill>
                  <a:srgbClr val="0F4C47"/>
                </a:solidFill>
                <a:latin typeface="Aptos"/>
              </a:rPr>
              <a:t>AI có trách nhiệm</a:t>
            </a:r>
          </a:p>
        </p:txBody>
      </p:sp>
      <p:cxnSp>
        <p:nvCxnSpPr>
          <p:cNvPr id="12" name="Connector 11"/>
          <p:cNvCxnSpPr/>
          <p:nvPr/>
        </p:nvCxnSpPr>
        <p:spPr>
          <a:xfrm>
            <a:off x="640080" y="4572000"/>
            <a:ext cx="6126480"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4754880"/>
            <a:ext cx="6217920" cy="1097280"/>
          </a:xfrm>
          <a:prstGeom prst="rect">
            <a:avLst/>
          </a:prstGeom>
          <a:noFill/>
        </p:spPr>
        <p:txBody>
          <a:bodyPr wrap="square" anchor="t" lIns="0" rIns="0" tIns="0" bIns="0">
            <a:spAutoFit/>
          </a:bodyPr>
          <a:lstStyle/>
          <a:p>
            <a:pPr algn="l">
              <a:spcAft>
                <a:spcPts val="400"/>
              </a:spcAft>
            </a:pPr>
            <a:r>
              <a:rPr sz="1300" b="0" i="0">
                <a:solidFill>
                  <a:srgbClr val="5F7472"/>
                </a:solidFill>
                <a:latin typeface="Aptos"/>
              </a:rPr>
              <a:t>Tác giả  </a:t>
            </a:r>
            <a:r>
              <a:rPr sz="1500" b="1" i="0">
                <a:solidFill>
                  <a:srgbClr val="0F4C47"/>
                </a:solidFill>
                <a:latin typeface="Aptos"/>
              </a:rPr>
              <a:t>Nguyễn Thị Thu Thảo</a:t>
            </a:r>
          </a:p>
          <a:p>
            <a:pPr algn="l">
              <a:spcAft>
                <a:spcPts val="400"/>
              </a:spcAft>
            </a:pPr>
            <a:r>
              <a:rPr sz="1300" b="0" i="0">
                <a:solidFill>
                  <a:srgbClr val="1F2D2C"/>
                </a:solidFill>
                <a:latin typeface="Aptos"/>
              </a:rPr>
              <a:t>Giáo viên chủ nhiệm lớp 11D3 · Trường THPT Yên Hòa · Hà Nội</a:t>
            </a:r>
          </a:p>
          <a:p>
            <a:pPr algn="l">
              <a:spcAft>
                <a:spcPts val="400"/>
              </a:spcAft>
            </a:pPr>
            <a:r>
              <a:rPr sz="1300" b="0" i="0">
                <a:solidFill>
                  <a:srgbClr val="5F7472"/>
                </a:solidFill>
                <a:latin typeface="Aptos"/>
              </a:rPr>
              <a:t>Năm học 2026 to 2027</a:t>
            </a:r>
          </a:p>
        </p:txBody>
      </p:sp>
      <p:sp>
        <p:nvSpPr>
          <p:cNvPr id="14" name="Rectangle 13"/>
          <p:cNvSpPr/>
          <p:nvPr/>
        </p:nvSpPr>
        <p:spPr>
          <a:xfrm>
            <a:off x="7406640" y="0"/>
            <a:ext cx="4785055" cy="6858000"/>
          </a:xfrm>
          <a:prstGeom prst="rect">
            <a:avLst/>
          </a:prstGeom>
          <a:solidFill>
            <a:srgbClr val="0F766E"/>
          </a:solidFill>
          <a:ln>
            <a:noFill/>
          </a:ln>
          <a:effectLst/>
        </p:spPr>
        <p:txBody>
          <a:bodyPr rtlCol="0" anchor="ctr"/>
          <a:lstStyle/>
          <a:p>
            <a:pPr algn="ctr"/>
          </a:p>
        </p:txBody>
      </p:sp>
      <p:sp>
        <p:nvSpPr>
          <p:cNvPr id="15" name="Rounded Rectangle 14"/>
          <p:cNvSpPr/>
          <p:nvPr/>
        </p:nvSpPr>
        <p:spPr>
          <a:xfrm>
            <a:off x="7818120" y="822960"/>
            <a:ext cx="3977639" cy="2697480"/>
          </a:xfrm>
          <a:prstGeom prst="roundRect">
            <a:avLst>
              <a:gd name="adj" fmla="val 3000"/>
            </a:avLst>
          </a:prstGeom>
          <a:solidFill>
            <a:srgbClr val="FFFFFF"/>
          </a:solidFill>
          <a:ln>
            <a:noFill/>
          </a:ln>
          <a:effectLst/>
        </p:spPr>
        <p:txBody>
          <a:bodyPr rtlCol="0" anchor="ctr"/>
          <a:lstStyle/>
          <a:p>
            <a:pPr algn="ctr"/>
          </a:p>
        </p:txBody>
      </p:sp>
      <p:pic>
        <p:nvPicPr>
          <p:cNvPr id="16" name="Picture 15" descr="d_bang.png"/>
          <p:cNvPicPr>
            <a:picLocks noChangeAspect="1"/>
          </p:cNvPicPr>
          <p:nvPr/>
        </p:nvPicPr>
        <p:blipFill>
          <a:blip r:embed="rId2"/>
          <a:stretch>
            <a:fillRect/>
          </a:stretch>
        </p:blipFill>
        <p:spPr>
          <a:xfrm>
            <a:off x="7909560" y="985837"/>
            <a:ext cx="3794760" cy="2371725"/>
          </a:xfrm>
          <a:prstGeom prst="rect">
            <a:avLst/>
          </a:prstGeom>
        </p:spPr>
      </p:pic>
      <p:sp>
        <p:nvSpPr>
          <p:cNvPr id="17" name="Rounded Rectangle 16"/>
          <p:cNvSpPr/>
          <p:nvPr/>
        </p:nvSpPr>
        <p:spPr>
          <a:xfrm>
            <a:off x="10433304" y="2615184"/>
            <a:ext cx="1721022" cy="3639312"/>
          </a:xfrm>
          <a:prstGeom prst="roundRect">
            <a:avLst>
              <a:gd name="adj" fmla="val 2000"/>
            </a:avLst>
          </a:prstGeom>
          <a:solidFill>
            <a:srgbClr val="D5E3E2"/>
          </a:solidFill>
          <a:ln>
            <a:noFill/>
          </a:ln>
          <a:effectLst/>
        </p:spPr>
        <p:txBody>
          <a:bodyPr rtlCol="0" anchor="ctr"/>
          <a:lstStyle/>
          <a:p>
            <a:pPr algn="ctr"/>
          </a:p>
        </p:txBody>
      </p:sp>
      <p:pic>
        <p:nvPicPr>
          <p:cNvPr id="18" name="Picture 17" descr="m_ghi.png"/>
          <p:cNvPicPr>
            <a:picLocks noChangeAspect="1"/>
          </p:cNvPicPr>
          <p:nvPr/>
        </p:nvPicPr>
        <p:blipFill>
          <a:blip r:embed="rId3"/>
          <a:stretch>
            <a:fillRect/>
          </a:stretch>
        </p:blipFill>
        <p:spPr>
          <a:xfrm>
            <a:off x="10469880" y="2651760"/>
            <a:ext cx="1647870" cy="3566160"/>
          </a:xfrm>
          <a:prstGeom prst="rect">
            <a:avLst/>
          </a:prstGeom>
        </p:spPr>
      </p:pic>
      <p:pic>
        <p:nvPicPr>
          <p:cNvPr id="19" name="Picture 18" descr="c_chu-nhiem_chao.png"/>
          <p:cNvPicPr>
            <a:picLocks noChangeAspect="1"/>
          </p:cNvPicPr>
          <p:nvPr/>
        </p:nvPicPr>
        <p:blipFill>
          <a:blip r:embed="rId4"/>
          <a:stretch>
            <a:fillRect/>
          </a:stretch>
        </p:blipFill>
        <p:spPr>
          <a:xfrm>
            <a:off x="7772400" y="3611880"/>
            <a:ext cx="2834640" cy="2834640"/>
          </a:xfrm>
          <a:prstGeom prst="rect">
            <a:avLst/>
          </a:prstGeom>
        </p:spPr>
      </p:pic>
      <p:sp>
        <p:nvSpPr>
          <p:cNvPr id="20" name="TextBox 19"/>
          <p:cNvSpPr txBox="1"/>
          <p:nvPr/>
        </p:nvSpPr>
        <p:spPr>
          <a:xfrm>
            <a:off x="7818120" y="6355080"/>
            <a:ext cx="4023360" cy="274320"/>
          </a:xfrm>
          <a:prstGeom prst="rect">
            <a:avLst/>
          </a:prstGeom>
          <a:noFill/>
        </p:spPr>
        <p:txBody>
          <a:bodyPr wrap="square" anchor="t" lIns="0" rIns="0" tIns="0" bIns="0">
            <a:spAutoFit/>
          </a:bodyPr>
          <a:lstStyle/>
          <a:p>
            <a:pPr algn="l"/>
            <a:r>
              <a:rPr sz="1000" b="0" i="1">
                <a:solidFill>
                  <a:srgbClr val="99D5CF"/>
                </a:solidFill>
                <a:latin typeface="Aptos"/>
              </a:rPr>
              <a:t>Ảnh chụp từ ứng dụng · dữ liệu mẫu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MỤC LỤC</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02</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Năm phần: từ vấn đề trong lớp đến hướng mở rộng</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20624"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TextBox 13"/>
          <p:cNvSpPr txBox="1"/>
          <p:nvPr/>
        </p:nvSpPr>
        <p:spPr>
          <a:xfrm>
            <a:off x="420624" y="1298448"/>
            <a:ext cx="822960" cy="640080"/>
          </a:xfrm>
          <a:prstGeom prst="rect">
            <a:avLst/>
          </a:prstGeom>
          <a:noFill/>
        </p:spPr>
        <p:txBody>
          <a:bodyPr wrap="square" anchor="ctr" lIns="0" rIns="0" tIns="0" bIns="0">
            <a:spAutoFit/>
          </a:bodyPr>
          <a:lstStyle/>
          <a:p>
            <a:pPr algn="l"/>
            <a:r>
              <a:rPr sz="2600" b="1" i="0">
                <a:solidFill>
                  <a:srgbClr val="2A9D8F"/>
                </a:solidFill>
                <a:latin typeface="Aptos"/>
              </a:rPr>
              <a:t>I</a:t>
            </a:r>
          </a:p>
        </p:txBody>
      </p:sp>
      <p:sp>
        <p:nvSpPr>
          <p:cNvPr id="15" name="TextBox 14"/>
          <p:cNvSpPr txBox="1"/>
          <p:nvPr/>
        </p:nvSpPr>
        <p:spPr>
          <a:xfrm>
            <a:off x="1325880" y="1298448"/>
            <a:ext cx="2743200" cy="640080"/>
          </a:xfrm>
          <a:prstGeom prst="rect">
            <a:avLst/>
          </a:prstGeom>
          <a:noFill/>
        </p:spPr>
        <p:txBody>
          <a:bodyPr wrap="square" anchor="ctr" lIns="0" rIns="0" tIns="0" bIns="0">
            <a:spAutoFit/>
          </a:bodyPr>
          <a:lstStyle/>
          <a:p>
            <a:pPr algn="l"/>
            <a:r>
              <a:rPr sz="2000" b="1" i="0">
                <a:solidFill>
                  <a:srgbClr val="0F4C47"/>
                </a:solidFill>
                <a:latin typeface="Aptos"/>
              </a:rPr>
              <a:t>Vấn đề</a:t>
            </a:r>
          </a:p>
        </p:txBody>
      </p:sp>
      <p:sp>
        <p:nvSpPr>
          <p:cNvPr id="16" name="TextBox 15"/>
          <p:cNvSpPr txBox="1"/>
          <p:nvPr/>
        </p:nvSpPr>
        <p:spPr>
          <a:xfrm>
            <a:off x="4114800" y="1298448"/>
            <a:ext cx="6400800" cy="640080"/>
          </a:xfrm>
          <a:prstGeom prst="rect">
            <a:avLst/>
          </a:prstGeom>
          <a:noFill/>
        </p:spPr>
        <p:txBody>
          <a:bodyPr wrap="square" anchor="ctr" lIns="0" rIns="0" tIns="0" bIns="0">
            <a:spAutoFit/>
          </a:bodyPr>
          <a:lstStyle/>
          <a:p>
            <a:pPr algn="l"/>
            <a:r>
              <a:rPr sz="1400" b="0" i="0">
                <a:solidFill>
                  <a:srgbClr val="5F7472"/>
                </a:solidFill>
                <a:latin typeface="Aptos"/>
              </a:rPr>
              <a:t>Theo dõi hạnh kiểm theo cách truyền thống gặp khó ở đâu</a:t>
            </a:r>
          </a:p>
        </p:txBody>
      </p:sp>
      <p:sp>
        <p:nvSpPr>
          <p:cNvPr id="17" name="TextBox 16"/>
          <p:cNvSpPr txBox="1"/>
          <p:nvPr/>
        </p:nvSpPr>
        <p:spPr>
          <a:xfrm>
            <a:off x="10607040" y="1298448"/>
            <a:ext cx="1161288" cy="640080"/>
          </a:xfrm>
          <a:prstGeom prst="rect">
            <a:avLst/>
          </a:prstGeom>
          <a:noFill/>
        </p:spPr>
        <p:txBody>
          <a:bodyPr wrap="square" anchor="ctr" lIns="0" rIns="0" tIns="0" bIns="0">
            <a:spAutoFit/>
          </a:bodyPr>
          <a:lstStyle/>
          <a:p>
            <a:pPr algn="r"/>
            <a:r>
              <a:rPr sz="1400" b="1" i="0">
                <a:solidFill>
                  <a:srgbClr val="2A9D8F"/>
                </a:solidFill>
                <a:latin typeface="Aptos"/>
              </a:rPr>
              <a:t>03</a:t>
            </a:r>
          </a:p>
        </p:txBody>
      </p:sp>
      <p:cxnSp>
        <p:nvCxnSpPr>
          <p:cNvPr id="18" name="Connector 17"/>
          <p:cNvCxnSpPr/>
          <p:nvPr/>
        </p:nvCxnSpPr>
        <p:spPr>
          <a:xfrm>
            <a:off x="420624" y="2075688"/>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20624" y="2212848"/>
            <a:ext cx="822960" cy="640080"/>
          </a:xfrm>
          <a:prstGeom prst="rect">
            <a:avLst/>
          </a:prstGeom>
          <a:noFill/>
        </p:spPr>
        <p:txBody>
          <a:bodyPr wrap="square" anchor="ctr" lIns="0" rIns="0" tIns="0" bIns="0">
            <a:spAutoFit/>
          </a:bodyPr>
          <a:lstStyle/>
          <a:p>
            <a:pPr algn="l"/>
            <a:r>
              <a:rPr sz="2600" b="1" i="0">
                <a:solidFill>
                  <a:srgbClr val="2A9D8F"/>
                </a:solidFill>
                <a:latin typeface="Aptos"/>
              </a:rPr>
              <a:t>II</a:t>
            </a:r>
          </a:p>
        </p:txBody>
      </p:sp>
      <p:sp>
        <p:nvSpPr>
          <p:cNvPr id="20" name="TextBox 19"/>
          <p:cNvSpPr txBox="1"/>
          <p:nvPr/>
        </p:nvSpPr>
        <p:spPr>
          <a:xfrm>
            <a:off x="1325880" y="2212848"/>
            <a:ext cx="2743200" cy="640080"/>
          </a:xfrm>
          <a:prstGeom prst="rect">
            <a:avLst/>
          </a:prstGeom>
          <a:noFill/>
        </p:spPr>
        <p:txBody>
          <a:bodyPr wrap="square" anchor="ctr" lIns="0" rIns="0" tIns="0" bIns="0">
            <a:spAutoFit/>
          </a:bodyPr>
          <a:lstStyle/>
          <a:p>
            <a:pPr algn="l"/>
            <a:r>
              <a:rPr sz="2000" b="1" i="0">
                <a:solidFill>
                  <a:srgbClr val="0F4C47"/>
                </a:solidFill>
                <a:latin typeface="Aptos"/>
              </a:rPr>
              <a:t>Giải pháp</a:t>
            </a:r>
          </a:p>
        </p:txBody>
      </p:sp>
      <p:sp>
        <p:nvSpPr>
          <p:cNvPr id="21" name="TextBox 20"/>
          <p:cNvSpPr txBox="1"/>
          <p:nvPr/>
        </p:nvSpPr>
        <p:spPr>
          <a:xfrm>
            <a:off x="4114800" y="2212848"/>
            <a:ext cx="6400800" cy="640080"/>
          </a:xfrm>
          <a:prstGeom prst="rect">
            <a:avLst/>
          </a:prstGeom>
          <a:noFill/>
        </p:spPr>
        <p:txBody>
          <a:bodyPr wrap="square" anchor="ctr" lIns="0" rIns="0" tIns="0" bIns="0">
            <a:spAutoFit/>
          </a:bodyPr>
          <a:lstStyle/>
          <a:p>
            <a:pPr algn="l"/>
            <a:r>
              <a:rPr sz="1400" b="0" i="0">
                <a:solidFill>
                  <a:srgbClr val="5F7472"/>
                </a:solidFill>
                <a:latin typeface="Aptos"/>
              </a:rPr>
              <a:t>App được tạo ra như thế nào, AI đóng vai trò gì, ai dùng app</a:t>
            </a:r>
          </a:p>
        </p:txBody>
      </p:sp>
      <p:sp>
        <p:nvSpPr>
          <p:cNvPr id="22" name="TextBox 21"/>
          <p:cNvSpPr txBox="1"/>
          <p:nvPr/>
        </p:nvSpPr>
        <p:spPr>
          <a:xfrm>
            <a:off x="10607040" y="2212848"/>
            <a:ext cx="1161288" cy="640080"/>
          </a:xfrm>
          <a:prstGeom prst="rect">
            <a:avLst/>
          </a:prstGeom>
          <a:noFill/>
        </p:spPr>
        <p:txBody>
          <a:bodyPr wrap="square" anchor="ctr" lIns="0" rIns="0" tIns="0" bIns="0">
            <a:spAutoFit/>
          </a:bodyPr>
          <a:lstStyle/>
          <a:p>
            <a:pPr algn="r"/>
            <a:r>
              <a:rPr sz="1400" b="1" i="0">
                <a:solidFill>
                  <a:srgbClr val="2A9D8F"/>
                </a:solidFill>
                <a:latin typeface="Aptos"/>
              </a:rPr>
              <a:t>05</a:t>
            </a:r>
          </a:p>
        </p:txBody>
      </p:sp>
      <p:cxnSp>
        <p:nvCxnSpPr>
          <p:cNvPr id="23" name="Connector 22"/>
          <p:cNvCxnSpPr/>
          <p:nvPr/>
        </p:nvCxnSpPr>
        <p:spPr>
          <a:xfrm>
            <a:off x="420624" y="2990088"/>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20624" y="3127248"/>
            <a:ext cx="822960" cy="640080"/>
          </a:xfrm>
          <a:prstGeom prst="rect">
            <a:avLst/>
          </a:prstGeom>
          <a:noFill/>
        </p:spPr>
        <p:txBody>
          <a:bodyPr wrap="square" anchor="ctr" lIns="0" rIns="0" tIns="0" bIns="0">
            <a:spAutoFit/>
          </a:bodyPr>
          <a:lstStyle/>
          <a:p>
            <a:pPr algn="l"/>
            <a:r>
              <a:rPr sz="2600" b="1" i="0">
                <a:solidFill>
                  <a:srgbClr val="2A9D8F"/>
                </a:solidFill>
                <a:latin typeface="Aptos"/>
              </a:rPr>
              <a:t>III</a:t>
            </a:r>
          </a:p>
        </p:txBody>
      </p:sp>
      <p:sp>
        <p:nvSpPr>
          <p:cNvPr id="25" name="TextBox 24"/>
          <p:cNvSpPr txBox="1"/>
          <p:nvPr/>
        </p:nvSpPr>
        <p:spPr>
          <a:xfrm>
            <a:off x="1325880" y="3127248"/>
            <a:ext cx="2743200" cy="640080"/>
          </a:xfrm>
          <a:prstGeom prst="rect">
            <a:avLst/>
          </a:prstGeom>
          <a:noFill/>
        </p:spPr>
        <p:txBody>
          <a:bodyPr wrap="square" anchor="ctr" lIns="0" rIns="0" tIns="0" bIns="0">
            <a:spAutoFit/>
          </a:bodyPr>
          <a:lstStyle/>
          <a:p>
            <a:pPr algn="l"/>
            <a:r>
              <a:rPr sz="2000" b="1" i="0">
                <a:solidFill>
                  <a:srgbClr val="0F4C47"/>
                </a:solidFill>
                <a:latin typeface="Aptos"/>
              </a:rPr>
              <a:t>Sử dụng</a:t>
            </a:r>
          </a:p>
        </p:txBody>
      </p:sp>
      <p:sp>
        <p:nvSpPr>
          <p:cNvPr id="26" name="TextBox 25"/>
          <p:cNvSpPr txBox="1"/>
          <p:nvPr/>
        </p:nvSpPr>
        <p:spPr>
          <a:xfrm>
            <a:off x="4114800" y="3127248"/>
            <a:ext cx="6400800" cy="640080"/>
          </a:xfrm>
          <a:prstGeom prst="rect">
            <a:avLst/>
          </a:prstGeom>
          <a:noFill/>
        </p:spPr>
        <p:txBody>
          <a:bodyPr wrap="square" anchor="ctr" lIns="0" rIns="0" tIns="0" bIns="0">
            <a:spAutoFit/>
          </a:bodyPr>
          <a:lstStyle/>
          <a:p>
            <a:pPr algn="l"/>
            <a:r>
              <a:rPr sz="1400" b="0" i="0">
                <a:solidFill>
                  <a:srgbClr val="5F7472"/>
                </a:solidFill>
                <a:latin typeface="Aptos"/>
              </a:rPr>
              <a:t>Các chức năng chính qua ảnh chụp thật của app</a:t>
            </a:r>
          </a:p>
        </p:txBody>
      </p:sp>
      <p:sp>
        <p:nvSpPr>
          <p:cNvPr id="27" name="TextBox 26"/>
          <p:cNvSpPr txBox="1"/>
          <p:nvPr/>
        </p:nvSpPr>
        <p:spPr>
          <a:xfrm>
            <a:off x="10607040" y="3127248"/>
            <a:ext cx="1161288" cy="640080"/>
          </a:xfrm>
          <a:prstGeom prst="rect">
            <a:avLst/>
          </a:prstGeom>
          <a:noFill/>
        </p:spPr>
        <p:txBody>
          <a:bodyPr wrap="square" anchor="ctr" lIns="0" rIns="0" tIns="0" bIns="0">
            <a:spAutoFit/>
          </a:bodyPr>
          <a:lstStyle/>
          <a:p>
            <a:pPr algn="r"/>
            <a:r>
              <a:rPr sz="1400" b="1" i="0">
                <a:solidFill>
                  <a:srgbClr val="2A9D8F"/>
                </a:solidFill>
                <a:latin typeface="Aptos"/>
              </a:rPr>
              <a:t>09</a:t>
            </a:r>
          </a:p>
        </p:txBody>
      </p:sp>
      <p:cxnSp>
        <p:nvCxnSpPr>
          <p:cNvPr id="28" name="Connector 27"/>
          <p:cNvCxnSpPr/>
          <p:nvPr/>
        </p:nvCxnSpPr>
        <p:spPr>
          <a:xfrm>
            <a:off x="420624" y="3904487"/>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20624" y="4041648"/>
            <a:ext cx="822960" cy="640080"/>
          </a:xfrm>
          <a:prstGeom prst="rect">
            <a:avLst/>
          </a:prstGeom>
          <a:noFill/>
        </p:spPr>
        <p:txBody>
          <a:bodyPr wrap="square" anchor="ctr" lIns="0" rIns="0" tIns="0" bIns="0">
            <a:spAutoFit/>
          </a:bodyPr>
          <a:lstStyle/>
          <a:p>
            <a:pPr algn="l"/>
            <a:r>
              <a:rPr sz="2600" b="1" i="0">
                <a:solidFill>
                  <a:srgbClr val="2A9D8F"/>
                </a:solidFill>
                <a:latin typeface="Aptos"/>
              </a:rPr>
              <a:t>IV</a:t>
            </a:r>
          </a:p>
        </p:txBody>
      </p:sp>
      <p:sp>
        <p:nvSpPr>
          <p:cNvPr id="30" name="TextBox 29"/>
          <p:cNvSpPr txBox="1"/>
          <p:nvPr/>
        </p:nvSpPr>
        <p:spPr>
          <a:xfrm>
            <a:off x="1325880" y="4041648"/>
            <a:ext cx="2743200" cy="640080"/>
          </a:xfrm>
          <a:prstGeom prst="rect">
            <a:avLst/>
          </a:prstGeom>
          <a:noFill/>
        </p:spPr>
        <p:txBody>
          <a:bodyPr wrap="square" anchor="ctr" lIns="0" rIns="0" tIns="0" bIns="0">
            <a:spAutoFit/>
          </a:bodyPr>
          <a:lstStyle/>
          <a:p>
            <a:pPr algn="l"/>
            <a:r>
              <a:rPr sz="2000" b="1" i="0">
                <a:solidFill>
                  <a:srgbClr val="0F4C47"/>
                </a:solidFill>
                <a:latin typeface="Aptos"/>
              </a:rPr>
              <a:t>Hiệu quả</a:t>
            </a:r>
          </a:p>
        </p:txBody>
      </p:sp>
      <p:sp>
        <p:nvSpPr>
          <p:cNvPr id="31" name="TextBox 30"/>
          <p:cNvSpPr txBox="1"/>
          <p:nvPr/>
        </p:nvSpPr>
        <p:spPr>
          <a:xfrm>
            <a:off x="4114800" y="4041648"/>
            <a:ext cx="6400800" cy="640080"/>
          </a:xfrm>
          <a:prstGeom prst="rect">
            <a:avLst/>
          </a:prstGeom>
          <a:noFill/>
        </p:spPr>
        <p:txBody>
          <a:bodyPr wrap="square" anchor="ctr" lIns="0" rIns="0" tIns="0" bIns="0">
            <a:spAutoFit/>
          </a:bodyPr>
          <a:lstStyle/>
          <a:p>
            <a:pPr algn="l"/>
            <a:r>
              <a:rPr sz="1400" b="0" i="0">
                <a:solidFill>
                  <a:srgbClr val="5F7472"/>
                </a:solidFill>
                <a:latin typeface="Aptos"/>
              </a:rPr>
              <a:t>So sánh với cách cũ, lợi ích cho từng bên, trải nghiệm ngay</a:t>
            </a:r>
          </a:p>
        </p:txBody>
      </p:sp>
      <p:sp>
        <p:nvSpPr>
          <p:cNvPr id="32" name="TextBox 31"/>
          <p:cNvSpPr txBox="1"/>
          <p:nvPr/>
        </p:nvSpPr>
        <p:spPr>
          <a:xfrm>
            <a:off x="10607040" y="4041648"/>
            <a:ext cx="1161288" cy="640080"/>
          </a:xfrm>
          <a:prstGeom prst="rect">
            <a:avLst/>
          </a:prstGeom>
          <a:noFill/>
        </p:spPr>
        <p:txBody>
          <a:bodyPr wrap="square" anchor="ctr" lIns="0" rIns="0" tIns="0" bIns="0">
            <a:spAutoFit/>
          </a:bodyPr>
          <a:lstStyle/>
          <a:p>
            <a:pPr algn="r"/>
            <a:r>
              <a:rPr sz="1400" b="1" i="0">
                <a:solidFill>
                  <a:srgbClr val="2A9D8F"/>
                </a:solidFill>
                <a:latin typeface="Aptos"/>
              </a:rPr>
              <a:t>15</a:t>
            </a:r>
          </a:p>
        </p:txBody>
      </p:sp>
      <p:cxnSp>
        <p:nvCxnSpPr>
          <p:cNvPr id="33" name="Connector 32"/>
          <p:cNvCxnSpPr/>
          <p:nvPr/>
        </p:nvCxnSpPr>
        <p:spPr>
          <a:xfrm>
            <a:off x="420624" y="4818888"/>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20624" y="4956048"/>
            <a:ext cx="822960" cy="640080"/>
          </a:xfrm>
          <a:prstGeom prst="rect">
            <a:avLst/>
          </a:prstGeom>
          <a:noFill/>
        </p:spPr>
        <p:txBody>
          <a:bodyPr wrap="square" anchor="ctr" lIns="0" rIns="0" tIns="0" bIns="0">
            <a:spAutoFit/>
          </a:bodyPr>
          <a:lstStyle/>
          <a:p>
            <a:pPr algn="l"/>
            <a:r>
              <a:rPr sz="2600" b="1" i="0">
                <a:solidFill>
                  <a:srgbClr val="2A9D8F"/>
                </a:solidFill>
                <a:latin typeface="Aptos"/>
              </a:rPr>
              <a:t>V</a:t>
            </a:r>
          </a:p>
        </p:txBody>
      </p:sp>
      <p:sp>
        <p:nvSpPr>
          <p:cNvPr id="35" name="TextBox 34"/>
          <p:cNvSpPr txBox="1"/>
          <p:nvPr/>
        </p:nvSpPr>
        <p:spPr>
          <a:xfrm>
            <a:off x="1325880" y="4956048"/>
            <a:ext cx="2743200" cy="640080"/>
          </a:xfrm>
          <a:prstGeom prst="rect">
            <a:avLst/>
          </a:prstGeom>
          <a:noFill/>
        </p:spPr>
        <p:txBody>
          <a:bodyPr wrap="square" anchor="ctr" lIns="0" rIns="0" tIns="0" bIns="0">
            <a:spAutoFit/>
          </a:bodyPr>
          <a:lstStyle/>
          <a:p>
            <a:pPr algn="l"/>
            <a:r>
              <a:rPr sz="2000" b="1" i="0">
                <a:solidFill>
                  <a:srgbClr val="0F4C47"/>
                </a:solidFill>
                <a:latin typeface="Aptos"/>
              </a:rPr>
              <a:t>Mở rộng</a:t>
            </a:r>
          </a:p>
        </p:txBody>
      </p:sp>
      <p:sp>
        <p:nvSpPr>
          <p:cNvPr id="36" name="TextBox 35"/>
          <p:cNvSpPr txBox="1"/>
          <p:nvPr/>
        </p:nvSpPr>
        <p:spPr>
          <a:xfrm>
            <a:off x="4114800" y="4956048"/>
            <a:ext cx="6400800" cy="640080"/>
          </a:xfrm>
          <a:prstGeom prst="rect">
            <a:avLst/>
          </a:prstGeom>
          <a:noFill/>
        </p:spPr>
        <p:txBody>
          <a:bodyPr wrap="square" anchor="ctr" lIns="0" rIns="0" tIns="0" bIns="0">
            <a:spAutoFit/>
          </a:bodyPr>
          <a:lstStyle/>
          <a:p>
            <a:pPr algn="l"/>
            <a:r>
              <a:rPr sz="1400" b="0" i="0">
                <a:solidFill>
                  <a:srgbClr val="5F7472"/>
                </a:solidFill>
                <a:latin typeface="Aptos"/>
              </a:rPr>
              <a:t>Tiện ích khả thi trong tương lai, đường dẫn và mã QR</a:t>
            </a:r>
          </a:p>
        </p:txBody>
      </p:sp>
      <p:sp>
        <p:nvSpPr>
          <p:cNvPr id="37" name="TextBox 36"/>
          <p:cNvSpPr txBox="1"/>
          <p:nvPr/>
        </p:nvSpPr>
        <p:spPr>
          <a:xfrm>
            <a:off x="10607040" y="4956048"/>
            <a:ext cx="1161288" cy="640080"/>
          </a:xfrm>
          <a:prstGeom prst="rect">
            <a:avLst/>
          </a:prstGeom>
          <a:noFill/>
        </p:spPr>
        <p:txBody>
          <a:bodyPr wrap="square" anchor="ctr" lIns="0" rIns="0" tIns="0" bIns="0">
            <a:spAutoFit/>
          </a:bodyPr>
          <a:lstStyle/>
          <a:p>
            <a:pPr algn="r"/>
            <a:r>
              <a:rPr sz="1400" b="1" i="0">
                <a:solidFill>
                  <a:srgbClr val="2A9D8F"/>
                </a:solidFill>
                <a:latin typeface="Aptos"/>
              </a:rPr>
              <a:t>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 · VẤN ĐỀ</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03</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Cách truyền thống: dữ liệu rời rạc, thông tin đến chậm</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Rounded Rectangle 7"/>
          <p:cNvSpPr/>
          <p:nvPr/>
        </p:nvSpPr>
        <p:spPr>
          <a:xfrm>
            <a:off x="2324100"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Rounded Rectangle 13"/>
          <p:cNvSpPr/>
          <p:nvPr/>
        </p:nvSpPr>
        <p:spPr>
          <a:xfrm>
            <a:off x="420624" y="1234440"/>
            <a:ext cx="4206240" cy="4663440"/>
          </a:xfrm>
          <a:prstGeom prst="roundRect">
            <a:avLst>
              <a:gd name="adj" fmla="val 6000"/>
            </a:avLst>
          </a:prstGeom>
          <a:solidFill>
            <a:srgbClr val="E0F2F1"/>
          </a:solidFill>
          <a:ln>
            <a:noFill/>
          </a:ln>
          <a:effectLst/>
        </p:spPr>
        <p:txBody>
          <a:bodyPr rtlCol="0" anchor="ctr"/>
          <a:lstStyle/>
          <a:p>
            <a:pPr algn="ctr"/>
          </a:p>
        </p:txBody>
      </p:sp>
      <p:pic>
        <p:nvPicPr>
          <p:cNvPr id="15" name="Picture 14" descr="c_chu-nhiem_lo-lang.png"/>
          <p:cNvPicPr>
            <a:picLocks noChangeAspect="1"/>
          </p:cNvPicPr>
          <p:nvPr/>
        </p:nvPicPr>
        <p:blipFill>
          <a:blip r:embed="rId2"/>
          <a:stretch>
            <a:fillRect/>
          </a:stretch>
        </p:blipFill>
        <p:spPr>
          <a:xfrm>
            <a:off x="822960" y="1463040"/>
            <a:ext cx="3291840" cy="3291840"/>
          </a:xfrm>
          <a:prstGeom prst="rect">
            <a:avLst/>
          </a:prstGeom>
        </p:spPr>
      </p:pic>
      <p:sp>
        <p:nvSpPr>
          <p:cNvPr id="16" name="TextBox 15"/>
          <p:cNvSpPr txBox="1"/>
          <p:nvPr/>
        </p:nvSpPr>
        <p:spPr>
          <a:xfrm>
            <a:off x="640080" y="4892040"/>
            <a:ext cx="3749039" cy="822960"/>
          </a:xfrm>
          <a:prstGeom prst="rect">
            <a:avLst/>
          </a:prstGeom>
          <a:noFill/>
        </p:spPr>
        <p:txBody>
          <a:bodyPr wrap="square" anchor="ctr" lIns="0" rIns="0" tIns="0" bIns="0">
            <a:spAutoFit/>
          </a:bodyPr>
          <a:lstStyle/>
          <a:p>
            <a:pPr algn="ctr"/>
            <a:r>
              <a:rPr sz="1300" b="0" i="1">
                <a:solidFill>
                  <a:srgbClr val="0F4C47"/>
                </a:solidFill>
                <a:latin typeface="Aptos"/>
              </a:rPr>
              <a:t>Cuối tháng, cô chủ nhiệm vẫn phải gom sổ của từng tổ, cộng điểm tay rồi mới biết lớp đang thế nào.</a:t>
            </a:r>
          </a:p>
        </p:txBody>
      </p:sp>
      <p:sp>
        <p:nvSpPr>
          <p:cNvPr id="17" name="Oval 16"/>
          <p:cNvSpPr/>
          <p:nvPr/>
        </p:nvSpPr>
        <p:spPr>
          <a:xfrm>
            <a:off x="5029200" y="1261872"/>
            <a:ext cx="566928" cy="566928"/>
          </a:xfrm>
          <a:prstGeom prst="ellipse">
            <a:avLst/>
          </a:prstGeom>
          <a:solidFill>
            <a:srgbClr val="E0F2F1"/>
          </a:solidFill>
          <a:ln>
            <a:noFill/>
          </a:ln>
          <a:effectLst/>
        </p:spPr>
        <p:txBody>
          <a:bodyPr rtlCol="0" anchor="ctr"/>
          <a:lstStyle/>
          <a:p>
            <a:pPr algn="ctr"/>
          </a:p>
        </p:txBody>
      </p:sp>
      <p:pic>
        <p:nvPicPr>
          <p:cNvPr id="18" name="Picture 17" descr="file_2A9D8F.png"/>
          <p:cNvPicPr>
            <a:picLocks noChangeAspect="1"/>
          </p:cNvPicPr>
          <p:nvPr/>
        </p:nvPicPr>
        <p:blipFill>
          <a:blip r:embed="rId3"/>
          <a:stretch>
            <a:fillRect/>
          </a:stretch>
        </p:blipFill>
        <p:spPr>
          <a:xfrm>
            <a:off x="5153924" y="1386596"/>
            <a:ext cx="317479" cy="317479"/>
          </a:xfrm>
          <a:prstGeom prst="rect">
            <a:avLst/>
          </a:prstGeom>
        </p:spPr>
      </p:pic>
      <p:sp>
        <p:nvSpPr>
          <p:cNvPr id="19" name="TextBox 18"/>
          <p:cNvSpPr txBox="1"/>
          <p:nvPr/>
        </p:nvSpPr>
        <p:spPr>
          <a:xfrm>
            <a:off x="5760720" y="1243584"/>
            <a:ext cx="5943600" cy="310896"/>
          </a:xfrm>
          <a:prstGeom prst="rect">
            <a:avLst/>
          </a:prstGeom>
          <a:noFill/>
        </p:spPr>
        <p:txBody>
          <a:bodyPr wrap="square" anchor="t" lIns="0" rIns="0" tIns="0" bIns="0">
            <a:spAutoFit/>
          </a:bodyPr>
          <a:lstStyle/>
          <a:p>
            <a:pPr algn="l"/>
            <a:r>
              <a:rPr sz="1600" b="1" i="0">
                <a:solidFill>
                  <a:srgbClr val="0F4C47"/>
                </a:solidFill>
                <a:latin typeface="Aptos"/>
              </a:rPr>
              <a:t>Dữ liệu nằm rải rác</a:t>
            </a:r>
          </a:p>
        </p:txBody>
      </p:sp>
      <p:sp>
        <p:nvSpPr>
          <p:cNvPr id="20" name="TextBox 19"/>
          <p:cNvSpPr txBox="1"/>
          <p:nvPr/>
        </p:nvSpPr>
        <p:spPr>
          <a:xfrm>
            <a:off x="5760720" y="1572768"/>
            <a:ext cx="5943600" cy="457200"/>
          </a:xfrm>
          <a:prstGeom prst="rect">
            <a:avLst/>
          </a:prstGeom>
          <a:noFill/>
        </p:spPr>
        <p:txBody>
          <a:bodyPr wrap="square" anchor="t" lIns="0" rIns="0" tIns="0" bIns="0">
            <a:spAutoFit/>
          </a:bodyPr>
          <a:lstStyle/>
          <a:p>
            <a:pPr algn="l"/>
            <a:r>
              <a:rPr sz="1300" b="0" i="0">
                <a:solidFill>
                  <a:srgbClr val="1F2D2C"/>
                </a:solidFill>
                <a:latin typeface="Aptos"/>
              </a:rPr>
              <a:t>Sổ giấy của từng tổ, file Excel trên máy cá nhân, Google Sheet nhiều bản.</a:t>
            </a:r>
          </a:p>
        </p:txBody>
      </p:sp>
      <p:sp>
        <p:nvSpPr>
          <p:cNvPr id="21" name="Oval 20"/>
          <p:cNvSpPr/>
          <p:nvPr/>
        </p:nvSpPr>
        <p:spPr>
          <a:xfrm>
            <a:off x="5029200" y="2194560"/>
            <a:ext cx="566928" cy="566928"/>
          </a:xfrm>
          <a:prstGeom prst="ellipse">
            <a:avLst/>
          </a:prstGeom>
          <a:solidFill>
            <a:srgbClr val="E0F2F1"/>
          </a:solidFill>
          <a:ln>
            <a:noFill/>
          </a:ln>
          <a:effectLst/>
        </p:spPr>
        <p:txBody>
          <a:bodyPr rtlCol="0" anchor="ctr"/>
          <a:lstStyle/>
          <a:p>
            <a:pPr algn="ctr"/>
          </a:p>
        </p:txBody>
      </p:sp>
      <p:pic>
        <p:nvPicPr>
          <p:cNvPr id="22" name="Picture 21" descr="clock_2A9D8F.png"/>
          <p:cNvPicPr>
            <a:picLocks noChangeAspect="1"/>
          </p:cNvPicPr>
          <p:nvPr/>
        </p:nvPicPr>
        <p:blipFill>
          <a:blip r:embed="rId4"/>
          <a:stretch>
            <a:fillRect/>
          </a:stretch>
        </p:blipFill>
        <p:spPr>
          <a:xfrm>
            <a:off x="5153924" y="2319284"/>
            <a:ext cx="317479" cy="317479"/>
          </a:xfrm>
          <a:prstGeom prst="rect">
            <a:avLst/>
          </a:prstGeom>
        </p:spPr>
      </p:pic>
      <p:sp>
        <p:nvSpPr>
          <p:cNvPr id="23" name="TextBox 22"/>
          <p:cNvSpPr txBox="1"/>
          <p:nvPr/>
        </p:nvSpPr>
        <p:spPr>
          <a:xfrm>
            <a:off x="5760720" y="2176272"/>
            <a:ext cx="5943600" cy="310896"/>
          </a:xfrm>
          <a:prstGeom prst="rect">
            <a:avLst/>
          </a:prstGeom>
          <a:noFill/>
        </p:spPr>
        <p:txBody>
          <a:bodyPr wrap="square" anchor="t" lIns="0" rIns="0" tIns="0" bIns="0">
            <a:spAutoFit/>
          </a:bodyPr>
          <a:lstStyle/>
          <a:p>
            <a:pPr algn="l"/>
            <a:r>
              <a:rPr sz="1600" b="1" i="0">
                <a:solidFill>
                  <a:srgbClr val="0F4C47"/>
                </a:solidFill>
                <a:latin typeface="Aptos"/>
              </a:rPr>
              <a:t>Tổng hợp thủ công, dễ sai</a:t>
            </a:r>
          </a:p>
        </p:txBody>
      </p:sp>
      <p:sp>
        <p:nvSpPr>
          <p:cNvPr id="24" name="TextBox 23"/>
          <p:cNvSpPr txBox="1"/>
          <p:nvPr/>
        </p:nvSpPr>
        <p:spPr>
          <a:xfrm>
            <a:off x="5760720" y="2505456"/>
            <a:ext cx="5943600" cy="457200"/>
          </a:xfrm>
          <a:prstGeom prst="rect">
            <a:avLst/>
          </a:prstGeom>
          <a:noFill/>
        </p:spPr>
        <p:txBody>
          <a:bodyPr wrap="square" anchor="t" lIns="0" rIns="0" tIns="0" bIns="0">
            <a:spAutoFit/>
          </a:bodyPr>
          <a:lstStyle/>
          <a:p>
            <a:pPr algn="l"/>
            <a:r>
              <a:rPr sz="1300" b="0" i="0">
                <a:solidFill>
                  <a:srgbClr val="1F2D2C"/>
                </a:solidFill>
                <a:latin typeface="Aptos"/>
              </a:rPr>
              <a:t>Cộng trừ điểm, xếp loại cuối tuần, cuối tháng đều làm bằng tay.</a:t>
            </a:r>
          </a:p>
        </p:txBody>
      </p:sp>
      <p:sp>
        <p:nvSpPr>
          <p:cNvPr id="25" name="Oval 24"/>
          <p:cNvSpPr/>
          <p:nvPr/>
        </p:nvSpPr>
        <p:spPr>
          <a:xfrm>
            <a:off x="5029200" y="3127248"/>
            <a:ext cx="566928" cy="566928"/>
          </a:xfrm>
          <a:prstGeom prst="ellipse">
            <a:avLst/>
          </a:prstGeom>
          <a:solidFill>
            <a:srgbClr val="E0F2F1"/>
          </a:solidFill>
          <a:ln>
            <a:noFill/>
          </a:ln>
          <a:effectLst/>
        </p:spPr>
        <p:txBody>
          <a:bodyPr rtlCol="0" anchor="ctr"/>
          <a:lstStyle/>
          <a:p>
            <a:pPr algn="ctr"/>
          </a:p>
        </p:txBody>
      </p:sp>
      <p:pic>
        <p:nvPicPr>
          <p:cNvPr id="26" name="Picture 25" descr="users_2A9D8F.png"/>
          <p:cNvPicPr>
            <a:picLocks noChangeAspect="1"/>
          </p:cNvPicPr>
          <p:nvPr/>
        </p:nvPicPr>
        <p:blipFill>
          <a:blip r:embed="rId5"/>
          <a:stretch>
            <a:fillRect/>
          </a:stretch>
        </p:blipFill>
        <p:spPr>
          <a:xfrm>
            <a:off x="5153924" y="3251972"/>
            <a:ext cx="317479" cy="317479"/>
          </a:xfrm>
          <a:prstGeom prst="rect">
            <a:avLst/>
          </a:prstGeom>
        </p:spPr>
      </p:pic>
      <p:sp>
        <p:nvSpPr>
          <p:cNvPr id="27" name="TextBox 26"/>
          <p:cNvSpPr txBox="1"/>
          <p:nvPr/>
        </p:nvSpPr>
        <p:spPr>
          <a:xfrm>
            <a:off x="5760720" y="3108960"/>
            <a:ext cx="5943600" cy="310896"/>
          </a:xfrm>
          <a:prstGeom prst="rect">
            <a:avLst/>
          </a:prstGeom>
          <a:noFill/>
        </p:spPr>
        <p:txBody>
          <a:bodyPr wrap="square" anchor="t" lIns="0" rIns="0" tIns="0" bIns="0">
            <a:spAutoFit/>
          </a:bodyPr>
          <a:lstStyle/>
          <a:p>
            <a:pPr algn="l"/>
            <a:r>
              <a:rPr sz="1600" b="1" i="0">
                <a:solidFill>
                  <a:srgbClr val="0F4C47"/>
                </a:solidFill>
                <a:latin typeface="Aptos"/>
              </a:rPr>
              <a:t>Phụ huynh biết muộn</a:t>
            </a:r>
          </a:p>
        </p:txBody>
      </p:sp>
      <p:sp>
        <p:nvSpPr>
          <p:cNvPr id="28" name="TextBox 27"/>
          <p:cNvSpPr txBox="1"/>
          <p:nvPr/>
        </p:nvSpPr>
        <p:spPr>
          <a:xfrm>
            <a:off x="5760720" y="3438144"/>
            <a:ext cx="5943600" cy="457200"/>
          </a:xfrm>
          <a:prstGeom prst="rect">
            <a:avLst/>
          </a:prstGeom>
          <a:noFill/>
        </p:spPr>
        <p:txBody>
          <a:bodyPr wrap="square" anchor="t" lIns="0" rIns="0" tIns="0" bIns="0">
            <a:spAutoFit/>
          </a:bodyPr>
          <a:lstStyle/>
          <a:p>
            <a:pPr algn="l"/>
            <a:r>
              <a:rPr sz="1300" b="0" i="0">
                <a:solidFill>
                  <a:srgbClr val="1F2D2C"/>
                </a:solidFill>
                <a:latin typeface="Aptos"/>
              </a:rPr>
              <a:t>Thông tin chủ yếu qua họp phụ huynh hoặc tin nhắn lẻ, thiếu bằng chứng cụ thể.</a:t>
            </a:r>
          </a:p>
        </p:txBody>
      </p:sp>
      <p:sp>
        <p:nvSpPr>
          <p:cNvPr id="29" name="Oval 28"/>
          <p:cNvSpPr/>
          <p:nvPr/>
        </p:nvSpPr>
        <p:spPr>
          <a:xfrm>
            <a:off x="5029200" y="4059935"/>
            <a:ext cx="566928" cy="566928"/>
          </a:xfrm>
          <a:prstGeom prst="ellipse">
            <a:avLst/>
          </a:prstGeom>
          <a:solidFill>
            <a:srgbClr val="E0F2F1"/>
          </a:solidFill>
          <a:ln>
            <a:noFill/>
          </a:ln>
          <a:effectLst/>
        </p:spPr>
        <p:txBody>
          <a:bodyPr rtlCol="0" anchor="ctr"/>
          <a:lstStyle/>
          <a:p>
            <a:pPr algn="ctr"/>
          </a:p>
        </p:txBody>
      </p:sp>
      <p:pic>
        <p:nvPicPr>
          <p:cNvPr id="30" name="Picture 29" descr="eye_2A9D8F.png"/>
          <p:cNvPicPr>
            <a:picLocks noChangeAspect="1"/>
          </p:cNvPicPr>
          <p:nvPr/>
        </p:nvPicPr>
        <p:blipFill>
          <a:blip r:embed="rId6"/>
          <a:stretch>
            <a:fillRect/>
          </a:stretch>
        </p:blipFill>
        <p:spPr>
          <a:xfrm>
            <a:off x="5153924" y="4184660"/>
            <a:ext cx="317479" cy="317479"/>
          </a:xfrm>
          <a:prstGeom prst="rect">
            <a:avLst/>
          </a:prstGeom>
        </p:spPr>
      </p:pic>
      <p:sp>
        <p:nvSpPr>
          <p:cNvPr id="31" name="TextBox 30"/>
          <p:cNvSpPr txBox="1"/>
          <p:nvPr/>
        </p:nvSpPr>
        <p:spPr>
          <a:xfrm>
            <a:off x="5760720" y="4041648"/>
            <a:ext cx="5943600" cy="310896"/>
          </a:xfrm>
          <a:prstGeom prst="rect">
            <a:avLst/>
          </a:prstGeom>
          <a:noFill/>
        </p:spPr>
        <p:txBody>
          <a:bodyPr wrap="square" anchor="t" lIns="0" rIns="0" tIns="0" bIns="0">
            <a:spAutoFit/>
          </a:bodyPr>
          <a:lstStyle/>
          <a:p>
            <a:pPr algn="l"/>
            <a:r>
              <a:rPr sz="1600" b="1" i="0">
                <a:solidFill>
                  <a:srgbClr val="0F4C47"/>
                </a:solidFill>
                <a:latin typeface="Aptos"/>
              </a:rPr>
              <a:t>Khó nhìn tổng thể</a:t>
            </a:r>
          </a:p>
        </p:txBody>
      </p:sp>
      <p:sp>
        <p:nvSpPr>
          <p:cNvPr id="32" name="TextBox 31"/>
          <p:cNvSpPr txBox="1"/>
          <p:nvPr/>
        </p:nvSpPr>
        <p:spPr>
          <a:xfrm>
            <a:off x="5760720" y="4370831"/>
            <a:ext cx="5943600" cy="457200"/>
          </a:xfrm>
          <a:prstGeom prst="rect">
            <a:avLst/>
          </a:prstGeom>
          <a:noFill/>
        </p:spPr>
        <p:txBody>
          <a:bodyPr wrap="square" anchor="t" lIns="0" rIns="0" tIns="0" bIns="0">
            <a:spAutoFit/>
          </a:bodyPr>
          <a:lstStyle/>
          <a:p>
            <a:pPr algn="l"/>
            <a:r>
              <a:rPr sz="1300" b="0" i="0">
                <a:solidFill>
                  <a:srgbClr val="1F2D2C"/>
                </a:solidFill>
                <a:latin typeface="Aptos"/>
              </a:rPr>
              <a:t>Ban giám hiệu, cô chủ nhiệm khó so sánh theo tổ, theo tuần, theo kỳ.</a:t>
            </a:r>
          </a:p>
        </p:txBody>
      </p:sp>
      <p:sp>
        <p:nvSpPr>
          <p:cNvPr id="33" name="Oval 32"/>
          <p:cNvSpPr/>
          <p:nvPr/>
        </p:nvSpPr>
        <p:spPr>
          <a:xfrm>
            <a:off x="5029200" y="4992623"/>
            <a:ext cx="566928" cy="566928"/>
          </a:xfrm>
          <a:prstGeom prst="ellipse">
            <a:avLst/>
          </a:prstGeom>
          <a:solidFill>
            <a:srgbClr val="E0F2F1"/>
          </a:solidFill>
          <a:ln>
            <a:noFill/>
          </a:ln>
          <a:effectLst/>
        </p:spPr>
        <p:txBody>
          <a:bodyPr rtlCol="0" anchor="ctr"/>
          <a:lstStyle/>
          <a:p>
            <a:pPr algn="ctr"/>
          </a:p>
        </p:txBody>
      </p:sp>
      <p:pic>
        <p:nvPicPr>
          <p:cNvPr id="34" name="Picture 33" descr="alert_2A9D8F.png"/>
          <p:cNvPicPr>
            <a:picLocks noChangeAspect="1"/>
          </p:cNvPicPr>
          <p:nvPr/>
        </p:nvPicPr>
        <p:blipFill>
          <a:blip r:embed="rId7"/>
          <a:stretch>
            <a:fillRect/>
          </a:stretch>
        </p:blipFill>
        <p:spPr>
          <a:xfrm>
            <a:off x="5153924" y="5117348"/>
            <a:ext cx="317479" cy="317479"/>
          </a:xfrm>
          <a:prstGeom prst="rect">
            <a:avLst/>
          </a:prstGeom>
        </p:spPr>
      </p:pic>
      <p:sp>
        <p:nvSpPr>
          <p:cNvPr id="35" name="TextBox 34"/>
          <p:cNvSpPr txBox="1"/>
          <p:nvPr/>
        </p:nvSpPr>
        <p:spPr>
          <a:xfrm>
            <a:off x="5760720" y="4974336"/>
            <a:ext cx="5943600" cy="310896"/>
          </a:xfrm>
          <a:prstGeom prst="rect">
            <a:avLst/>
          </a:prstGeom>
          <a:noFill/>
        </p:spPr>
        <p:txBody>
          <a:bodyPr wrap="square" anchor="t" lIns="0" rIns="0" tIns="0" bIns="0">
            <a:spAutoFit/>
          </a:bodyPr>
          <a:lstStyle/>
          <a:p>
            <a:pPr algn="l"/>
            <a:r>
              <a:rPr sz="1600" b="1" i="0">
                <a:solidFill>
                  <a:srgbClr val="0F4C47"/>
                </a:solidFill>
                <a:latin typeface="Aptos"/>
              </a:rPr>
              <a:t>Khó kiểm soát chỉnh sửa</a:t>
            </a:r>
          </a:p>
        </p:txBody>
      </p:sp>
      <p:sp>
        <p:nvSpPr>
          <p:cNvPr id="36" name="TextBox 35"/>
          <p:cNvSpPr txBox="1"/>
          <p:nvPr/>
        </p:nvSpPr>
        <p:spPr>
          <a:xfrm>
            <a:off x="5760720" y="5303519"/>
            <a:ext cx="5943600" cy="457200"/>
          </a:xfrm>
          <a:prstGeom prst="rect">
            <a:avLst/>
          </a:prstGeom>
          <a:noFill/>
        </p:spPr>
        <p:txBody>
          <a:bodyPr wrap="square" anchor="t" lIns="0" rIns="0" tIns="0" bIns="0">
            <a:spAutoFit/>
          </a:bodyPr>
          <a:lstStyle/>
          <a:p>
            <a:pPr algn="l"/>
            <a:r>
              <a:rPr sz="1300" b="0" i="0">
                <a:solidFill>
                  <a:srgbClr val="1F2D2C"/>
                </a:solidFill>
                <a:latin typeface="Aptos"/>
              </a:rPr>
              <a:t>Đã chốt nhưng vẫn có thể bị sửa, không rõ ai sửa, sửa lúc nào.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 · VẤN ĐỀ</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04</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Mục đích: một nguồn dữ liệu, đúng người, đúng lúc</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Rounded Rectangle 7"/>
          <p:cNvSpPr/>
          <p:nvPr/>
        </p:nvSpPr>
        <p:spPr>
          <a:xfrm>
            <a:off x="2324100"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TextBox 13"/>
          <p:cNvSpPr txBox="1"/>
          <p:nvPr/>
        </p:nvSpPr>
        <p:spPr>
          <a:xfrm>
            <a:off x="420624" y="1234440"/>
            <a:ext cx="1097280" cy="1097280"/>
          </a:xfrm>
          <a:prstGeom prst="rect">
            <a:avLst/>
          </a:prstGeom>
          <a:noFill/>
        </p:spPr>
        <p:txBody>
          <a:bodyPr wrap="square" anchor="t" lIns="0" rIns="0" tIns="0" bIns="0">
            <a:spAutoFit/>
          </a:bodyPr>
          <a:lstStyle/>
          <a:p>
            <a:pPr algn="l"/>
            <a:r>
              <a:rPr sz="9600" b="1" i="0">
                <a:solidFill>
                  <a:srgbClr val="2A9D8F"/>
                </a:solidFill>
                <a:latin typeface="Aptos"/>
              </a:rPr>
              <a:t>“</a:t>
            </a:r>
          </a:p>
        </p:txBody>
      </p:sp>
      <p:sp>
        <p:nvSpPr>
          <p:cNvPr id="15" name="TextBox 14"/>
          <p:cNvSpPr txBox="1"/>
          <p:nvPr/>
        </p:nvSpPr>
        <p:spPr>
          <a:xfrm>
            <a:off x="1188720" y="1600200"/>
            <a:ext cx="6949440" cy="1828800"/>
          </a:xfrm>
          <a:prstGeom prst="rect">
            <a:avLst/>
          </a:prstGeom>
          <a:noFill/>
        </p:spPr>
        <p:txBody>
          <a:bodyPr wrap="square" anchor="t" lIns="0" rIns="0" tIns="0" bIns="0">
            <a:spAutoFit/>
          </a:bodyPr>
          <a:lstStyle/>
          <a:p>
            <a:pPr algn="l"/>
            <a:r>
              <a:rPr sz="2600" b="0" i="1">
                <a:solidFill>
                  <a:srgbClr val="0F4C47"/>
                </a:solidFill>
                <a:latin typeface="Aptos"/>
              </a:rPr>
              <a:t>Mỗi điểm cộng, điểm trừ của học sinh được ghi một lần, và ngay lập tức đến đúng người cần biết: lớp, cô chủ nhiệm và phụ huynh.</a:t>
            </a:r>
          </a:p>
        </p:txBody>
      </p:sp>
      <p:sp>
        <p:nvSpPr>
          <p:cNvPr id="16" name="Oval 15"/>
          <p:cNvSpPr/>
          <p:nvPr/>
        </p:nvSpPr>
        <p:spPr>
          <a:xfrm>
            <a:off x="1188720" y="3977639"/>
            <a:ext cx="347472" cy="347472"/>
          </a:xfrm>
          <a:prstGeom prst="ellipse">
            <a:avLst/>
          </a:prstGeom>
          <a:solidFill>
            <a:srgbClr val="0F766E"/>
          </a:solidFill>
          <a:ln>
            <a:noFill/>
          </a:ln>
          <a:effectLst/>
        </p:spPr>
        <p:txBody>
          <a:bodyPr rtlCol="0" anchor="ctr"/>
          <a:lstStyle/>
          <a:p>
            <a:pPr algn="ctr"/>
          </a:p>
        </p:txBody>
      </p:sp>
      <p:sp>
        <p:nvSpPr>
          <p:cNvPr id="17" name="TextBox 16"/>
          <p:cNvSpPr txBox="1"/>
          <p:nvPr/>
        </p:nvSpPr>
        <p:spPr>
          <a:xfrm>
            <a:off x="1188720" y="3977639"/>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18" name="TextBox 17"/>
          <p:cNvSpPr txBox="1"/>
          <p:nvPr/>
        </p:nvSpPr>
        <p:spPr>
          <a:xfrm>
            <a:off x="1188720" y="4434840"/>
            <a:ext cx="1645920" cy="310896"/>
          </a:xfrm>
          <a:prstGeom prst="rect">
            <a:avLst/>
          </a:prstGeom>
          <a:noFill/>
        </p:spPr>
        <p:txBody>
          <a:bodyPr wrap="square" anchor="t" lIns="0" rIns="0" tIns="0" bIns="0">
            <a:spAutoFit/>
          </a:bodyPr>
          <a:lstStyle/>
          <a:p>
            <a:pPr algn="l"/>
            <a:r>
              <a:rPr sz="1500" b="1" i="0">
                <a:solidFill>
                  <a:srgbClr val="0F4C47"/>
                </a:solidFill>
                <a:latin typeface="Aptos"/>
              </a:rPr>
              <a:t>Ghi một lần</a:t>
            </a:r>
          </a:p>
        </p:txBody>
      </p:sp>
      <p:sp>
        <p:nvSpPr>
          <p:cNvPr id="19" name="TextBox 18"/>
          <p:cNvSpPr txBox="1"/>
          <p:nvPr/>
        </p:nvSpPr>
        <p:spPr>
          <a:xfrm>
            <a:off x="1188720" y="4754880"/>
            <a:ext cx="1645920" cy="1005840"/>
          </a:xfrm>
          <a:prstGeom prst="rect">
            <a:avLst/>
          </a:prstGeom>
          <a:noFill/>
        </p:spPr>
        <p:txBody>
          <a:bodyPr wrap="square" anchor="t" lIns="0" rIns="0" tIns="0" bIns="0">
            <a:spAutoFit/>
          </a:bodyPr>
          <a:lstStyle/>
          <a:p>
            <a:pPr algn="l"/>
            <a:r>
              <a:rPr sz="1250" b="0" i="0">
                <a:solidFill>
                  <a:srgbClr val="1F2D2C"/>
                </a:solidFill>
                <a:latin typeface="Aptos"/>
              </a:rPr>
              <a:t>Cán bộ lớp ghi trên điện thoại, không chép lại.</a:t>
            </a:r>
          </a:p>
        </p:txBody>
      </p:sp>
      <p:sp>
        <p:nvSpPr>
          <p:cNvPr id="20" name="Oval 19"/>
          <p:cNvSpPr/>
          <p:nvPr/>
        </p:nvSpPr>
        <p:spPr>
          <a:xfrm>
            <a:off x="2971800" y="3977639"/>
            <a:ext cx="347472" cy="347472"/>
          </a:xfrm>
          <a:prstGeom prst="ellipse">
            <a:avLst/>
          </a:prstGeom>
          <a:solidFill>
            <a:srgbClr val="0F766E"/>
          </a:solidFill>
          <a:ln>
            <a:noFill/>
          </a:ln>
          <a:effectLst/>
        </p:spPr>
        <p:txBody>
          <a:bodyPr rtlCol="0" anchor="ctr"/>
          <a:lstStyle/>
          <a:p>
            <a:pPr algn="ctr"/>
          </a:p>
        </p:txBody>
      </p:sp>
      <p:sp>
        <p:nvSpPr>
          <p:cNvPr id="21" name="TextBox 20"/>
          <p:cNvSpPr txBox="1"/>
          <p:nvPr/>
        </p:nvSpPr>
        <p:spPr>
          <a:xfrm>
            <a:off x="2971800" y="3977639"/>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22" name="TextBox 21"/>
          <p:cNvSpPr txBox="1"/>
          <p:nvPr/>
        </p:nvSpPr>
        <p:spPr>
          <a:xfrm>
            <a:off x="2971800" y="4434840"/>
            <a:ext cx="1645920" cy="310896"/>
          </a:xfrm>
          <a:prstGeom prst="rect">
            <a:avLst/>
          </a:prstGeom>
          <a:noFill/>
        </p:spPr>
        <p:txBody>
          <a:bodyPr wrap="square" anchor="t" lIns="0" rIns="0" tIns="0" bIns="0">
            <a:spAutoFit/>
          </a:bodyPr>
          <a:lstStyle/>
          <a:p>
            <a:pPr algn="l"/>
            <a:r>
              <a:rPr sz="1500" b="1" i="0">
                <a:solidFill>
                  <a:srgbClr val="0F4C47"/>
                </a:solidFill>
                <a:latin typeface="Aptos"/>
              </a:rPr>
              <a:t>Tự tổng hợp</a:t>
            </a:r>
          </a:p>
        </p:txBody>
      </p:sp>
      <p:sp>
        <p:nvSpPr>
          <p:cNvPr id="23" name="TextBox 22"/>
          <p:cNvSpPr txBox="1"/>
          <p:nvPr/>
        </p:nvSpPr>
        <p:spPr>
          <a:xfrm>
            <a:off x="2971800" y="4754880"/>
            <a:ext cx="1645920" cy="1005840"/>
          </a:xfrm>
          <a:prstGeom prst="rect">
            <a:avLst/>
          </a:prstGeom>
          <a:noFill/>
        </p:spPr>
        <p:txBody>
          <a:bodyPr wrap="square" anchor="t" lIns="0" rIns="0" tIns="0" bIns="0">
            <a:spAutoFit/>
          </a:bodyPr>
          <a:lstStyle/>
          <a:p>
            <a:pPr algn="l"/>
            <a:r>
              <a:rPr sz="1250" b="0" i="0">
                <a:solidFill>
                  <a:srgbClr val="1F2D2C"/>
                </a:solidFill>
                <a:latin typeface="Aptos"/>
              </a:rPr>
              <a:t>Điểm tuần, tháng, học kỳ, xếp loại tính tự động.</a:t>
            </a:r>
          </a:p>
        </p:txBody>
      </p:sp>
      <p:sp>
        <p:nvSpPr>
          <p:cNvPr id="24" name="Oval 23"/>
          <p:cNvSpPr/>
          <p:nvPr/>
        </p:nvSpPr>
        <p:spPr>
          <a:xfrm>
            <a:off x="4754880" y="3977639"/>
            <a:ext cx="347472" cy="347472"/>
          </a:xfrm>
          <a:prstGeom prst="ellipse">
            <a:avLst/>
          </a:prstGeom>
          <a:solidFill>
            <a:srgbClr val="0F766E"/>
          </a:solidFill>
          <a:ln>
            <a:noFill/>
          </a:ln>
          <a:effectLst/>
        </p:spPr>
        <p:txBody>
          <a:bodyPr rtlCol="0" anchor="ctr"/>
          <a:lstStyle/>
          <a:p>
            <a:pPr algn="ctr"/>
          </a:p>
        </p:txBody>
      </p:sp>
      <p:sp>
        <p:nvSpPr>
          <p:cNvPr id="25" name="TextBox 24"/>
          <p:cNvSpPr txBox="1"/>
          <p:nvPr/>
        </p:nvSpPr>
        <p:spPr>
          <a:xfrm>
            <a:off x="4754880" y="3977639"/>
            <a:ext cx="347472" cy="347472"/>
          </a:xfrm>
          <a:prstGeom prst="rect">
            <a:avLst/>
          </a:prstGeom>
          <a:noFill/>
        </p:spPr>
        <p:txBody>
          <a:bodyPr wrap="square" anchor="ctr" lIns="0" rIns="0" tIns="0" bIns="0">
            <a:spAutoFit/>
          </a:bodyPr>
          <a:lstStyle/>
          <a:p>
            <a:pPr algn="ctr"/>
            <a:r>
              <a:rPr sz="1300" b="1" i="0">
                <a:solidFill>
                  <a:srgbClr val="FFFFFF"/>
                </a:solidFill>
                <a:latin typeface="Aptos"/>
              </a:rPr>
              <a:t>3</a:t>
            </a:r>
          </a:p>
        </p:txBody>
      </p:sp>
      <p:sp>
        <p:nvSpPr>
          <p:cNvPr id="26" name="TextBox 25"/>
          <p:cNvSpPr txBox="1"/>
          <p:nvPr/>
        </p:nvSpPr>
        <p:spPr>
          <a:xfrm>
            <a:off x="4754880" y="4434840"/>
            <a:ext cx="1645920" cy="310896"/>
          </a:xfrm>
          <a:prstGeom prst="rect">
            <a:avLst/>
          </a:prstGeom>
          <a:noFill/>
        </p:spPr>
        <p:txBody>
          <a:bodyPr wrap="square" anchor="t" lIns="0" rIns="0" tIns="0" bIns="0">
            <a:spAutoFit/>
          </a:bodyPr>
          <a:lstStyle/>
          <a:p>
            <a:pPr algn="l"/>
            <a:r>
              <a:rPr sz="1500" b="1" i="0">
                <a:solidFill>
                  <a:srgbClr val="0F4C47"/>
                </a:solidFill>
                <a:latin typeface="Aptos"/>
              </a:rPr>
              <a:t>Minh bạch</a:t>
            </a:r>
          </a:p>
        </p:txBody>
      </p:sp>
      <p:sp>
        <p:nvSpPr>
          <p:cNvPr id="27" name="TextBox 26"/>
          <p:cNvSpPr txBox="1"/>
          <p:nvPr/>
        </p:nvSpPr>
        <p:spPr>
          <a:xfrm>
            <a:off x="4754880" y="4754880"/>
            <a:ext cx="1645920" cy="1005840"/>
          </a:xfrm>
          <a:prstGeom prst="rect">
            <a:avLst/>
          </a:prstGeom>
          <a:noFill/>
        </p:spPr>
        <p:txBody>
          <a:bodyPr wrap="square" anchor="t" lIns="0" rIns="0" tIns="0" bIns="0">
            <a:spAutoFit/>
          </a:bodyPr>
          <a:lstStyle/>
          <a:p>
            <a:pPr algn="l"/>
            <a:r>
              <a:rPr sz="1250" b="0" i="0">
                <a:solidFill>
                  <a:srgbClr val="1F2D2C"/>
                </a:solidFill>
                <a:latin typeface="Aptos"/>
              </a:rPr>
              <a:t>Có bằng chứng, có nhận xét của cô, có chốt tháng.</a:t>
            </a:r>
          </a:p>
        </p:txBody>
      </p:sp>
      <p:sp>
        <p:nvSpPr>
          <p:cNvPr id="28" name="Oval 27"/>
          <p:cNvSpPr/>
          <p:nvPr/>
        </p:nvSpPr>
        <p:spPr>
          <a:xfrm>
            <a:off x="6537959" y="3977639"/>
            <a:ext cx="347472" cy="347472"/>
          </a:xfrm>
          <a:prstGeom prst="ellipse">
            <a:avLst/>
          </a:prstGeom>
          <a:solidFill>
            <a:srgbClr val="0F766E"/>
          </a:solidFill>
          <a:ln>
            <a:noFill/>
          </a:ln>
          <a:effectLst/>
        </p:spPr>
        <p:txBody>
          <a:bodyPr rtlCol="0" anchor="ctr"/>
          <a:lstStyle/>
          <a:p>
            <a:pPr algn="ctr"/>
          </a:p>
        </p:txBody>
      </p:sp>
      <p:sp>
        <p:nvSpPr>
          <p:cNvPr id="29" name="TextBox 28"/>
          <p:cNvSpPr txBox="1"/>
          <p:nvPr/>
        </p:nvSpPr>
        <p:spPr>
          <a:xfrm>
            <a:off x="6537959" y="3977639"/>
            <a:ext cx="347472" cy="347472"/>
          </a:xfrm>
          <a:prstGeom prst="rect">
            <a:avLst/>
          </a:prstGeom>
          <a:noFill/>
        </p:spPr>
        <p:txBody>
          <a:bodyPr wrap="square" anchor="ctr" lIns="0" rIns="0" tIns="0" bIns="0">
            <a:spAutoFit/>
          </a:bodyPr>
          <a:lstStyle/>
          <a:p>
            <a:pPr algn="ctr"/>
            <a:r>
              <a:rPr sz="1300" b="1" i="0">
                <a:solidFill>
                  <a:srgbClr val="FFFFFF"/>
                </a:solidFill>
                <a:latin typeface="Aptos"/>
              </a:rPr>
              <a:t>4</a:t>
            </a:r>
          </a:p>
        </p:txBody>
      </p:sp>
      <p:sp>
        <p:nvSpPr>
          <p:cNvPr id="30" name="TextBox 29"/>
          <p:cNvSpPr txBox="1"/>
          <p:nvPr/>
        </p:nvSpPr>
        <p:spPr>
          <a:xfrm>
            <a:off x="6537959" y="4434840"/>
            <a:ext cx="1645920" cy="310896"/>
          </a:xfrm>
          <a:prstGeom prst="rect">
            <a:avLst/>
          </a:prstGeom>
          <a:noFill/>
        </p:spPr>
        <p:txBody>
          <a:bodyPr wrap="square" anchor="t" lIns="0" rIns="0" tIns="0" bIns="0">
            <a:spAutoFit/>
          </a:bodyPr>
          <a:lstStyle/>
          <a:p>
            <a:pPr algn="l"/>
            <a:r>
              <a:rPr sz="1500" b="1" i="0">
                <a:solidFill>
                  <a:srgbClr val="0F4C47"/>
                </a:solidFill>
                <a:latin typeface="Aptos"/>
              </a:rPr>
              <a:t>Kết nối gia đình</a:t>
            </a:r>
          </a:p>
        </p:txBody>
      </p:sp>
      <p:sp>
        <p:nvSpPr>
          <p:cNvPr id="31" name="TextBox 30"/>
          <p:cNvSpPr txBox="1"/>
          <p:nvPr/>
        </p:nvSpPr>
        <p:spPr>
          <a:xfrm>
            <a:off x="6537959" y="4754880"/>
            <a:ext cx="1645920" cy="1005840"/>
          </a:xfrm>
          <a:prstGeom prst="rect">
            <a:avLst/>
          </a:prstGeom>
          <a:noFill/>
        </p:spPr>
        <p:txBody>
          <a:bodyPr wrap="square" anchor="t" lIns="0" rIns="0" tIns="0" bIns="0">
            <a:spAutoFit/>
          </a:bodyPr>
          <a:lstStyle/>
          <a:p>
            <a:pPr algn="l"/>
            <a:r>
              <a:rPr sz="1250" b="0" i="0">
                <a:solidFill>
                  <a:srgbClr val="1F2D2C"/>
                </a:solidFill>
                <a:latin typeface="Aptos"/>
              </a:rPr>
              <a:t>Phụ huynh nhận email và xem hồ sơ của con.</a:t>
            </a:r>
          </a:p>
        </p:txBody>
      </p:sp>
      <p:pic>
        <p:nvPicPr>
          <p:cNvPr id="32" name="Picture 31" descr="c_giang-day_chi-tay.png"/>
          <p:cNvPicPr>
            <a:picLocks noChangeAspect="1"/>
          </p:cNvPicPr>
          <p:nvPr/>
        </p:nvPicPr>
        <p:blipFill>
          <a:blip r:embed="rId2"/>
          <a:stretch>
            <a:fillRect/>
          </a:stretch>
        </p:blipFill>
        <p:spPr>
          <a:xfrm>
            <a:off x="8686800" y="1188720"/>
            <a:ext cx="4754880" cy="47548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 · GIẢI PHÁP</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05</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App được tạo ra như thế nào: 4 mảnh ghép quen thuộc</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Rounded Rectangle 8"/>
          <p:cNvSpPr/>
          <p:nvPr/>
        </p:nvSpPr>
        <p:spPr>
          <a:xfrm>
            <a:off x="4227576"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Oval 13"/>
          <p:cNvSpPr/>
          <p:nvPr/>
        </p:nvSpPr>
        <p:spPr>
          <a:xfrm>
            <a:off x="1005840" y="1325880"/>
            <a:ext cx="822960" cy="822960"/>
          </a:xfrm>
          <a:prstGeom prst="ellipse">
            <a:avLst/>
          </a:prstGeom>
          <a:solidFill>
            <a:srgbClr val="E0F2F1"/>
          </a:solidFill>
          <a:ln>
            <a:noFill/>
          </a:ln>
          <a:effectLst/>
        </p:spPr>
        <p:txBody>
          <a:bodyPr rtlCol="0" anchor="ctr"/>
          <a:lstStyle/>
          <a:p>
            <a:pPr algn="ctr"/>
          </a:p>
        </p:txBody>
      </p:sp>
      <p:pic>
        <p:nvPicPr>
          <p:cNvPr id="15" name="Picture 14" descr="layers_0F766E.png"/>
          <p:cNvPicPr>
            <a:picLocks noChangeAspect="1"/>
          </p:cNvPicPr>
          <p:nvPr/>
        </p:nvPicPr>
        <p:blipFill>
          <a:blip r:embed="rId2"/>
          <a:stretch>
            <a:fillRect/>
          </a:stretch>
        </p:blipFill>
        <p:spPr>
          <a:xfrm>
            <a:off x="1186891" y="1506931"/>
            <a:ext cx="460857" cy="460857"/>
          </a:xfrm>
          <a:prstGeom prst="rect">
            <a:avLst/>
          </a:prstGeom>
        </p:spPr>
      </p:pic>
      <p:sp>
        <p:nvSpPr>
          <p:cNvPr id="16" name="TextBox 15"/>
          <p:cNvSpPr txBox="1"/>
          <p:nvPr/>
        </p:nvSpPr>
        <p:spPr>
          <a:xfrm>
            <a:off x="502920" y="2267712"/>
            <a:ext cx="1828800" cy="310896"/>
          </a:xfrm>
          <a:prstGeom prst="rect">
            <a:avLst/>
          </a:prstGeom>
          <a:noFill/>
        </p:spPr>
        <p:txBody>
          <a:bodyPr wrap="square" anchor="t" lIns="0" rIns="0" tIns="0" bIns="0">
            <a:spAutoFit/>
          </a:bodyPr>
          <a:lstStyle/>
          <a:p>
            <a:pPr algn="ctr"/>
            <a:r>
              <a:rPr sz="1600" b="1" i="0">
                <a:solidFill>
                  <a:srgbClr val="0F4C47"/>
                </a:solidFill>
                <a:latin typeface="Aptos"/>
              </a:rPr>
              <a:t>Google Sheet</a:t>
            </a:r>
          </a:p>
        </p:txBody>
      </p:sp>
      <p:sp>
        <p:nvSpPr>
          <p:cNvPr id="17" name="TextBox 16"/>
          <p:cNvSpPr txBox="1"/>
          <p:nvPr/>
        </p:nvSpPr>
        <p:spPr>
          <a:xfrm>
            <a:off x="502920" y="2606040"/>
            <a:ext cx="1828800" cy="822960"/>
          </a:xfrm>
          <a:prstGeom prst="rect">
            <a:avLst/>
          </a:prstGeom>
          <a:noFill/>
        </p:spPr>
        <p:txBody>
          <a:bodyPr wrap="square" anchor="t" lIns="0" rIns="0" tIns="0" bIns="0">
            <a:spAutoFit/>
          </a:bodyPr>
          <a:lstStyle/>
          <a:p>
            <a:pPr algn="ctr"/>
            <a:r>
              <a:rPr sz="1250" b="0" i="0">
                <a:solidFill>
                  <a:srgbClr val="1F2D2C"/>
                </a:solidFill>
                <a:latin typeface="Aptos"/>
              </a:rPr>
              <a:t>Kho lưu dữ liệu: học sinh, điểm, nhận xét, tài khoản</a:t>
            </a:r>
          </a:p>
        </p:txBody>
      </p:sp>
      <p:sp>
        <p:nvSpPr>
          <p:cNvPr id="18" name="Oval 17"/>
          <p:cNvSpPr/>
          <p:nvPr/>
        </p:nvSpPr>
        <p:spPr>
          <a:xfrm>
            <a:off x="3291839" y="1325880"/>
            <a:ext cx="822960" cy="822960"/>
          </a:xfrm>
          <a:prstGeom prst="ellipse">
            <a:avLst/>
          </a:prstGeom>
          <a:solidFill>
            <a:srgbClr val="E0F2F1"/>
          </a:solidFill>
          <a:ln>
            <a:noFill/>
          </a:ln>
          <a:effectLst/>
        </p:spPr>
        <p:txBody>
          <a:bodyPr rtlCol="0" anchor="ctr"/>
          <a:lstStyle/>
          <a:p>
            <a:pPr algn="ctr"/>
          </a:p>
        </p:txBody>
      </p:sp>
      <p:pic>
        <p:nvPicPr>
          <p:cNvPr id="19" name="Picture 18" descr="file_0F766E.png"/>
          <p:cNvPicPr>
            <a:picLocks noChangeAspect="1"/>
          </p:cNvPicPr>
          <p:nvPr/>
        </p:nvPicPr>
        <p:blipFill>
          <a:blip r:embed="rId3"/>
          <a:stretch>
            <a:fillRect/>
          </a:stretch>
        </p:blipFill>
        <p:spPr>
          <a:xfrm>
            <a:off x="3472891" y="1506931"/>
            <a:ext cx="460857" cy="460857"/>
          </a:xfrm>
          <a:prstGeom prst="rect">
            <a:avLst/>
          </a:prstGeom>
        </p:spPr>
      </p:pic>
      <p:sp>
        <p:nvSpPr>
          <p:cNvPr id="20" name="TextBox 19"/>
          <p:cNvSpPr txBox="1"/>
          <p:nvPr/>
        </p:nvSpPr>
        <p:spPr>
          <a:xfrm>
            <a:off x="2788920" y="2267712"/>
            <a:ext cx="1828800" cy="310896"/>
          </a:xfrm>
          <a:prstGeom prst="rect">
            <a:avLst/>
          </a:prstGeom>
          <a:noFill/>
        </p:spPr>
        <p:txBody>
          <a:bodyPr wrap="square" anchor="t" lIns="0" rIns="0" tIns="0" bIns="0">
            <a:spAutoFit/>
          </a:bodyPr>
          <a:lstStyle/>
          <a:p>
            <a:pPr algn="ctr"/>
            <a:r>
              <a:rPr sz="1600" b="1" i="0">
                <a:solidFill>
                  <a:srgbClr val="0F4C47"/>
                </a:solidFill>
                <a:latin typeface="Aptos"/>
              </a:rPr>
              <a:t>Apps Script</a:t>
            </a:r>
          </a:p>
        </p:txBody>
      </p:sp>
      <p:sp>
        <p:nvSpPr>
          <p:cNvPr id="21" name="TextBox 20"/>
          <p:cNvSpPr txBox="1"/>
          <p:nvPr/>
        </p:nvSpPr>
        <p:spPr>
          <a:xfrm>
            <a:off x="2788920" y="2606040"/>
            <a:ext cx="1828800" cy="822960"/>
          </a:xfrm>
          <a:prstGeom prst="rect">
            <a:avLst/>
          </a:prstGeom>
          <a:noFill/>
        </p:spPr>
        <p:txBody>
          <a:bodyPr wrap="square" anchor="t" lIns="0" rIns="0" tIns="0" bIns="0">
            <a:spAutoFit/>
          </a:bodyPr>
          <a:lstStyle/>
          <a:p>
            <a:pPr algn="ctr"/>
            <a:r>
              <a:rPr sz="1250" b="0" i="0">
                <a:solidFill>
                  <a:srgbClr val="1F2D2C"/>
                </a:solidFill>
                <a:latin typeface="Aptos"/>
              </a:rPr>
              <a:t>"Người trung gian" của Google Sheet: đọc, ghi, gửi email</a:t>
            </a:r>
          </a:p>
        </p:txBody>
      </p:sp>
      <p:sp>
        <p:nvSpPr>
          <p:cNvPr id="22" name="Oval 21"/>
          <p:cNvSpPr/>
          <p:nvPr/>
        </p:nvSpPr>
        <p:spPr>
          <a:xfrm>
            <a:off x="5577840" y="1325880"/>
            <a:ext cx="822960" cy="822960"/>
          </a:xfrm>
          <a:prstGeom prst="ellipse">
            <a:avLst/>
          </a:prstGeom>
          <a:solidFill>
            <a:srgbClr val="E0F2F1"/>
          </a:solidFill>
          <a:ln>
            <a:noFill/>
          </a:ln>
          <a:effectLst/>
        </p:spPr>
        <p:txBody>
          <a:bodyPr rtlCol="0" anchor="ctr"/>
          <a:lstStyle/>
          <a:p>
            <a:pPr algn="ctr"/>
          </a:p>
        </p:txBody>
      </p:sp>
      <p:pic>
        <p:nvPicPr>
          <p:cNvPr id="23" name="Picture 22" descr="globe_0F766E.png"/>
          <p:cNvPicPr>
            <a:picLocks noChangeAspect="1"/>
          </p:cNvPicPr>
          <p:nvPr/>
        </p:nvPicPr>
        <p:blipFill>
          <a:blip r:embed="rId4"/>
          <a:stretch>
            <a:fillRect/>
          </a:stretch>
        </p:blipFill>
        <p:spPr>
          <a:xfrm>
            <a:off x="5758891" y="1506931"/>
            <a:ext cx="460857" cy="460857"/>
          </a:xfrm>
          <a:prstGeom prst="rect">
            <a:avLst/>
          </a:prstGeom>
        </p:spPr>
      </p:pic>
      <p:sp>
        <p:nvSpPr>
          <p:cNvPr id="24" name="TextBox 23"/>
          <p:cNvSpPr txBox="1"/>
          <p:nvPr/>
        </p:nvSpPr>
        <p:spPr>
          <a:xfrm>
            <a:off x="5074920" y="2267712"/>
            <a:ext cx="1828800" cy="310896"/>
          </a:xfrm>
          <a:prstGeom prst="rect">
            <a:avLst/>
          </a:prstGeom>
          <a:noFill/>
        </p:spPr>
        <p:txBody>
          <a:bodyPr wrap="square" anchor="t" lIns="0" rIns="0" tIns="0" bIns="0">
            <a:spAutoFit/>
          </a:bodyPr>
          <a:lstStyle/>
          <a:p>
            <a:pPr algn="ctr"/>
            <a:r>
              <a:rPr sz="1600" b="1" i="0">
                <a:solidFill>
                  <a:srgbClr val="0F4C47"/>
                </a:solidFill>
                <a:latin typeface="Aptos"/>
              </a:rPr>
              <a:t>Web app (HTML)</a:t>
            </a:r>
          </a:p>
        </p:txBody>
      </p:sp>
      <p:sp>
        <p:nvSpPr>
          <p:cNvPr id="25" name="TextBox 24"/>
          <p:cNvSpPr txBox="1"/>
          <p:nvPr/>
        </p:nvSpPr>
        <p:spPr>
          <a:xfrm>
            <a:off x="5074920" y="2606040"/>
            <a:ext cx="1828800" cy="822960"/>
          </a:xfrm>
          <a:prstGeom prst="rect">
            <a:avLst/>
          </a:prstGeom>
          <a:noFill/>
        </p:spPr>
        <p:txBody>
          <a:bodyPr wrap="square" anchor="t" lIns="0" rIns="0" tIns="0" bIns="0">
            <a:spAutoFit/>
          </a:bodyPr>
          <a:lstStyle/>
          <a:p>
            <a:pPr algn="ctr"/>
            <a:r>
              <a:rPr sz="1250" b="0" i="0">
                <a:solidFill>
                  <a:srgbClr val="1F2D2C"/>
                </a:solidFill>
                <a:latin typeface="Aptos"/>
              </a:rPr>
              <a:t>Giao diện trình bày dữ liệu đẹp, dễ thao tác</a:t>
            </a:r>
          </a:p>
        </p:txBody>
      </p:sp>
      <p:sp>
        <p:nvSpPr>
          <p:cNvPr id="26" name="Oval 25"/>
          <p:cNvSpPr/>
          <p:nvPr/>
        </p:nvSpPr>
        <p:spPr>
          <a:xfrm>
            <a:off x="7863840" y="1325880"/>
            <a:ext cx="822960" cy="822960"/>
          </a:xfrm>
          <a:prstGeom prst="ellipse">
            <a:avLst/>
          </a:prstGeom>
          <a:solidFill>
            <a:srgbClr val="E0F2F1"/>
          </a:solidFill>
          <a:ln>
            <a:noFill/>
          </a:ln>
          <a:effectLst/>
        </p:spPr>
        <p:txBody>
          <a:bodyPr rtlCol="0" anchor="ctr"/>
          <a:lstStyle/>
          <a:p>
            <a:pPr algn="ctr"/>
          </a:p>
        </p:txBody>
      </p:sp>
      <p:pic>
        <p:nvPicPr>
          <p:cNvPr id="27" name="Picture 26" descr="building_0F766E.png"/>
          <p:cNvPicPr>
            <a:picLocks noChangeAspect="1"/>
          </p:cNvPicPr>
          <p:nvPr/>
        </p:nvPicPr>
        <p:blipFill>
          <a:blip r:embed="rId5"/>
          <a:stretch>
            <a:fillRect/>
          </a:stretch>
        </p:blipFill>
        <p:spPr>
          <a:xfrm>
            <a:off x="8044891" y="1506931"/>
            <a:ext cx="460857" cy="460857"/>
          </a:xfrm>
          <a:prstGeom prst="rect">
            <a:avLst/>
          </a:prstGeom>
        </p:spPr>
      </p:pic>
      <p:sp>
        <p:nvSpPr>
          <p:cNvPr id="28" name="TextBox 27"/>
          <p:cNvSpPr txBox="1"/>
          <p:nvPr/>
        </p:nvSpPr>
        <p:spPr>
          <a:xfrm>
            <a:off x="7360920" y="2267712"/>
            <a:ext cx="1828800" cy="310896"/>
          </a:xfrm>
          <a:prstGeom prst="rect">
            <a:avLst/>
          </a:prstGeom>
          <a:noFill/>
        </p:spPr>
        <p:txBody>
          <a:bodyPr wrap="square" anchor="t" lIns="0" rIns="0" tIns="0" bIns="0">
            <a:spAutoFit/>
          </a:bodyPr>
          <a:lstStyle/>
          <a:p>
            <a:pPr algn="ctr"/>
            <a:r>
              <a:rPr sz="1600" b="1" i="0">
                <a:solidFill>
                  <a:srgbClr val="0F4C47"/>
                </a:solidFill>
                <a:latin typeface="Aptos"/>
              </a:rPr>
              <a:t>GitHub Pages</a:t>
            </a:r>
          </a:p>
        </p:txBody>
      </p:sp>
      <p:sp>
        <p:nvSpPr>
          <p:cNvPr id="29" name="TextBox 28"/>
          <p:cNvSpPr txBox="1"/>
          <p:nvPr/>
        </p:nvSpPr>
        <p:spPr>
          <a:xfrm>
            <a:off x="7360920" y="2606040"/>
            <a:ext cx="1828800" cy="822960"/>
          </a:xfrm>
          <a:prstGeom prst="rect">
            <a:avLst/>
          </a:prstGeom>
          <a:noFill/>
        </p:spPr>
        <p:txBody>
          <a:bodyPr wrap="square" anchor="t" lIns="0" rIns="0" tIns="0" bIns="0">
            <a:spAutoFit/>
          </a:bodyPr>
          <a:lstStyle/>
          <a:p>
            <a:pPr algn="ctr"/>
            <a:r>
              <a:rPr sz="1250" b="0" i="0">
                <a:solidFill>
                  <a:srgbClr val="1F2D2C"/>
                </a:solidFill>
                <a:latin typeface="Aptos"/>
              </a:rPr>
              <a:t>Nơi đăng tải web app, mở bằng một đường link</a:t>
            </a:r>
          </a:p>
        </p:txBody>
      </p:sp>
      <p:sp>
        <p:nvSpPr>
          <p:cNvPr id="30" name="Oval 29"/>
          <p:cNvSpPr/>
          <p:nvPr/>
        </p:nvSpPr>
        <p:spPr>
          <a:xfrm>
            <a:off x="10149840" y="1325880"/>
            <a:ext cx="822960" cy="822960"/>
          </a:xfrm>
          <a:prstGeom prst="ellipse">
            <a:avLst/>
          </a:prstGeom>
          <a:solidFill>
            <a:srgbClr val="E0F2F1"/>
          </a:solidFill>
          <a:ln>
            <a:noFill/>
          </a:ln>
          <a:effectLst/>
        </p:spPr>
        <p:txBody>
          <a:bodyPr rtlCol="0" anchor="ctr"/>
          <a:lstStyle/>
          <a:p>
            <a:pPr algn="ctr"/>
          </a:p>
        </p:txBody>
      </p:sp>
      <p:pic>
        <p:nvPicPr>
          <p:cNvPr id="31" name="Picture 30" descr="users_0F766E.png"/>
          <p:cNvPicPr>
            <a:picLocks noChangeAspect="1"/>
          </p:cNvPicPr>
          <p:nvPr/>
        </p:nvPicPr>
        <p:blipFill>
          <a:blip r:embed="rId6"/>
          <a:stretch>
            <a:fillRect/>
          </a:stretch>
        </p:blipFill>
        <p:spPr>
          <a:xfrm>
            <a:off x="10330891" y="1506931"/>
            <a:ext cx="460857" cy="460857"/>
          </a:xfrm>
          <a:prstGeom prst="rect">
            <a:avLst/>
          </a:prstGeom>
        </p:spPr>
      </p:pic>
      <p:sp>
        <p:nvSpPr>
          <p:cNvPr id="32" name="TextBox 31"/>
          <p:cNvSpPr txBox="1"/>
          <p:nvPr/>
        </p:nvSpPr>
        <p:spPr>
          <a:xfrm>
            <a:off x="9646920" y="2267712"/>
            <a:ext cx="1828800" cy="310896"/>
          </a:xfrm>
          <a:prstGeom prst="rect">
            <a:avLst/>
          </a:prstGeom>
          <a:noFill/>
        </p:spPr>
        <p:txBody>
          <a:bodyPr wrap="square" anchor="t" lIns="0" rIns="0" tIns="0" bIns="0">
            <a:spAutoFit/>
          </a:bodyPr>
          <a:lstStyle/>
          <a:p>
            <a:pPr algn="ctr"/>
            <a:r>
              <a:rPr sz="1600" b="1" i="0">
                <a:solidFill>
                  <a:srgbClr val="0F4C47"/>
                </a:solidFill>
                <a:latin typeface="Aptos"/>
              </a:rPr>
              <a:t>Mọi thiết bị</a:t>
            </a:r>
          </a:p>
        </p:txBody>
      </p:sp>
      <p:sp>
        <p:nvSpPr>
          <p:cNvPr id="33" name="TextBox 32"/>
          <p:cNvSpPr txBox="1"/>
          <p:nvPr/>
        </p:nvSpPr>
        <p:spPr>
          <a:xfrm>
            <a:off x="9646920" y="2606040"/>
            <a:ext cx="1828800" cy="822960"/>
          </a:xfrm>
          <a:prstGeom prst="rect">
            <a:avLst/>
          </a:prstGeom>
          <a:noFill/>
        </p:spPr>
        <p:txBody>
          <a:bodyPr wrap="square" anchor="t" lIns="0" rIns="0" tIns="0" bIns="0">
            <a:spAutoFit/>
          </a:bodyPr>
          <a:lstStyle/>
          <a:p>
            <a:pPr algn="ctr"/>
            <a:r>
              <a:rPr sz="1250" b="0" i="0">
                <a:solidFill>
                  <a:srgbClr val="1F2D2C"/>
                </a:solidFill>
                <a:latin typeface="Aptos"/>
              </a:rPr>
              <a:t>Điện thoại, máy tính của lớp, cô và phụ huynh</a:t>
            </a:r>
          </a:p>
        </p:txBody>
      </p:sp>
      <p:sp>
        <p:nvSpPr>
          <p:cNvPr id="34" name="Rounded Rectangle 33"/>
          <p:cNvSpPr/>
          <p:nvPr/>
        </p:nvSpPr>
        <p:spPr>
          <a:xfrm>
            <a:off x="420624" y="3749039"/>
            <a:ext cx="11347704" cy="2148840"/>
          </a:xfrm>
          <a:prstGeom prst="roundRect">
            <a:avLst>
              <a:gd name="adj" fmla="val 6000"/>
            </a:avLst>
          </a:prstGeom>
          <a:solidFill>
            <a:srgbClr val="FFF1E0"/>
          </a:solidFill>
          <a:ln>
            <a:noFill/>
          </a:ln>
          <a:effectLst/>
        </p:spPr>
        <p:txBody>
          <a:bodyPr rtlCol="0" anchor="ctr"/>
          <a:lstStyle/>
          <a:p>
            <a:pPr algn="ctr"/>
          </a:p>
        </p:txBody>
      </p:sp>
      <p:sp>
        <p:nvSpPr>
          <p:cNvPr id="35" name="TextBox 34"/>
          <p:cNvSpPr txBox="1"/>
          <p:nvPr/>
        </p:nvSpPr>
        <p:spPr>
          <a:xfrm>
            <a:off x="685800" y="3886200"/>
            <a:ext cx="3017520" cy="310896"/>
          </a:xfrm>
          <a:prstGeom prst="rect">
            <a:avLst/>
          </a:prstGeom>
          <a:noFill/>
        </p:spPr>
        <p:txBody>
          <a:bodyPr wrap="square" anchor="t" lIns="0" rIns="0" tIns="0" bIns="0">
            <a:spAutoFit/>
          </a:bodyPr>
          <a:lstStyle/>
          <a:p>
            <a:pPr algn="l"/>
            <a:r>
              <a:rPr sz="1200" b="1" i="0">
                <a:solidFill>
                  <a:srgbClr val="0F4C47"/>
                </a:solidFill>
                <a:latin typeface="Aptos"/>
              </a:rPr>
              <a:t>AI THAM GIA Ở ĐÂU?</a:t>
            </a:r>
          </a:p>
        </p:txBody>
      </p:sp>
      <p:sp>
        <p:nvSpPr>
          <p:cNvPr id="36" name="Oval 35"/>
          <p:cNvSpPr/>
          <p:nvPr/>
        </p:nvSpPr>
        <p:spPr>
          <a:xfrm>
            <a:off x="685800" y="4343400"/>
            <a:ext cx="347472" cy="347472"/>
          </a:xfrm>
          <a:prstGeom prst="ellipse">
            <a:avLst/>
          </a:prstGeom>
          <a:solidFill>
            <a:srgbClr val="0F766E"/>
          </a:solidFill>
          <a:ln>
            <a:noFill/>
          </a:ln>
          <a:effectLst/>
        </p:spPr>
        <p:txBody>
          <a:bodyPr rtlCol="0" anchor="ctr"/>
          <a:lstStyle/>
          <a:p>
            <a:pPr algn="ctr"/>
          </a:p>
        </p:txBody>
      </p:sp>
      <p:sp>
        <p:nvSpPr>
          <p:cNvPr id="37" name="TextBox 36"/>
          <p:cNvSpPr txBox="1"/>
          <p:nvPr/>
        </p:nvSpPr>
        <p:spPr>
          <a:xfrm>
            <a:off x="685800" y="4343400"/>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38" name="TextBox 37"/>
          <p:cNvSpPr txBox="1"/>
          <p:nvPr/>
        </p:nvSpPr>
        <p:spPr>
          <a:xfrm>
            <a:off x="1188720" y="4315968"/>
            <a:ext cx="4846320" cy="1371600"/>
          </a:xfrm>
          <a:prstGeom prst="rect">
            <a:avLst/>
          </a:prstGeom>
          <a:noFill/>
        </p:spPr>
        <p:txBody>
          <a:bodyPr wrap="square" anchor="t" lIns="0" rIns="0" tIns="0" bIns="0">
            <a:spAutoFit/>
          </a:bodyPr>
          <a:lstStyle/>
          <a:p>
            <a:pPr algn="l"/>
            <a:r>
              <a:rPr sz="1500" b="1" i="0">
                <a:solidFill>
                  <a:srgbClr val="0F4C47"/>
                </a:solidFill>
                <a:latin typeface="Aptos"/>
              </a:rPr>
              <a:t>Claude</a:t>
            </a:r>
            <a:r>
              <a:rPr sz="1300" b="0" i="0">
                <a:solidFill>
                  <a:srgbClr val="1F2D2C"/>
                </a:solidFill>
                <a:latin typeface="Aptos"/>
              </a:rPr>
              <a:t> (AI thứ nhất) viết code: cô mô tả bằng tiếng Việt điều mình cần, Claude viết phần Apps Script và trang web, cô dùng thử và yêu cầu chỉnh sửa.</a:t>
            </a:r>
          </a:p>
        </p:txBody>
      </p:sp>
      <p:sp>
        <p:nvSpPr>
          <p:cNvPr id="39" name="Oval 38"/>
          <p:cNvSpPr/>
          <p:nvPr/>
        </p:nvSpPr>
        <p:spPr>
          <a:xfrm>
            <a:off x="6263640" y="4343400"/>
            <a:ext cx="347472" cy="347472"/>
          </a:xfrm>
          <a:prstGeom prst="ellipse">
            <a:avLst/>
          </a:prstGeom>
          <a:solidFill>
            <a:srgbClr val="F4A261"/>
          </a:solidFill>
          <a:ln>
            <a:noFill/>
          </a:ln>
          <a:effectLst/>
        </p:spPr>
        <p:txBody>
          <a:bodyPr rtlCol="0" anchor="ctr"/>
          <a:lstStyle/>
          <a:p>
            <a:pPr algn="ctr"/>
          </a:p>
        </p:txBody>
      </p:sp>
      <p:sp>
        <p:nvSpPr>
          <p:cNvPr id="40" name="TextBox 39"/>
          <p:cNvSpPr txBox="1"/>
          <p:nvPr/>
        </p:nvSpPr>
        <p:spPr>
          <a:xfrm>
            <a:off x="6263640" y="4343400"/>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41" name="TextBox 40"/>
          <p:cNvSpPr txBox="1"/>
          <p:nvPr/>
        </p:nvSpPr>
        <p:spPr>
          <a:xfrm>
            <a:off x="6766560" y="4315968"/>
            <a:ext cx="4846320" cy="1371600"/>
          </a:xfrm>
          <a:prstGeom prst="rect">
            <a:avLst/>
          </a:prstGeom>
          <a:noFill/>
        </p:spPr>
        <p:txBody>
          <a:bodyPr wrap="square" anchor="t" lIns="0" rIns="0" tIns="0" bIns="0">
            <a:spAutoFit/>
          </a:bodyPr>
          <a:lstStyle/>
          <a:p>
            <a:pPr algn="l"/>
            <a:r>
              <a:rPr sz="1500" b="1" i="0">
                <a:solidFill>
                  <a:srgbClr val="0F4C47"/>
                </a:solidFill>
                <a:latin typeface="Aptos"/>
              </a:rPr>
              <a:t>Gemini</a:t>
            </a:r>
            <a:r>
              <a:rPr sz="1300" b="0" i="0">
                <a:solidFill>
                  <a:srgbClr val="1F2D2C"/>
                </a:solidFill>
                <a:latin typeface="Aptos"/>
              </a:rPr>
              <a:t> (AI thứ hai) tạo hình ảnh: nhân vật cô Thảo 3D với nhiều trang phục, biểu cảm, giúp giao diện thân thiện, gần gũi với học sinh.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 · GIẢI PHÁP</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06</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AI làm trợ lý, cô chủ nhiệm là người quyết định</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Rounded Rectangle 8"/>
          <p:cNvSpPr/>
          <p:nvPr/>
        </p:nvSpPr>
        <p:spPr>
          <a:xfrm>
            <a:off x="4227576"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TextBox 13"/>
          <p:cNvSpPr txBox="1"/>
          <p:nvPr/>
        </p:nvSpPr>
        <p:spPr>
          <a:xfrm>
            <a:off x="420624" y="1234440"/>
            <a:ext cx="1371600" cy="731520"/>
          </a:xfrm>
          <a:prstGeom prst="rect">
            <a:avLst/>
          </a:prstGeom>
          <a:noFill/>
        </p:spPr>
        <p:txBody>
          <a:bodyPr wrap="square" anchor="t" lIns="0" rIns="0" tIns="0" bIns="0">
            <a:spAutoFit/>
          </a:bodyPr>
          <a:lstStyle/>
          <a:p>
            <a:pPr algn="l"/>
            <a:r>
              <a:rPr sz="4000" b="1" i="0">
                <a:solidFill>
                  <a:srgbClr val="2A9D8F"/>
                </a:solidFill>
                <a:latin typeface="Aptos"/>
              </a:rPr>
              <a:t>01</a:t>
            </a:r>
          </a:p>
        </p:txBody>
      </p:sp>
      <p:sp>
        <p:nvSpPr>
          <p:cNvPr id="15" name="TextBox 14"/>
          <p:cNvSpPr txBox="1"/>
          <p:nvPr/>
        </p:nvSpPr>
        <p:spPr>
          <a:xfrm>
            <a:off x="420624" y="2011680"/>
            <a:ext cx="3566160" cy="365760"/>
          </a:xfrm>
          <a:prstGeom prst="rect">
            <a:avLst/>
          </a:prstGeom>
          <a:noFill/>
        </p:spPr>
        <p:txBody>
          <a:bodyPr wrap="square" anchor="t" lIns="0" rIns="0" tIns="0" bIns="0">
            <a:spAutoFit/>
          </a:bodyPr>
          <a:lstStyle/>
          <a:p>
            <a:pPr algn="l"/>
            <a:r>
              <a:rPr sz="1900" b="1" i="0">
                <a:solidFill>
                  <a:srgbClr val="0F4C47"/>
                </a:solidFill>
                <a:latin typeface="Aptos"/>
              </a:rPr>
              <a:t>Cô chủ nhiệm</a:t>
            </a:r>
          </a:p>
        </p:txBody>
      </p:sp>
      <p:sp>
        <p:nvSpPr>
          <p:cNvPr id="16" name="TextBox 15"/>
          <p:cNvSpPr txBox="1"/>
          <p:nvPr/>
        </p:nvSpPr>
        <p:spPr>
          <a:xfrm>
            <a:off x="420624" y="2377440"/>
            <a:ext cx="3566160" cy="274320"/>
          </a:xfrm>
          <a:prstGeom prst="rect">
            <a:avLst/>
          </a:prstGeom>
          <a:noFill/>
        </p:spPr>
        <p:txBody>
          <a:bodyPr wrap="square" anchor="t" lIns="0" rIns="0" tIns="0" bIns="0">
            <a:spAutoFit/>
          </a:bodyPr>
          <a:lstStyle/>
          <a:p>
            <a:pPr algn="l"/>
            <a:r>
              <a:rPr sz="1300" b="0" i="1">
                <a:solidFill>
                  <a:srgbClr val="5F7472"/>
                </a:solidFill>
                <a:latin typeface="Aptos"/>
              </a:rPr>
              <a:t>Người đặt bài toán</a:t>
            </a:r>
          </a:p>
        </p:txBody>
      </p:sp>
      <p:sp>
        <p:nvSpPr>
          <p:cNvPr id="17" name="TextBox 16"/>
          <p:cNvSpPr txBox="1"/>
          <p:nvPr/>
        </p:nvSpPr>
        <p:spPr>
          <a:xfrm>
            <a:off x="420624" y="2743200"/>
            <a:ext cx="3520440" cy="1188720"/>
          </a:xfrm>
          <a:prstGeom prst="rect">
            <a:avLst/>
          </a:prstGeom>
          <a:noFill/>
        </p:spPr>
        <p:txBody>
          <a:bodyPr wrap="square" anchor="t" lIns="0" rIns="0" tIns="0" bIns="0">
            <a:spAutoFit/>
          </a:bodyPr>
          <a:lstStyle/>
          <a:p>
            <a:pPr algn="l"/>
            <a:r>
              <a:rPr sz="1350" b="0" i="0">
                <a:solidFill>
                  <a:srgbClr val="1F2D2C"/>
                </a:solidFill>
                <a:latin typeface="Aptos"/>
              </a:rPr>
              <a:t>Nêu nhu cầu thực tế của lớp, dùng thử từng bản, góp ý, quyết định tính năng nào được dùng.</a:t>
            </a:r>
          </a:p>
        </p:txBody>
      </p:sp>
      <p:sp>
        <p:nvSpPr>
          <p:cNvPr id="18" name="TextBox 17"/>
          <p:cNvSpPr txBox="1"/>
          <p:nvPr/>
        </p:nvSpPr>
        <p:spPr>
          <a:xfrm>
            <a:off x="4233672" y="1234440"/>
            <a:ext cx="1371600" cy="731520"/>
          </a:xfrm>
          <a:prstGeom prst="rect">
            <a:avLst/>
          </a:prstGeom>
          <a:noFill/>
        </p:spPr>
        <p:txBody>
          <a:bodyPr wrap="square" anchor="t" lIns="0" rIns="0" tIns="0" bIns="0">
            <a:spAutoFit/>
          </a:bodyPr>
          <a:lstStyle/>
          <a:p>
            <a:pPr algn="l"/>
            <a:r>
              <a:rPr sz="4000" b="1" i="0">
                <a:solidFill>
                  <a:srgbClr val="2A9D8F"/>
                </a:solidFill>
                <a:latin typeface="Aptos"/>
              </a:rPr>
              <a:t>02</a:t>
            </a:r>
          </a:p>
        </p:txBody>
      </p:sp>
      <p:sp>
        <p:nvSpPr>
          <p:cNvPr id="19" name="TextBox 18"/>
          <p:cNvSpPr txBox="1"/>
          <p:nvPr/>
        </p:nvSpPr>
        <p:spPr>
          <a:xfrm>
            <a:off x="4233672" y="2011680"/>
            <a:ext cx="3566160" cy="365760"/>
          </a:xfrm>
          <a:prstGeom prst="rect">
            <a:avLst/>
          </a:prstGeom>
          <a:noFill/>
        </p:spPr>
        <p:txBody>
          <a:bodyPr wrap="square" anchor="t" lIns="0" rIns="0" tIns="0" bIns="0">
            <a:spAutoFit/>
          </a:bodyPr>
          <a:lstStyle/>
          <a:p>
            <a:pPr algn="l"/>
            <a:r>
              <a:rPr sz="1900" b="1" i="0">
                <a:solidFill>
                  <a:srgbClr val="0F4C47"/>
                </a:solidFill>
                <a:latin typeface="Aptos"/>
              </a:rPr>
              <a:t>Claude</a:t>
            </a:r>
          </a:p>
        </p:txBody>
      </p:sp>
      <p:sp>
        <p:nvSpPr>
          <p:cNvPr id="20" name="TextBox 19"/>
          <p:cNvSpPr txBox="1"/>
          <p:nvPr/>
        </p:nvSpPr>
        <p:spPr>
          <a:xfrm>
            <a:off x="4233672" y="2377440"/>
            <a:ext cx="3566160" cy="274320"/>
          </a:xfrm>
          <a:prstGeom prst="rect">
            <a:avLst/>
          </a:prstGeom>
          <a:noFill/>
        </p:spPr>
        <p:txBody>
          <a:bodyPr wrap="square" anchor="t" lIns="0" rIns="0" tIns="0" bIns="0">
            <a:spAutoFit/>
          </a:bodyPr>
          <a:lstStyle/>
          <a:p>
            <a:pPr algn="l"/>
            <a:r>
              <a:rPr sz="1300" b="0" i="1">
                <a:solidFill>
                  <a:srgbClr val="5F7472"/>
                </a:solidFill>
                <a:latin typeface="Aptos"/>
              </a:rPr>
              <a:t>Trợ lý viết code</a:t>
            </a:r>
          </a:p>
        </p:txBody>
      </p:sp>
      <p:sp>
        <p:nvSpPr>
          <p:cNvPr id="21" name="TextBox 20"/>
          <p:cNvSpPr txBox="1"/>
          <p:nvPr/>
        </p:nvSpPr>
        <p:spPr>
          <a:xfrm>
            <a:off x="4233672" y="2743200"/>
            <a:ext cx="3520440" cy="1188720"/>
          </a:xfrm>
          <a:prstGeom prst="rect">
            <a:avLst/>
          </a:prstGeom>
          <a:noFill/>
        </p:spPr>
        <p:txBody>
          <a:bodyPr wrap="square" anchor="t" lIns="0" rIns="0" tIns="0" bIns="0">
            <a:spAutoFit/>
          </a:bodyPr>
          <a:lstStyle/>
          <a:p>
            <a:pPr algn="l"/>
            <a:r>
              <a:rPr sz="1350" b="0" i="0">
                <a:solidFill>
                  <a:srgbClr val="1F2D2C"/>
                </a:solidFill>
                <a:latin typeface="Aptos"/>
              </a:rPr>
              <a:t>Biến yêu cầu bằng tiếng Việt thành Apps Script và trang web; tự kiểm thử bằng dữ liệu mẫu trước khi cập nhật.</a:t>
            </a:r>
          </a:p>
        </p:txBody>
      </p:sp>
      <p:sp>
        <p:nvSpPr>
          <p:cNvPr id="22" name="TextBox 21"/>
          <p:cNvSpPr txBox="1"/>
          <p:nvPr/>
        </p:nvSpPr>
        <p:spPr>
          <a:xfrm>
            <a:off x="8046720" y="1234440"/>
            <a:ext cx="1371600" cy="731520"/>
          </a:xfrm>
          <a:prstGeom prst="rect">
            <a:avLst/>
          </a:prstGeom>
          <a:noFill/>
        </p:spPr>
        <p:txBody>
          <a:bodyPr wrap="square" anchor="t" lIns="0" rIns="0" tIns="0" bIns="0">
            <a:spAutoFit/>
          </a:bodyPr>
          <a:lstStyle/>
          <a:p>
            <a:pPr algn="l"/>
            <a:r>
              <a:rPr sz="4000" b="1" i="0">
                <a:solidFill>
                  <a:srgbClr val="2A9D8F"/>
                </a:solidFill>
                <a:latin typeface="Aptos"/>
              </a:rPr>
              <a:t>03</a:t>
            </a:r>
          </a:p>
        </p:txBody>
      </p:sp>
      <p:sp>
        <p:nvSpPr>
          <p:cNvPr id="23" name="TextBox 22"/>
          <p:cNvSpPr txBox="1"/>
          <p:nvPr/>
        </p:nvSpPr>
        <p:spPr>
          <a:xfrm>
            <a:off x="8046720" y="2011680"/>
            <a:ext cx="3566160" cy="365760"/>
          </a:xfrm>
          <a:prstGeom prst="rect">
            <a:avLst/>
          </a:prstGeom>
          <a:noFill/>
        </p:spPr>
        <p:txBody>
          <a:bodyPr wrap="square" anchor="t" lIns="0" rIns="0" tIns="0" bIns="0">
            <a:spAutoFit/>
          </a:bodyPr>
          <a:lstStyle/>
          <a:p>
            <a:pPr algn="l"/>
            <a:r>
              <a:rPr sz="1900" b="1" i="0">
                <a:solidFill>
                  <a:srgbClr val="0F4C47"/>
                </a:solidFill>
                <a:latin typeface="Aptos"/>
              </a:rPr>
              <a:t>Gemini</a:t>
            </a:r>
          </a:p>
        </p:txBody>
      </p:sp>
      <p:sp>
        <p:nvSpPr>
          <p:cNvPr id="24" name="TextBox 23"/>
          <p:cNvSpPr txBox="1"/>
          <p:nvPr/>
        </p:nvSpPr>
        <p:spPr>
          <a:xfrm>
            <a:off x="8046720" y="2377440"/>
            <a:ext cx="3566160" cy="274320"/>
          </a:xfrm>
          <a:prstGeom prst="rect">
            <a:avLst/>
          </a:prstGeom>
          <a:noFill/>
        </p:spPr>
        <p:txBody>
          <a:bodyPr wrap="square" anchor="t" lIns="0" rIns="0" tIns="0" bIns="0">
            <a:spAutoFit/>
          </a:bodyPr>
          <a:lstStyle/>
          <a:p>
            <a:pPr algn="l"/>
            <a:r>
              <a:rPr sz="1300" b="0" i="1">
                <a:solidFill>
                  <a:srgbClr val="5F7472"/>
                </a:solidFill>
                <a:latin typeface="Aptos"/>
              </a:rPr>
              <a:t>Trợ lý tạo hình</a:t>
            </a:r>
          </a:p>
        </p:txBody>
      </p:sp>
      <p:sp>
        <p:nvSpPr>
          <p:cNvPr id="25" name="TextBox 24"/>
          <p:cNvSpPr txBox="1"/>
          <p:nvPr/>
        </p:nvSpPr>
        <p:spPr>
          <a:xfrm>
            <a:off x="8046720" y="2743200"/>
            <a:ext cx="3520440" cy="1188720"/>
          </a:xfrm>
          <a:prstGeom prst="rect">
            <a:avLst/>
          </a:prstGeom>
          <a:noFill/>
        </p:spPr>
        <p:txBody>
          <a:bodyPr wrap="square" anchor="t" lIns="0" rIns="0" tIns="0" bIns="0">
            <a:spAutoFit/>
          </a:bodyPr>
          <a:lstStyle/>
          <a:p>
            <a:pPr algn="l"/>
            <a:r>
              <a:rPr sz="1350" b="0" i="0">
                <a:solidFill>
                  <a:srgbClr val="1F2D2C"/>
                </a:solidFill>
                <a:latin typeface="Aptos"/>
              </a:rPr>
              <a:t>Tạo bộ nhân vật cô Thảo 3D: nhiều trang phục, nhiều biểu cảm cho từng tình huống trong app.</a:t>
            </a:r>
          </a:p>
        </p:txBody>
      </p:sp>
      <p:sp>
        <p:nvSpPr>
          <p:cNvPr id="26" name="Rounded Rectangle 25"/>
          <p:cNvSpPr/>
          <p:nvPr/>
        </p:nvSpPr>
        <p:spPr>
          <a:xfrm>
            <a:off x="420624" y="4160520"/>
            <a:ext cx="11347704" cy="1783080"/>
          </a:xfrm>
          <a:prstGeom prst="roundRect">
            <a:avLst>
              <a:gd name="adj" fmla="val 6000"/>
            </a:avLst>
          </a:prstGeom>
          <a:solidFill>
            <a:srgbClr val="F4F7F7"/>
          </a:solidFill>
          <a:ln>
            <a:noFill/>
          </a:ln>
          <a:effectLst/>
        </p:spPr>
        <p:txBody>
          <a:bodyPr rtlCol="0" anchor="ctr"/>
          <a:lstStyle/>
          <a:p>
            <a:pPr algn="ctr"/>
          </a:p>
        </p:txBody>
      </p:sp>
      <p:sp>
        <p:nvSpPr>
          <p:cNvPr id="27" name="Oval 26"/>
          <p:cNvSpPr/>
          <p:nvPr/>
        </p:nvSpPr>
        <p:spPr>
          <a:xfrm>
            <a:off x="685800" y="4389120"/>
            <a:ext cx="640080" cy="640080"/>
          </a:xfrm>
          <a:prstGeom prst="ellipse">
            <a:avLst/>
          </a:prstGeom>
          <a:solidFill>
            <a:srgbClr val="E0F2F1"/>
          </a:solidFill>
          <a:ln>
            <a:noFill/>
          </a:ln>
          <a:effectLst/>
        </p:spPr>
        <p:txBody>
          <a:bodyPr rtlCol="0" anchor="ctr"/>
          <a:lstStyle/>
          <a:p>
            <a:pPr algn="ctr"/>
          </a:p>
        </p:txBody>
      </p:sp>
      <p:pic>
        <p:nvPicPr>
          <p:cNvPr id="28" name="Picture 27" descr="shield_0F766E.png"/>
          <p:cNvPicPr>
            <a:picLocks noChangeAspect="1"/>
          </p:cNvPicPr>
          <p:nvPr/>
        </p:nvPicPr>
        <p:blipFill>
          <a:blip r:embed="rId2"/>
          <a:stretch>
            <a:fillRect/>
          </a:stretch>
        </p:blipFill>
        <p:spPr>
          <a:xfrm>
            <a:off x="826617" y="4529937"/>
            <a:ext cx="358444" cy="358444"/>
          </a:xfrm>
          <a:prstGeom prst="rect">
            <a:avLst/>
          </a:prstGeom>
        </p:spPr>
      </p:pic>
      <p:sp>
        <p:nvSpPr>
          <p:cNvPr id="29" name="TextBox 28"/>
          <p:cNvSpPr txBox="1"/>
          <p:nvPr/>
        </p:nvSpPr>
        <p:spPr>
          <a:xfrm>
            <a:off x="1508760" y="4343400"/>
            <a:ext cx="9966960" cy="329184"/>
          </a:xfrm>
          <a:prstGeom prst="rect">
            <a:avLst/>
          </a:prstGeom>
          <a:noFill/>
        </p:spPr>
        <p:txBody>
          <a:bodyPr wrap="square" anchor="t" lIns="0" rIns="0" tIns="0" bIns="0">
            <a:spAutoFit/>
          </a:bodyPr>
          <a:lstStyle/>
          <a:p>
            <a:pPr algn="l"/>
            <a:r>
              <a:rPr sz="1600" b="1" i="0">
                <a:solidFill>
                  <a:srgbClr val="0F4C47"/>
                </a:solidFill>
                <a:latin typeface="Aptos"/>
              </a:rPr>
              <a:t>AI có trách nhiệm</a:t>
            </a:r>
          </a:p>
        </p:txBody>
      </p:sp>
      <p:sp>
        <p:nvSpPr>
          <p:cNvPr id="30" name="TextBox 29"/>
          <p:cNvSpPr txBox="1"/>
          <p:nvPr/>
        </p:nvSpPr>
        <p:spPr>
          <a:xfrm>
            <a:off x="1508760" y="4709160"/>
            <a:ext cx="9966960" cy="1188720"/>
          </a:xfrm>
          <a:prstGeom prst="rect">
            <a:avLst/>
          </a:prstGeom>
          <a:noFill/>
        </p:spPr>
        <p:txBody>
          <a:bodyPr wrap="square" anchor="t" lIns="0" rIns="0" tIns="0" bIns="0">
            <a:spAutoFit/>
          </a:bodyPr>
          <a:lstStyle/>
          <a:p>
            <a:pPr algn="l"/>
            <a:r>
              <a:rPr sz="1350" b="0" i="0">
                <a:solidFill>
                  <a:srgbClr val="1F2D2C"/>
                </a:solidFill>
                <a:latin typeface="Aptos"/>
              </a:rPr>
              <a:t>Không đưa tên, điểm học sinh thật cho AI · ảnh minh hoạ và bản trải nghiệm chỉ dùng dữ liệu mẫu · dữ liệu thật nằm trong Google Sheet của nhà trường · mọi nhận xét, xếp loại do cô chủ nhiệm quyết định.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 · GIẢI PHÁP</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07</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Bốn vai trò, mỗi người thấy và làm đúng phần việc của mình</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Rounded Rectangle 8"/>
          <p:cNvSpPr/>
          <p:nvPr/>
        </p:nvSpPr>
        <p:spPr>
          <a:xfrm>
            <a:off x="4227576"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graphicFrame>
        <p:nvGraphicFramePr>
          <p:cNvPr id="14" name="Table 13"/>
          <p:cNvGraphicFramePr>
            <a:graphicFrameLocks noGrp="1"/>
          </p:cNvGraphicFramePr>
          <p:nvPr/>
        </p:nvGraphicFramePr>
        <p:xfrm>
          <a:off x="420624" y="1325880"/>
          <a:ext cx="11347704" cy="2834640"/>
        </p:xfrm>
        <a:graphic>
          <a:graphicData uri="http://schemas.openxmlformats.org/drawingml/2006/table">
            <a:tbl>
              <a:tblPr firstRow="0" bandRow="0">
                <a:tableStyleId>{2D5ABB26-0587-4C30-8999-92F81FD0307C}</a:tableStyleId>
              </a:tblPr>
              <a:tblGrid>
                <a:gridCol w="2011680"/>
                <a:gridCol w="1645920"/>
                <a:gridCol w="2377440"/>
                <a:gridCol w="2651760"/>
                <a:gridCol w="2660904"/>
              </a:tblGrid>
              <a:tr h="566928">
                <a:tc>
                  <a:txBody>
                    <a:bodyPr/>
                    <a:lstStyle/>
                    <a:p>
                      <a:pPr algn="l"/>
                      <a:r>
                        <a:rPr sz="1300" b="1">
                          <a:solidFill>
                            <a:srgbClr val="0F4C47"/>
                          </a:solidFill>
                          <a:latin typeface="Aptos"/>
                        </a:rPr>
                        <a:t>Vai trò</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Ghi điểm</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Nhận xét, xếp loại</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Báo cáo, thống kê</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Nhận thông tin</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r>
              <a:tr h="566928">
                <a:tc>
                  <a:txBody>
                    <a:bodyPr/>
                    <a:lstStyle/>
                    <a:p>
                      <a:pPr algn="l"/>
                      <a:r>
                        <a:rPr sz="1350" b="1">
                          <a:solidFill>
                            <a:srgbClr val="0F4C47"/>
                          </a:solidFill>
                          <a:latin typeface="Aptos"/>
                        </a:rPr>
                        <a:t>Cô chủ nhiệm</a:t>
                      </a:r>
                    </a:p>
                  </a:txBody>
                  <a:tcPr marL="73152" marR="73152" marT="18288" marB="18288" anchor="ctr">
                    <a:lnL w="0">
                      <a:noFill/>
                    </a:lnL>
                    <a:lnR w="0">
                      <a:noFill/>
                    </a:lnR>
                    <a:lnT w="0">
                      <a:noFill/>
                    </a:lnT>
                    <a:lnB w="12700">
                      <a:solidFill>
                        <a:srgbClr val="D5E3E2"/>
                      </a:solidFill>
                    </a:lnB>
                    <a:solidFill>
                      <a:srgbClr val="FFF1E0"/>
                    </a:solidFill>
                  </a:tcPr>
                </a:tc>
                <a:tc>
                  <a:txBody>
                    <a:bodyPr/>
                    <a:lstStyle/>
                    <a:p>
                      <a:pPr algn="l"/>
                      <a:r>
                        <a:rPr sz="1350" b="1">
                          <a:solidFill>
                            <a:srgbClr val="0F4C47"/>
                          </a:solidFill>
                          <a:latin typeface="Aptos"/>
                        </a:rPr>
                        <a:t>Cả lớp</a:t>
                      </a:r>
                    </a:p>
                  </a:txBody>
                  <a:tcPr marL="73152" marR="73152" marT="18288" marB="18288" anchor="ctr">
                    <a:lnL w="0">
                      <a:noFill/>
                    </a:lnL>
                    <a:lnR w="0">
                      <a:noFill/>
                    </a:lnR>
                    <a:lnT w="0">
                      <a:noFill/>
                    </a:lnT>
                    <a:lnB w="12700">
                      <a:solidFill>
                        <a:srgbClr val="D5E3E2"/>
                      </a:solidFill>
                    </a:lnB>
                    <a:solidFill>
                      <a:srgbClr val="FFF1E0"/>
                    </a:solidFill>
                  </a:tcPr>
                </a:tc>
                <a:tc>
                  <a:txBody>
                    <a:bodyPr/>
                    <a:lstStyle/>
                    <a:p>
                      <a:pPr algn="l"/>
                      <a:r>
                        <a:rPr sz="1350" b="1">
                          <a:solidFill>
                            <a:srgbClr val="0F4C47"/>
                          </a:solidFill>
                          <a:latin typeface="Aptos"/>
                        </a:rPr>
                        <a:t>Nhận xét, chốt tháng</a:t>
                      </a:r>
                    </a:p>
                  </a:txBody>
                  <a:tcPr marL="73152" marR="73152" marT="18288" marB="18288" anchor="ctr">
                    <a:lnL w="0">
                      <a:noFill/>
                    </a:lnL>
                    <a:lnR w="0">
                      <a:noFill/>
                    </a:lnR>
                    <a:lnT w="0">
                      <a:noFill/>
                    </a:lnT>
                    <a:lnB w="12700">
                      <a:solidFill>
                        <a:srgbClr val="D5E3E2"/>
                      </a:solidFill>
                    </a:lnB>
                    <a:solidFill>
                      <a:srgbClr val="FFF1E0"/>
                    </a:solidFill>
                  </a:tcPr>
                </a:tc>
                <a:tc>
                  <a:txBody>
                    <a:bodyPr/>
                    <a:lstStyle/>
                    <a:p>
                      <a:pPr algn="l"/>
                      <a:r>
                        <a:rPr sz="1350" b="1">
                          <a:solidFill>
                            <a:srgbClr val="0F4C47"/>
                          </a:solidFill>
                          <a:latin typeface="Aptos"/>
                        </a:rPr>
                        <a:t>Lớp, tổ, từng học sinh</a:t>
                      </a:r>
                    </a:p>
                  </a:txBody>
                  <a:tcPr marL="73152" marR="73152" marT="18288" marB="18288" anchor="ctr">
                    <a:lnL w="0">
                      <a:noFill/>
                    </a:lnL>
                    <a:lnR w="0">
                      <a:noFill/>
                    </a:lnR>
                    <a:lnT w="0">
                      <a:noFill/>
                    </a:lnT>
                    <a:lnB w="12700">
                      <a:solidFill>
                        <a:srgbClr val="D5E3E2"/>
                      </a:solidFill>
                    </a:lnB>
                    <a:solidFill>
                      <a:srgbClr val="FFF1E0"/>
                    </a:solidFill>
                  </a:tcPr>
                </a:tc>
                <a:tc>
                  <a:txBody>
                    <a:bodyPr/>
                    <a:lstStyle/>
                    <a:p>
                      <a:pPr algn="l"/>
                      <a:r>
                        <a:rPr sz="1350" b="1">
                          <a:solidFill>
                            <a:srgbClr val="0F4C47"/>
                          </a:solidFill>
                          <a:latin typeface="Aptos"/>
                        </a:rPr>
                        <a:t>Thông báo phụ huynh đăng ký</a:t>
                      </a:r>
                    </a:p>
                  </a:txBody>
                  <a:tcPr marL="73152" marR="73152" marT="18288" marB="18288" anchor="ctr">
                    <a:lnL w="0">
                      <a:noFill/>
                    </a:lnL>
                    <a:lnR w="0">
                      <a:noFill/>
                    </a:lnR>
                    <a:lnT w="0">
                      <a:noFill/>
                    </a:lnT>
                    <a:lnB w="12700">
                      <a:solidFill>
                        <a:srgbClr val="D5E3E2"/>
                      </a:solidFill>
                    </a:lnB>
                    <a:solidFill>
                      <a:srgbClr val="FFF1E0"/>
                    </a:solidFill>
                  </a:tcPr>
                </a:tc>
              </a:tr>
              <a:tr h="566928">
                <a:tc>
                  <a:txBody>
                    <a:bodyPr/>
                    <a:lstStyle/>
                    <a:p>
                      <a:pPr algn="l"/>
                      <a:r>
                        <a:rPr sz="1350" b="0">
                          <a:solidFill>
                            <a:srgbClr val="1F2D2C"/>
                          </a:solidFill>
                          <a:latin typeface="Aptos"/>
                        </a:rPr>
                        <a:t>Lớp trưởng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Cả lớp</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Không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Xem cả lớp</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Thấy điểm cập nhật trực tiếp</a:t>
                      </a:r>
                    </a:p>
                  </a:txBody>
                  <a:tcPr marL="73152" marR="73152" marT="18288" marB="18288" anchor="ctr">
                    <a:lnL w="0">
                      <a:noFill/>
                    </a:lnL>
                    <a:lnR w="0">
                      <a:noFill/>
                    </a:lnR>
                    <a:lnT w="0">
                      <a:noFill/>
                    </a:lnT>
                    <a:lnB w="12700">
                      <a:solidFill>
                        <a:srgbClr val="D5E3E2"/>
                      </a:solidFill>
                    </a:lnB>
                    <a:noFill/>
                  </a:tcPr>
                </a:tc>
              </a:tr>
              <a:tr h="566928">
                <a:tc>
                  <a:txBody>
                    <a:bodyPr/>
                    <a:lstStyle/>
                    <a:p>
                      <a:pPr algn="l"/>
                      <a:r>
                        <a:rPr sz="1350" b="0">
                          <a:solidFill>
                            <a:srgbClr val="1F2D2C"/>
                          </a:solidFill>
                          <a:latin typeface="Aptos"/>
                        </a:rPr>
                        <a:t>Tổ trưởng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Tổ mình</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Không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Xem cả lớp</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Thấy điểm cập nhật trực tiếp</a:t>
                      </a:r>
                    </a:p>
                  </a:txBody>
                  <a:tcPr marL="73152" marR="73152" marT="18288" marB="18288" anchor="ctr">
                    <a:lnL w="0">
                      <a:noFill/>
                    </a:lnL>
                    <a:lnR w="0">
                      <a:noFill/>
                    </a:lnR>
                    <a:lnT w="0">
                      <a:noFill/>
                    </a:lnT>
                    <a:lnB w="12700">
                      <a:solidFill>
                        <a:srgbClr val="D5E3E2"/>
                      </a:solidFill>
                    </a:lnB>
                    <a:noFill/>
                  </a:tcPr>
                </a:tc>
              </a:tr>
              <a:tr h="566928">
                <a:tc>
                  <a:txBody>
                    <a:bodyPr/>
                    <a:lstStyle/>
                    <a:p>
                      <a:pPr algn="l"/>
                      <a:r>
                        <a:rPr sz="1350" b="0">
                          <a:solidFill>
                            <a:srgbClr val="1F2D2C"/>
                          </a:solidFill>
                          <a:latin typeface="Aptos"/>
                        </a:rPr>
                        <a:t>Phụ huynh</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Không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Đọc nhận xét của cô</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Hồ sơ của con, tải PDF</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Email khi con được ghi điểm</a:t>
                      </a:r>
                    </a:p>
                  </a:txBody>
                  <a:tcPr marL="73152" marR="73152" marT="18288" marB="18288" anchor="ctr">
                    <a:lnL w="0">
                      <a:noFill/>
                    </a:lnL>
                    <a:lnR w="0">
                      <a:noFill/>
                    </a:lnR>
                    <a:lnT w="0">
                      <a:noFill/>
                    </a:lnT>
                    <a:lnB w="12700">
                      <a:solidFill>
                        <a:srgbClr val="D5E3E2"/>
                      </a:solidFill>
                    </a:lnB>
                    <a:noFill/>
                  </a:tcPr>
                </a:tc>
              </a:tr>
            </a:tbl>
          </a:graphicData>
        </a:graphic>
      </p:graphicFrame>
      <p:sp>
        <p:nvSpPr>
          <p:cNvPr id="15" name="Oval 14"/>
          <p:cNvSpPr/>
          <p:nvPr/>
        </p:nvSpPr>
        <p:spPr>
          <a:xfrm>
            <a:off x="420624" y="4572000"/>
            <a:ext cx="502920" cy="502920"/>
          </a:xfrm>
          <a:prstGeom prst="ellipse">
            <a:avLst/>
          </a:prstGeom>
          <a:solidFill>
            <a:srgbClr val="E0F2F1"/>
          </a:solidFill>
          <a:ln>
            <a:noFill/>
          </a:ln>
          <a:effectLst/>
        </p:spPr>
        <p:txBody>
          <a:bodyPr rtlCol="0" anchor="ctr"/>
          <a:lstStyle/>
          <a:p>
            <a:pPr algn="ctr"/>
          </a:p>
        </p:txBody>
      </p:sp>
      <p:pic>
        <p:nvPicPr>
          <p:cNvPr id="16" name="Picture 15" descr="shield_2A9D8F.png"/>
          <p:cNvPicPr>
            <a:picLocks noChangeAspect="1"/>
          </p:cNvPicPr>
          <p:nvPr/>
        </p:nvPicPr>
        <p:blipFill>
          <a:blip r:embed="rId2"/>
          <a:stretch>
            <a:fillRect/>
          </a:stretch>
        </p:blipFill>
        <p:spPr>
          <a:xfrm>
            <a:off x="531266" y="4682642"/>
            <a:ext cx="281635" cy="281635"/>
          </a:xfrm>
          <a:prstGeom prst="rect">
            <a:avLst/>
          </a:prstGeom>
        </p:spPr>
      </p:pic>
      <p:sp>
        <p:nvSpPr>
          <p:cNvPr id="17" name="TextBox 16"/>
          <p:cNvSpPr txBox="1"/>
          <p:nvPr/>
        </p:nvSpPr>
        <p:spPr>
          <a:xfrm>
            <a:off x="1060704" y="4553712"/>
            <a:ext cx="3063240" cy="731520"/>
          </a:xfrm>
          <a:prstGeom prst="rect">
            <a:avLst/>
          </a:prstGeom>
          <a:noFill/>
        </p:spPr>
        <p:txBody>
          <a:bodyPr wrap="square" anchor="ctr" lIns="0" rIns="0" tIns="0" bIns="0">
            <a:spAutoFit/>
          </a:bodyPr>
          <a:lstStyle/>
          <a:p>
            <a:pPr algn="l"/>
            <a:r>
              <a:rPr sz="1300" b="0" i="0">
                <a:solidFill>
                  <a:srgbClr val="1F2D2C"/>
                </a:solidFill>
                <a:latin typeface="Aptos"/>
              </a:rPr>
              <a:t>Đăng nhập bằng email + mã 6 số, quyền theo vai trò</a:t>
            </a:r>
          </a:p>
        </p:txBody>
      </p:sp>
      <p:sp>
        <p:nvSpPr>
          <p:cNvPr id="18" name="Oval 17"/>
          <p:cNvSpPr/>
          <p:nvPr/>
        </p:nvSpPr>
        <p:spPr>
          <a:xfrm>
            <a:off x="4233672" y="4572000"/>
            <a:ext cx="502920" cy="502920"/>
          </a:xfrm>
          <a:prstGeom prst="ellipse">
            <a:avLst/>
          </a:prstGeom>
          <a:solidFill>
            <a:srgbClr val="E0F2F1"/>
          </a:solidFill>
          <a:ln>
            <a:noFill/>
          </a:ln>
          <a:effectLst/>
        </p:spPr>
        <p:txBody>
          <a:bodyPr rtlCol="0" anchor="ctr"/>
          <a:lstStyle/>
          <a:p>
            <a:pPr algn="ctr"/>
          </a:p>
        </p:txBody>
      </p:sp>
      <p:pic>
        <p:nvPicPr>
          <p:cNvPr id="19" name="Picture 18" descr="users_2A9D8F.png"/>
          <p:cNvPicPr>
            <a:picLocks noChangeAspect="1"/>
          </p:cNvPicPr>
          <p:nvPr/>
        </p:nvPicPr>
        <p:blipFill>
          <a:blip r:embed="rId3"/>
          <a:stretch>
            <a:fillRect/>
          </a:stretch>
        </p:blipFill>
        <p:spPr>
          <a:xfrm>
            <a:off x="4344314" y="4682642"/>
            <a:ext cx="281635" cy="281635"/>
          </a:xfrm>
          <a:prstGeom prst="rect">
            <a:avLst/>
          </a:prstGeom>
        </p:spPr>
      </p:pic>
      <p:sp>
        <p:nvSpPr>
          <p:cNvPr id="20" name="TextBox 19"/>
          <p:cNvSpPr txBox="1"/>
          <p:nvPr/>
        </p:nvSpPr>
        <p:spPr>
          <a:xfrm>
            <a:off x="4873752" y="4553712"/>
            <a:ext cx="3063240" cy="731520"/>
          </a:xfrm>
          <a:prstGeom prst="rect">
            <a:avLst/>
          </a:prstGeom>
          <a:noFill/>
        </p:spPr>
        <p:txBody>
          <a:bodyPr wrap="square" anchor="ctr" lIns="0" rIns="0" tIns="0" bIns="0">
            <a:spAutoFit/>
          </a:bodyPr>
          <a:lstStyle/>
          <a:p>
            <a:pPr algn="l"/>
            <a:r>
              <a:rPr sz="1300" b="0" i="0">
                <a:solidFill>
                  <a:srgbClr val="1F2D2C"/>
                </a:solidFill>
                <a:latin typeface="Aptos"/>
              </a:rPr>
              <a:t>Cô chủ nhiệm cấp, khoá quyền cho cán bộ lớp</a:t>
            </a:r>
          </a:p>
        </p:txBody>
      </p:sp>
      <p:sp>
        <p:nvSpPr>
          <p:cNvPr id="21" name="Oval 20"/>
          <p:cNvSpPr/>
          <p:nvPr/>
        </p:nvSpPr>
        <p:spPr>
          <a:xfrm>
            <a:off x="8046720" y="4572000"/>
            <a:ext cx="502920" cy="502920"/>
          </a:xfrm>
          <a:prstGeom prst="ellipse">
            <a:avLst/>
          </a:prstGeom>
          <a:solidFill>
            <a:srgbClr val="E0F2F1"/>
          </a:solidFill>
          <a:ln>
            <a:noFill/>
          </a:ln>
          <a:effectLst/>
        </p:spPr>
        <p:txBody>
          <a:bodyPr rtlCol="0" anchor="ctr"/>
          <a:lstStyle/>
          <a:p>
            <a:pPr algn="ctr"/>
          </a:p>
        </p:txBody>
      </p:sp>
      <p:pic>
        <p:nvPicPr>
          <p:cNvPr id="22" name="Picture 21" descr="eye_2A9D8F.png"/>
          <p:cNvPicPr>
            <a:picLocks noChangeAspect="1"/>
          </p:cNvPicPr>
          <p:nvPr/>
        </p:nvPicPr>
        <p:blipFill>
          <a:blip r:embed="rId4"/>
          <a:stretch>
            <a:fillRect/>
          </a:stretch>
        </p:blipFill>
        <p:spPr>
          <a:xfrm>
            <a:off x="8157362" y="4682642"/>
            <a:ext cx="281635" cy="281635"/>
          </a:xfrm>
          <a:prstGeom prst="rect">
            <a:avLst/>
          </a:prstGeom>
        </p:spPr>
      </p:pic>
      <p:sp>
        <p:nvSpPr>
          <p:cNvPr id="23" name="TextBox 22"/>
          <p:cNvSpPr txBox="1"/>
          <p:nvPr/>
        </p:nvSpPr>
        <p:spPr>
          <a:xfrm>
            <a:off x="8686800" y="4553712"/>
            <a:ext cx="3063240" cy="731520"/>
          </a:xfrm>
          <a:prstGeom prst="rect">
            <a:avLst/>
          </a:prstGeom>
          <a:noFill/>
        </p:spPr>
        <p:txBody>
          <a:bodyPr wrap="square" anchor="ctr" lIns="0" rIns="0" tIns="0" bIns="0">
            <a:spAutoFit/>
          </a:bodyPr>
          <a:lstStyle/>
          <a:p>
            <a:pPr algn="l"/>
            <a:r>
              <a:rPr sz="1300" b="0" i="0">
                <a:solidFill>
                  <a:srgbClr val="1F2D2C"/>
                </a:solidFill>
                <a:latin typeface="Aptos"/>
              </a:rPr>
              <a:t>Phụ huynh chỉ xem, không sửa được dữ liệu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 · GIẢI PHÁP</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08</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Vòng thông tin khép kín: ghi, tổng hợp, nhận xét, báo tin</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Rounded Rectangle 8"/>
          <p:cNvSpPr/>
          <p:nvPr/>
        </p:nvSpPr>
        <p:spPr>
          <a:xfrm>
            <a:off x="4227576"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Pentagon 13"/>
          <p:cNvSpPr/>
          <p:nvPr/>
        </p:nvSpPr>
        <p:spPr>
          <a:xfrm>
            <a:off x="420624" y="1325880"/>
            <a:ext cx="2743200" cy="731520"/>
          </a:xfrm>
          <a:prstGeom prst="homePlate">
            <a:avLst>
              <a:gd name="adj" fmla="val 30000"/>
            </a:avLst>
          </a:prstGeom>
          <a:solidFill>
            <a:srgbClr val="0F766E"/>
          </a:solidFill>
          <a:ln>
            <a:noFill/>
          </a:ln>
          <a:effectLst/>
        </p:spPr>
        <p:txBody>
          <a:bodyPr rtlCol="0" anchor="ctr"/>
          <a:lstStyle/>
          <a:p>
            <a:pPr algn="ctr"/>
          </a:p>
        </p:txBody>
      </p:sp>
      <p:sp>
        <p:nvSpPr>
          <p:cNvPr id="15" name="TextBox 14"/>
          <p:cNvSpPr txBox="1"/>
          <p:nvPr/>
        </p:nvSpPr>
        <p:spPr>
          <a:xfrm>
            <a:off x="740664" y="1325880"/>
            <a:ext cx="2194560" cy="731520"/>
          </a:xfrm>
          <a:prstGeom prst="rect">
            <a:avLst/>
          </a:prstGeom>
          <a:noFill/>
        </p:spPr>
        <p:txBody>
          <a:bodyPr wrap="square" anchor="ctr" lIns="0" rIns="0" tIns="0" bIns="0">
            <a:spAutoFit/>
          </a:bodyPr>
          <a:lstStyle/>
          <a:p>
            <a:pPr algn="ctr"/>
            <a:r>
              <a:rPr sz="1700" b="1" i="0">
                <a:solidFill>
                  <a:srgbClr val="FFFFFF"/>
                </a:solidFill>
                <a:latin typeface="Aptos"/>
              </a:rPr>
              <a:t>Ghi nhận</a:t>
            </a:r>
          </a:p>
        </p:txBody>
      </p:sp>
      <p:sp>
        <p:nvSpPr>
          <p:cNvPr id="16" name="Rounded Rectangle 15"/>
          <p:cNvSpPr/>
          <p:nvPr/>
        </p:nvSpPr>
        <p:spPr>
          <a:xfrm>
            <a:off x="740664" y="2240280"/>
            <a:ext cx="1041169" cy="274320"/>
          </a:xfrm>
          <a:prstGeom prst="roundRect">
            <a:avLst>
              <a:gd name="adj" fmla="val 50000"/>
            </a:avLst>
          </a:prstGeom>
          <a:solidFill>
            <a:srgbClr val="E0F2F1"/>
          </a:solidFill>
          <a:ln>
            <a:noFill/>
          </a:ln>
          <a:effectLst/>
        </p:spPr>
        <p:txBody>
          <a:bodyPr rtlCol="0" anchor="ctr"/>
          <a:lstStyle/>
          <a:p>
            <a:pPr algn="ctr"/>
          </a:p>
        </p:txBody>
      </p:sp>
      <p:sp>
        <p:nvSpPr>
          <p:cNvPr id="17" name="TextBox 16"/>
          <p:cNvSpPr txBox="1"/>
          <p:nvPr/>
        </p:nvSpPr>
        <p:spPr>
          <a:xfrm>
            <a:off x="740664" y="2240280"/>
            <a:ext cx="1041169" cy="274320"/>
          </a:xfrm>
          <a:prstGeom prst="rect">
            <a:avLst/>
          </a:prstGeom>
          <a:noFill/>
        </p:spPr>
        <p:txBody>
          <a:bodyPr wrap="square" anchor="ctr" lIns="0" rIns="0" tIns="0" bIns="0">
            <a:spAutoFit/>
          </a:bodyPr>
          <a:lstStyle/>
          <a:p>
            <a:pPr algn="ctr"/>
            <a:r>
              <a:rPr sz="1150" b="1" i="0">
                <a:solidFill>
                  <a:srgbClr val="0F4C47"/>
                </a:solidFill>
                <a:latin typeface="Aptos"/>
              </a:rPr>
              <a:t>Cán bộ lớp</a:t>
            </a:r>
          </a:p>
        </p:txBody>
      </p:sp>
      <p:sp>
        <p:nvSpPr>
          <p:cNvPr id="18" name="Oval 17"/>
          <p:cNvSpPr/>
          <p:nvPr/>
        </p:nvSpPr>
        <p:spPr>
          <a:xfrm>
            <a:off x="740664" y="2788920"/>
            <a:ext cx="310896" cy="310896"/>
          </a:xfrm>
          <a:prstGeom prst="ellipse">
            <a:avLst/>
          </a:prstGeom>
          <a:solidFill>
            <a:srgbClr val="99D5CF"/>
          </a:solidFill>
          <a:ln>
            <a:noFill/>
          </a:ln>
          <a:effectLst/>
        </p:spPr>
        <p:txBody>
          <a:bodyPr rtlCol="0" anchor="ctr"/>
          <a:lstStyle/>
          <a:p>
            <a:pPr algn="ctr"/>
          </a:p>
        </p:txBody>
      </p:sp>
      <p:sp>
        <p:nvSpPr>
          <p:cNvPr id="19" name="TextBox 18"/>
          <p:cNvSpPr txBox="1"/>
          <p:nvPr/>
        </p:nvSpPr>
        <p:spPr>
          <a:xfrm>
            <a:off x="740664" y="2788920"/>
            <a:ext cx="310896" cy="310896"/>
          </a:xfrm>
          <a:prstGeom prst="rect">
            <a:avLst/>
          </a:prstGeom>
          <a:noFill/>
        </p:spPr>
        <p:txBody>
          <a:bodyPr wrap="square" anchor="ctr" lIns="0" rIns="0" tIns="0" bIns="0">
            <a:spAutoFit/>
          </a:bodyPr>
          <a:lstStyle/>
          <a:p>
            <a:pPr algn="ctr"/>
            <a:r>
              <a:rPr sz="1200" b="1" i="0">
                <a:solidFill>
                  <a:srgbClr val="0F4C47"/>
                </a:solidFill>
                <a:latin typeface="Aptos"/>
              </a:rPr>
              <a:t>1</a:t>
            </a:r>
          </a:p>
        </p:txBody>
      </p:sp>
      <p:sp>
        <p:nvSpPr>
          <p:cNvPr id="20" name="TextBox 19"/>
          <p:cNvSpPr txBox="1"/>
          <p:nvPr/>
        </p:nvSpPr>
        <p:spPr>
          <a:xfrm>
            <a:off x="1152144" y="2779776"/>
            <a:ext cx="2011680" cy="548640"/>
          </a:xfrm>
          <a:prstGeom prst="rect">
            <a:avLst/>
          </a:prstGeom>
          <a:noFill/>
        </p:spPr>
        <p:txBody>
          <a:bodyPr wrap="square" anchor="ctr" lIns="0" rIns="0" tIns="0" bIns="0">
            <a:spAutoFit/>
          </a:bodyPr>
          <a:lstStyle/>
          <a:p>
            <a:pPr algn="l"/>
            <a:r>
              <a:rPr sz="1300" b="0" i="0">
                <a:solidFill>
                  <a:srgbClr val="1F2D2C"/>
                </a:solidFill>
                <a:latin typeface="Aptos"/>
              </a:rPr>
              <a:t>Chạm tên học sinh</a:t>
            </a:r>
          </a:p>
        </p:txBody>
      </p:sp>
      <p:sp>
        <p:nvSpPr>
          <p:cNvPr id="21" name="Oval 20"/>
          <p:cNvSpPr/>
          <p:nvPr/>
        </p:nvSpPr>
        <p:spPr>
          <a:xfrm>
            <a:off x="740664" y="3447287"/>
            <a:ext cx="310896" cy="310896"/>
          </a:xfrm>
          <a:prstGeom prst="ellipse">
            <a:avLst/>
          </a:prstGeom>
          <a:solidFill>
            <a:srgbClr val="99D5CF"/>
          </a:solidFill>
          <a:ln>
            <a:noFill/>
          </a:ln>
          <a:effectLst/>
        </p:spPr>
        <p:txBody>
          <a:bodyPr rtlCol="0" anchor="ctr"/>
          <a:lstStyle/>
          <a:p>
            <a:pPr algn="ctr"/>
          </a:p>
        </p:txBody>
      </p:sp>
      <p:sp>
        <p:nvSpPr>
          <p:cNvPr id="22" name="TextBox 21"/>
          <p:cNvSpPr txBox="1"/>
          <p:nvPr/>
        </p:nvSpPr>
        <p:spPr>
          <a:xfrm>
            <a:off x="740664" y="3447287"/>
            <a:ext cx="310896" cy="310896"/>
          </a:xfrm>
          <a:prstGeom prst="rect">
            <a:avLst/>
          </a:prstGeom>
          <a:noFill/>
        </p:spPr>
        <p:txBody>
          <a:bodyPr wrap="square" anchor="ctr" lIns="0" rIns="0" tIns="0" bIns="0">
            <a:spAutoFit/>
          </a:bodyPr>
          <a:lstStyle/>
          <a:p>
            <a:pPr algn="ctr"/>
            <a:r>
              <a:rPr sz="1200" b="1" i="0">
                <a:solidFill>
                  <a:srgbClr val="0F4C47"/>
                </a:solidFill>
                <a:latin typeface="Aptos"/>
              </a:rPr>
              <a:t>2</a:t>
            </a:r>
          </a:p>
        </p:txBody>
      </p:sp>
      <p:sp>
        <p:nvSpPr>
          <p:cNvPr id="23" name="TextBox 22"/>
          <p:cNvSpPr txBox="1"/>
          <p:nvPr/>
        </p:nvSpPr>
        <p:spPr>
          <a:xfrm>
            <a:off x="1152144" y="3438144"/>
            <a:ext cx="2011680" cy="548640"/>
          </a:xfrm>
          <a:prstGeom prst="rect">
            <a:avLst/>
          </a:prstGeom>
          <a:noFill/>
        </p:spPr>
        <p:txBody>
          <a:bodyPr wrap="square" anchor="ctr" lIns="0" rIns="0" tIns="0" bIns="0">
            <a:spAutoFit/>
          </a:bodyPr>
          <a:lstStyle/>
          <a:p>
            <a:pPr algn="l"/>
            <a:r>
              <a:rPr sz="1300" b="0" i="0">
                <a:solidFill>
                  <a:srgbClr val="1F2D2C"/>
                </a:solidFill>
                <a:latin typeface="Aptos"/>
              </a:rPr>
              <a:t>Chọn lỗi hoặc điểm cộng</a:t>
            </a:r>
          </a:p>
        </p:txBody>
      </p:sp>
      <p:sp>
        <p:nvSpPr>
          <p:cNvPr id="24" name="Oval 23"/>
          <p:cNvSpPr/>
          <p:nvPr/>
        </p:nvSpPr>
        <p:spPr>
          <a:xfrm>
            <a:off x="740664" y="4105656"/>
            <a:ext cx="310896" cy="310896"/>
          </a:xfrm>
          <a:prstGeom prst="ellipse">
            <a:avLst/>
          </a:prstGeom>
          <a:solidFill>
            <a:srgbClr val="99D5CF"/>
          </a:solidFill>
          <a:ln>
            <a:noFill/>
          </a:ln>
          <a:effectLst/>
        </p:spPr>
        <p:txBody>
          <a:bodyPr rtlCol="0" anchor="ctr"/>
          <a:lstStyle/>
          <a:p>
            <a:pPr algn="ctr"/>
          </a:p>
        </p:txBody>
      </p:sp>
      <p:sp>
        <p:nvSpPr>
          <p:cNvPr id="25" name="TextBox 24"/>
          <p:cNvSpPr txBox="1"/>
          <p:nvPr/>
        </p:nvSpPr>
        <p:spPr>
          <a:xfrm>
            <a:off x="740664" y="4105656"/>
            <a:ext cx="310896" cy="310896"/>
          </a:xfrm>
          <a:prstGeom prst="rect">
            <a:avLst/>
          </a:prstGeom>
          <a:noFill/>
        </p:spPr>
        <p:txBody>
          <a:bodyPr wrap="square" anchor="ctr" lIns="0" rIns="0" tIns="0" bIns="0">
            <a:spAutoFit/>
          </a:bodyPr>
          <a:lstStyle/>
          <a:p>
            <a:pPr algn="ctr"/>
            <a:r>
              <a:rPr sz="1200" b="1" i="0">
                <a:solidFill>
                  <a:srgbClr val="0F4C47"/>
                </a:solidFill>
                <a:latin typeface="Aptos"/>
              </a:rPr>
              <a:t>3</a:t>
            </a:r>
          </a:p>
        </p:txBody>
      </p:sp>
      <p:sp>
        <p:nvSpPr>
          <p:cNvPr id="26" name="TextBox 25"/>
          <p:cNvSpPr txBox="1"/>
          <p:nvPr/>
        </p:nvSpPr>
        <p:spPr>
          <a:xfrm>
            <a:off x="1152144" y="4096512"/>
            <a:ext cx="2011680" cy="548640"/>
          </a:xfrm>
          <a:prstGeom prst="rect">
            <a:avLst/>
          </a:prstGeom>
          <a:noFill/>
        </p:spPr>
        <p:txBody>
          <a:bodyPr wrap="square" anchor="ctr" lIns="0" rIns="0" tIns="0" bIns="0">
            <a:spAutoFit/>
          </a:bodyPr>
          <a:lstStyle/>
          <a:p>
            <a:pPr algn="l"/>
            <a:r>
              <a:rPr sz="1300" b="0" i="0">
                <a:solidFill>
                  <a:srgbClr val="1F2D2C"/>
                </a:solidFill>
                <a:latin typeface="Aptos"/>
              </a:rPr>
              <a:t>Chụp ảnh bằng chứng nếu cần</a:t>
            </a:r>
          </a:p>
        </p:txBody>
      </p:sp>
      <p:sp>
        <p:nvSpPr>
          <p:cNvPr id="27" name="Chevron 26"/>
          <p:cNvSpPr/>
          <p:nvPr/>
        </p:nvSpPr>
        <p:spPr>
          <a:xfrm>
            <a:off x="3273552" y="1325880"/>
            <a:ext cx="2743200" cy="731520"/>
          </a:xfrm>
          <a:prstGeom prst="chevron">
            <a:avLst>
              <a:gd name="adj" fmla="val 30000"/>
            </a:avLst>
          </a:prstGeom>
          <a:solidFill>
            <a:srgbClr val="2A9D8F"/>
          </a:solidFill>
          <a:ln>
            <a:noFill/>
          </a:ln>
          <a:effectLst/>
        </p:spPr>
        <p:txBody>
          <a:bodyPr rtlCol="0" anchor="ctr"/>
          <a:lstStyle/>
          <a:p>
            <a:pPr algn="ctr"/>
          </a:p>
        </p:txBody>
      </p:sp>
      <p:sp>
        <p:nvSpPr>
          <p:cNvPr id="28" name="TextBox 27"/>
          <p:cNvSpPr txBox="1"/>
          <p:nvPr/>
        </p:nvSpPr>
        <p:spPr>
          <a:xfrm>
            <a:off x="3593592" y="1325880"/>
            <a:ext cx="2194560" cy="731520"/>
          </a:xfrm>
          <a:prstGeom prst="rect">
            <a:avLst/>
          </a:prstGeom>
          <a:noFill/>
        </p:spPr>
        <p:txBody>
          <a:bodyPr wrap="square" anchor="ctr" lIns="0" rIns="0" tIns="0" bIns="0">
            <a:spAutoFit/>
          </a:bodyPr>
          <a:lstStyle/>
          <a:p>
            <a:pPr algn="ctr"/>
            <a:r>
              <a:rPr sz="1700" b="1" i="0">
                <a:solidFill>
                  <a:srgbClr val="FFFFFF"/>
                </a:solidFill>
                <a:latin typeface="Aptos"/>
              </a:rPr>
              <a:t>Tổng hợp</a:t>
            </a:r>
          </a:p>
        </p:txBody>
      </p:sp>
      <p:sp>
        <p:nvSpPr>
          <p:cNvPr id="29" name="Rounded Rectangle 28"/>
          <p:cNvSpPr/>
          <p:nvPr/>
        </p:nvSpPr>
        <p:spPr>
          <a:xfrm>
            <a:off x="3593592" y="2240280"/>
            <a:ext cx="797398" cy="274320"/>
          </a:xfrm>
          <a:prstGeom prst="roundRect">
            <a:avLst>
              <a:gd name="adj" fmla="val 50000"/>
            </a:avLst>
          </a:prstGeom>
          <a:solidFill>
            <a:srgbClr val="E0F2F1"/>
          </a:solidFill>
          <a:ln>
            <a:noFill/>
          </a:ln>
          <a:effectLst/>
        </p:spPr>
        <p:txBody>
          <a:bodyPr rtlCol="0" anchor="ctr"/>
          <a:lstStyle/>
          <a:p>
            <a:pPr algn="ctr"/>
          </a:p>
        </p:txBody>
      </p:sp>
      <p:sp>
        <p:nvSpPr>
          <p:cNvPr id="30" name="TextBox 29"/>
          <p:cNvSpPr txBox="1"/>
          <p:nvPr/>
        </p:nvSpPr>
        <p:spPr>
          <a:xfrm>
            <a:off x="3593592" y="2240280"/>
            <a:ext cx="797398" cy="274320"/>
          </a:xfrm>
          <a:prstGeom prst="rect">
            <a:avLst/>
          </a:prstGeom>
          <a:noFill/>
        </p:spPr>
        <p:txBody>
          <a:bodyPr wrap="square" anchor="ctr" lIns="0" rIns="0" tIns="0" bIns="0">
            <a:spAutoFit/>
          </a:bodyPr>
          <a:lstStyle/>
          <a:p>
            <a:pPr algn="ctr"/>
            <a:r>
              <a:rPr sz="1150" b="1" i="0">
                <a:solidFill>
                  <a:srgbClr val="0F4C47"/>
                </a:solidFill>
                <a:latin typeface="Aptos"/>
              </a:rPr>
              <a:t>Tự động</a:t>
            </a:r>
          </a:p>
        </p:txBody>
      </p:sp>
      <p:sp>
        <p:nvSpPr>
          <p:cNvPr id="31" name="Oval 30"/>
          <p:cNvSpPr/>
          <p:nvPr/>
        </p:nvSpPr>
        <p:spPr>
          <a:xfrm>
            <a:off x="3593592" y="2788920"/>
            <a:ext cx="310896" cy="310896"/>
          </a:xfrm>
          <a:prstGeom prst="ellipse">
            <a:avLst/>
          </a:prstGeom>
          <a:solidFill>
            <a:srgbClr val="99D5CF"/>
          </a:solidFill>
          <a:ln>
            <a:noFill/>
          </a:ln>
          <a:effectLst/>
        </p:spPr>
        <p:txBody>
          <a:bodyPr rtlCol="0" anchor="ctr"/>
          <a:lstStyle/>
          <a:p>
            <a:pPr algn="ctr"/>
          </a:p>
        </p:txBody>
      </p:sp>
      <p:sp>
        <p:nvSpPr>
          <p:cNvPr id="32" name="TextBox 31"/>
          <p:cNvSpPr txBox="1"/>
          <p:nvPr/>
        </p:nvSpPr>
        <p:spPr>
          <a:xfrm>
            <a:off x="3593592" y="2788920"/>
            <a:ext cx="310896" cy="310896"/>
          </a:xfrm>
          <a:prstGeom prst="rect">
            <a:avLst/>
          </a:prstGeom>
          <a:noFill/>
        </p:spPr>
        <p:txBody>
          <a:bodyPr wrap="square" anchor="ctr" lIns="0" rIns="0" tIns="0" bIns="0">
            <a:spAutoFit/>
          </a:bodyPr>
          <a:lstStyle/>
          <a:p>
            <a:pPr algn="ctr"/>
            <a:r>
              <a:rPr sz="1200" b="1" i="0">
                <a:solidFill>
                  <a:srgbClr val="0F4C47"/>
                </a:solidFill>
                <a:latin typeface="Aptos"/>
              </a:rPr>
              <a:t>1</a:t>
            </a:r>
          </a:p>
        </p:txBody>
      </p:sp>
      <p:sp>
        <p:nvSpPr>
          <p:cNvPr id="33" name="TextBox 32"/>
          <p:cNvSpPr txBox="1"/>
          <p:nvPr/>
        </p:nvSpPr>
        <p:spPr>
          <a:xfrm>
            <a:off x="4005072" y="2779776"/>
            <a:ext cx="2011680" cy="548640"/>
          </a:xfrm>
          <a:prstGeom prst="rect">
            <a:avLst/>
          </a:prstGeom>
          <a:noFill/>
        </p:spPr>
        <p:txBody>
          <a:bodyPr wrap="square" anchor="ctr" lIns="0" rIns="0" tIns="0" bIns="0">
            <a:spAutoFit/>
          </a:bodyPr>
          <a:lstStyle/>
          <a:p>
            <a:pPr algn="l"/>
            <a:r>
              <a:rPr sz="1300" b="0" i="0">
                <a:solidFill>
                  <a:srgbClr val="1F2D2C"/>
                </a:solidFill>
                <a:latin typeface="Aptos"/>
              </a:rPr>
              <a:t>Điểm tuần, tháng, học kỳ</a:t>
            </a:r>
          </a:p>
        </p:txBody>
      </p:sp>
      <p:sp>
        <p:nvSpPr>
          <p:cNvPr id="34" name="Oval 33"/>
          <p:cNvSpPr/>
          <p:nvPr/>
        </p:nvSpPr>
        <p:spPr>
          <a:xfrm>
            <a:off x="3593592" y="3447287"/>
            <a:ext cx="310896" cy="310896"/>
          </a:xfrm>
          <a:prstGeom prst="ellipse">
            <a:avLst/>
          </a:prstGeom>
          <a:solidFill>
            <a:srgbClr val="99D5CF"/>
          </a:solidFill>
          <a:ln>
            <a:noFill/>
          </a:ln>
          <a:effectLst/>
        </p:spPr>
        <p:txBody>
          <a:bodyPr rtlCol="0" anchor="ctr"/>
          <a:lstStyle/>
          <a:p>
            <a:pPr algn="ctr"/>
          </a:p>
        </p:txBody>
      </p:sp>
      <p:sp>
        <p:nvSpPr>
          <p:cNvPr id="35" name="TextBox 34"/>
          <p:cNvSpPr txBox="1"/>
          <p:nvPr/>
        </p:nvSpPr>
        <p:spPr>
          <a:xfrm>
            <a:off x="3593592" y="3447287"/>
            <a:ext cx="310896" cy="310896"/>
          </a:xfrm>
          <a:prstGeom prst="rect">
            <a:avLst/>
          </a:prstGeom>
          <a:noFill/>
        </p:spPr>
        <p:txBody>
          <a:bodyPr wrap="square" anchor="ctr" lIns="0" rIns="0" tIns="0" bIns="0">
            <a:spAutoFit/>
          </a:bodyPr>
          <a:lstStyle/>
          <a:p>
            <a:pPr algn="ctr"/>
            <a:r>
              <a:rPr sz="1200" b="1" i="0">
                <a:solidFill>
                  <a:srgbClr val="0F4C47"/>
                </a:solidFill>
                <a:latin typeface="Aptos"/>
              </a:rPr>
              <a:t>2</a:t>
            </a:r>
          </a:p>
        </p:txBody>
      </p:sp>
      <p:sp>
        <p:nvSpPr>
          <p:cNvPr id="36" name="TextBox 35"/>
          <p:cNvSpPr txBox="1"/>
          <p:nvPr/>
        </p:nvSpPr>
        <p:spPr>
          <a:xfrm>
            <a:off x="4005072" y="3438144"/>
            <a:ext cx="2011680" cy="548640"/>
          </a:xfrm>
          <a:prstGeom prst="rect">
            <a:avLst/>
          </a:prstGeom>
          <a:noFill/>
        </p:spPr>
        <p:txBody>
          <a:bodyPr wrap="square" anchor="ctr" lIns="0" rIns="0" tIns="0" bIns="0">
            <a:spAutoFit/>
          </a:bodyPr>
          <a:lstStyle/>
          <a:p>
            <a:pPr algn="l"/>
            <a:r>
              <a:rPr sz="1300" b="0" i="0">
                <a:solidFill>
                  <a:srgbClr val="1F2D2C"/>
                </a:solidFill>
                <a:latin typeface="Aptos"/>
              </a:rPr>
              <a:t>Xếp loại theo quy định của lớp</a:t>
            </a:r>
          </a:p>
        </p:txBody>
      </p:sp>
      <p:sp>
        <p:nvSpPr>
          <p:cNvPr id="37" name="Oval 36"/>
          <p:cNvSpPr/>
          <p:nvPr/>
        </p:nvSpPr>
        <p:spPr>
          <a:xfrm>
            <a:off x="3593592" y="4105656"/>
            <a:ext cx="310896" cy="310896"/>
          </a:xfrm>
          <a:prstGeom prst="ellipse">
            <a:avLst/>
          </a:prstGeom>
          <a:solidFill>
            <a:srgbClr val="99D5CF"/>
          </a:solidFill>
          <a:ln>
            <a:noFill/>
          </a:ln>
          <a:effectLst/>
        </p:spPr>
        <p:txBody>
          <a:bodyPr rtlCol="0" anchor="ctr"/>
          <a:lstStyle/>
          <a:p>
            <a:pPr algn="ctr"/>
          </a:p>
        </p:txBody>
      </p:sp>
      <p:sp>
        <p:nvSpPr>
          <p:cNvPr id="38" name="TextBox 37"/>
          <p:cNvSpPr txBox="1"/>
          <p:nvPr/>
        </p:nvSpPr>
        <p:spPr>
          <a:xfrm>
            <a:off x="3593592" y="4105656"/>
            <a:ext cx="310896" cy="310896"/>
          </a:xfrm>
          <a:prstGeom prst="rect">
            <a:avLst/>
          </a:prstGeom>
          <a:noFill/>
        </p:spPr>
        <p:txBody>
          <a:bodyPr wrap="square" anchor="ctr" lIns="0" rIns="0" tIns="0" bIns="0">
            <a:spAutoFit/>
          </a:bodyPr>
          <a:lstStyle/>
          <a:p>
            <a:pPr algn="ctr"/>
            <a:r>
              <a:rPr sz="1200" b="1" i="0">
                <a:solidFill>
                  <a:srgbClr val="0F4C47"/>
                </a:solidFill>
                <a:latin typeface="Aptos"/>
              </a:rPr>
              <a:t>3</a:t>
            </a:r>
          </a:p>
        </p:txBody>
      </p:sp>
      <p:sp>
        <p:nvSpPr>
          <p:cNvPr id="39" name="TextBox 38"/>
          <p:cNvSpPr txBox="1"/>
          <p:nvPr/>
        </p:nvSpPr>
        <p:spPr>
          <a:xfrm>
            <a:off x="4005072" y="4096512"/>
            <a:ext cx="2011680" cy="548640"/>
          </a:xfrm>
          <a:prstGeom prst="rect">
            <a:avLst/>
          </a:prstGeom>
          <a:noFill/>
        </p:spPr>
        <p:txBody>
          <a:bodyPr wrap="square" anchor="ctr" lIns="0" rIns="0" tIns="0" bIns="0">
            <a:spAutoFit/>
          </a:bodyPr>
          <a:lstStyle/>
          <a:p>
            <a:pPr algn="l"/>
            <a:r>
              <a:rPr sz="1300" b="0" i="0">
                <a:solidFill>
                  <a:srgbClr val="1F2D2C"/>
                </a:solidFill>
                <a:latin typeface="Aptos"/>
              </a:rPr>
              <a:t>Mọi máy cập nhật trực tiếp</a:t>
            </a:r>
          </a:p>
        </p:txBody>
      </p:sp>
      <p:sp>
        <p:nvSpPr>
          <p:cNvPr id="40" name="Chevron 39"/>
          <p:cNvSpPr/>
          <p:nvPr/>
        </p:nvSpPr>
        <p:spPr>
          <a:xfrm>
            <a:off x="6126480" y="1325880"/>
            <a:ext cx="2743200" cy="731520"/>
          </a:xfrm>
          <a:prstGeom prst="chevron">
            <a:avLst>
              <a:gd name="adj" fmla="val 30000"/>
            </a:avLst>
          </a:prstGeom>
          <a:solidFill>
            <a:srgbClr val="2A9D8F"/>
          </a:solidFill>
          <a:ln>
            <a:noFill/>
          </a:ln>
          <a:effectLst/>
        </p:spPr>
        <p:txBody>
          <a:bodyPr rtlCol="0" anchor="ctr"/>
          <a:lstStyle/>
          <a:p>
            <a:pPr algn="ctr"/>
          </a:p>
        </p:txBody>
      </p:sp>
      <p:sp>
        <p:nvSpPr>
          <p:cNvPr id="41" name="TextBox 40"/>
          <p:cNvSpPr txBox="1"/>
          <p:nvPr/>
        </p:nvSpPr>
        <p:spPr>
          <a:xfrm>
            <a:off x="6446520" y="1325880"/>
            <a:ext cx="2194560" cy="731520"/>
          </a:xfrm>
          <a:prstGeom prst="rect">
            <a:avLst/>
          </a:prstGeom>
          <a:noFill/>
        </p:spPr>
        <p:txBody>
          <a:bodyPr wrap="square" anchor="ctr" lIns="0" rIns="0" tIns="0" bIns="0">
            <a:spAutoFit/>
          </a:bodyPr>
          <a:lstStyle/>
          <a:p>
            <a:pPr algn="ctr"/>
            <a:r>
              <a:rPr sz="1700" b="1" i="0">
                <a:solidFill>
                  <a:srgbClr val="FFFFFF"/>
                </a:solidFill>
                <a:latin typeface="Aptos"/>
              </a:rPr>
              <a:t>Nhận xét</a:t>
            </a:r>
          </a:p>
        </p:txBody>
      </p:sp>
      <p:sp>
        <p:nvSpPr>
          <p:cNvPr id="42" name="Rounded Rectangle 41"/>
          <p:cNvSpPr/>
          <p:nvPr/>
        </p:nvSpPr>
        <p:spPr>
          <a:xfrm>
            <a:off x="6446520" y="2240280"/>
            <a:ext cx="1203682" cy="274320"/>
          </a:xfrm>
          <a:prstGeom prst="roundRect">
            <a:avLst>
              <a:gd name="adj" fmla="val 50000"/>
            </a:avLst>
          </a:prstGeom>
          <a:solidFill>
            <a:srgbClr val="E0F2F1"/>
          </a:solidFill>
          <a:ln>
            <a:noFill/>
          </a:ln>
          <a:effectLst/>
        </p:spPr>
        <p:txBody>
          <a:bodyPr rtlCol="0" anchor="ctr"/>
          <a:lstStyle/>
          <a:p>
            <a:pPr algn="ctr"/>
          </a:p>
        </p:txBody>
      </p:sp>
      <p:sp>
        <p:nvSpPr>
          <p:cNvPr id="43" name="TextBox 42"/>
          <p:cNvSpPr txBox="1"/>
          <p:nvPr/>
        </p:nvSpPr>
        <p:spPr>
          <a:xfrm>
            <a:off x="6446520" y="2240280"/>
            <a:ext cx="1203682" cy="274320"/>
          </a:xfrm>
          <a:prstGeom prst="rect">
            <a:avLst/>
          </a:prstGeom>
          <a:noFill/>
        </p:spPr>
        <p:txBody>
          <a:bodyPr wrap="square" anchor="ctr" lIns="0" rIns="0" tIns="0" bIns="0">
            <a:spAutoFit/>
          </a:bodyPr>
          <a:lstStyle/>
          <a:p>
            <a:pPr algn="ctr"/>
            <a:r>
              <a:rPr sz="1150" b="1" i="0">
                <a:solidFill>
                  <a:srgbClr val="0F4C47"/>
                </a:solidFill>
                <a:latin typeface="Aptos"/>
              </a:rPr>
              <a:t>Cô chủ nhiệm</a:t>
            </a:r>
          </a:p>
        </p:txBody>
      </p:sp>
      <p:sp>
        <p:nvSpPr>
          <p:cNvPr id="44" name="Oval 43"/>
          <p:cNvSpPr/>
          <p:nvPr/>
        </p:nvSpPr>
        <p:spPr>
          <a:xfrm>
            <a:off x="6446520" y="2788920"/>
            <a:ext cx="310896" cy="310896"/>
          </a:xfrm>
          <a:prstGeom prst="ellipse">
            <a:avLst/>
          </a:prstGeom>
          <a:solidFill>
            <a:srgbClr val="99D5CF"/>
          </a:solidFill>
          <a:ln>
            <a:noFill/>
          </a:ln>
          <a:effectLst/>
        </p:spPr>
        <p:txBody>
          <a:bodyPr rtlCol="0" anchor="ctr"/>
          <a:lstStyle/>
          <a:p>
            <a:pPr algn="ctr"/>
          </a:p>
        </p:txBody>
      </p:sp>
      <p:sp>
        <p:nvSpPr>
          <p:cNvPr id="45" name="TextBox 44"/>
          <p:cNvSpPr txBox="1"/>
          <p:nvPr/>
        </p:nvSpPr>
        <p:spPr>
          <a:xfrm>
            <a:off x="6446520" y="2788920"/>
            <a:ext cx="310896" cy="310896"/>
          </a:xfrm>
          <a:prstGeom prst="rect">
            <a:avLst/>
          </a:prstGeom>
          <a:noFill/>
        </p:spPr>
        <p:txBody>
          <a:bodyPr wrap="square" anchor="ctr" lIns="0" rIns="0" tIns="0" bIns="0">
            <a:spAutoFit/>
          </a:bodyPr>
          <a:lstStyle/>
          <a:p>
            <a:pPr algn="ctr"/>
            <a:r>
              <a:rPr sz="1200" b="1" i="0">
                <a:solidFill>
                  <a:srgbClr val="0F4C47"/>
                </a:solidFill>
                <a:latin typeface="Aptos"/>
              </a:rPr>
              <a:t>1</a:t>
            </a:r>
          </a:p>
        </p:txBody>
      </p:sp>
      <p:sp>
        <p:nvSpPr>
          <p:cNvPr id="46" name="TextBox 45"/>
          <p:cNvSpPr txBox="1"/>
          <p:nvPr/>
        </p:nvSpPr>
        <p:spPr>
          <a:xfrm>
            <a:off x="6858000" y="2779776"/>
            <a:ext cx="2011680" cy="548640"/>
          </a:xfrm>
          <a:prstGeom prst="rect">
            <a:avLst/>
          </a:prstGeom>
          <a:noFill/>
        </p:spPr>
        <p:txBody>
          <a:bodyPr wrap="square" anchor="ctr" lIns="0" rIns="0" tIns="0" bIns="0">
            <a:spAutoFit/>
          </a:bodyPr>
          <a:lstStyle/>
          <a:p>
            <a:pPr algn="l"/>
            <a:r>
              <a:rPr sz="1300" b="0" i="0">
                <a:solidFill>
                  <a:srgbClr val="1F2D2C"/>
                </a:solidFill>
                <a:latin typeface="Aptos"/>
              </a:rPr>
              <a:t>Xem nguồn từng điểm</a:t>
            </a:r>
          </a:p>
        </p:txBody>
      </p:sp>
      <p:sp>
        <p:nvSpPr>
          <p:cNvPr id="47" name="Oval 46"/>
          <p:cNvSpPr/>
          <p:nvPr/>
        </p:nvSpPr>
        <p:spPr>
          <a:xfrm>
            <a:off x="6446520" y="3447287"/>
            <a:ext cx="310896" cy="310896"/>
          </a:xfrm>
          <a:prstGeom prst="ellipse">
            <a:avLst/>
          </a:prstGeom>
          <a:solidFill>
            <a:srgbClr val="99D5CF"/>
          </a:solidFill>
          <a:ln>
            <a:noFill/>
          </a:ln>
          <a:effectLst/>
        </p:spPr>
        <p:txBody>
          <a:bodyPr rtlCol="0" anchor="ctr"/>
          <a:lstStyle/>
          <a:p>
            <a:pPr algn="ctr"/>
          </a:p>
        </p:txBody>
      </p:sp>
      <p:sp>
        <p:nvSpPr>
          <p:cNvPr id="48" name="TextBox 47"/>
          <p:cNvSpPr txBox="1"/>
          <p:nvPr/>
        </p:nvSpPr>
        <p:spPr>
          <a:xfrm>
            <a:off x="6446520" y="3447287"/>
            <a:ext cx="310896" cy="310896"/>
          </a:xfrm>
          <a:prstGeom prst="rect">
            <a:avLst/>
          </a:prstGeom>
          <a:noFill/>
        </p:spPr>
        <p:txBody>
          <a:bodyPr wrap="square" anchor="ctr" lIns="0" rIns="0" tIns="0" bIns="0">
            <a:spAutoFit/>
          </a:bodyPr>
          <a:lstStyle/>
          <a:p>
            <a:pPr algn="ctr"/>
            <a:r>
              <a:rPr sz="1200" b="1" i="0">
                <a:solidFill>
                  <a:srgbClr val="0F4C47"/>
                </a:solidFill>
                <a:latin typeface="Aptos"/>
              </a:rPr>
              <a:t>2</a:t>
            </a:r>
          </a:p>
        </p:txBody>
      </p:sp>
      <p:sp>
        <p:nvSpPr>
          <p:cNvPr id="49" name="TextBox 48"/>
          <p:cNvSpPr txBox="1"/>
          <p:nvPr/>
        </p:nvSpPr>
        <p:spPr>
          <a:xfrm>
            <a:off x="6858000" y="3438144"/>
            <a:ext cx="2011680" cy="548640"/>
          </a:xfrm>
          <a:prstGeom prst="rect">
            <a:avLst/>
          </a:prstGeom>
          <a:noFill/>
        </p:spPr>
        <p:txBody>
          <a:bodyPr wrap="square" anchor="ctr" lIns="0" rIns="0" tIns="0" bIns="0">
            <a:spAutoFit/>
          </a:bodyPr>
          <a:lstStyle/>
          <a:p>
            <a:pPr algn="l"/>
            <a:r>
              <a:rPr sz="1300" b="0" i="0">
                <a:solidFill>
                  <a:srgbClr val="1F2D2C"/>
                </a:solidFill>
                <a:latin typeface="Aptos"/>
              </a:rPr>
              <a:t>Viết nhận xét, chọn xếp loại</a:t>
            </a:r>
          </a:p>
        </p:txBody>
      </p:sp>
      <p:sp>
        <p:nvSpPr>
          <p:cNvPr id="50" name="Oval 49"/>
          <p:cNvSpPr/>
          <p:nvPr/>
        </p:nvSpPr>
        <p:spPr>
          <a:xfrm>
            <a:off x="6446520" y="4105656"/>
            <a:ext cx="310896" cy="310896"/>
          </a:xfrm>
          <a:prstGeom prst="ellipse">
            <a:avLst/>
          </a:prstGeom>
          <a:solidFill>
            <a:srgbClr val="99D5CF"/>
          </a:solidFill>
          <a:ln>
            <a:noFill/>
          </a:ln>
          <a:effectLst/>
        </p:spPr>
        <p:txBody>
          <a:bodyPr rtlCol="0" anchor="ctr"/>
          <a:lstStyle/>
          <a:p>
            <a:pPr algn="ctr"/>
          </a:p>
        </p:txBody>
      </p:sp>
      <p:sp>
        <p:nvSpPr>
          <p:cNvPr id="51" name="TextBox 50"/>
          <p:cNvSpPr txBox="1"/>
          <p:nvPr/>
        </p:nvSpPr>
        <p:spPr>
          <a:xfrm>
            <a:off x="6446520" y="4105656"/>
            <a:ext cx="310896" cy="310896"/>
          </a:xfrm>
          <a:prstGeom prst="rect">
            <a:avLst/>
          </a:prstGeom>
          <a:noFill/>
        </p:spPr>
        <p:txBody>
          <a:bodyPr wrap="square" anchor="ctr" lIns="0" rIns="0" tIns="0" bIns="0">
            <a:spAutoFit/>
          </a:bodyPr>
          <a:lstStyle/>
          <a:p>
            <a:pPr algn="ctr"/>
            <a:r>
              <a:rPr sz="1200" b="1" i="0">
                <a:solidFill>
                  <a:srgbClr val="0F4C47"/>
                </a:solidFill>
                <a:latin typeface="Aptos"/>
              </a:rPr>
              <a:t>3</a:t>
            </a:r>
          </a:p>
        </p:txBody>
      </p:sp>
      <p:sp>
        <p:nvSpPr>
          <p:cNvPr id="52" name="TextBox 51"/>
          <p:cNvSpPr txBox="1"/>
          <p:nvPr/>
        </p:nvSpPr>
        <p:spPr>
          <a:xfrm>
            <a:off x="6858000" y="4096512"/>
            <a:ext cx="2011680" cy="548640"/>
          </a:xfrm>
          <a:prstGeom prst="rect">
            <a:avLst/>
          </a:prstGeom>
          <a:noFill/>
        </p:spPr>
        <p:txBody>
          <a:bodyPr wrap="square" anchor="ctr" lIns="0" rIns="0" tIns="0" bIns="0">
            <a:spAutoFit/>
          </a:bodyPr>
          <a:lstStyle/>
          <a:p>
            <a:pPr algn="l"/>
            <a:r>
              <a:rPr sz="1300" b="0" i="0">
                <a:solidFill>
                  <a:srgbClr val="1F2D2C"/>
                </a:solidFill>
                <a:latin typeface="Aptos"/>
              </a:rPr>
              <a:t>Chốt tháng, khoá dữ liệu</a:t>
            </a:r>
          </a:p>
        </p:txBody>
      </p:sp>
      <p:sp>
        <p:nvSpPr>
          <p:cNvPr id="53" name="Chevron 52"/>
          <p:cNvSpPr/>
          <p:nvPr/>
        </p:nvSpPr>
        <p:spPr>
          <a:xfrm>
            <a:off x="8979408" y="1325880"/>
            <a:ext cx="2743200" cy="731520"/>
          </a:xfrm>
          <a:prstGeom prst="chevron">
            <a:avLst>
              <a:gd name="adj" fmla="val 30000"/>
            </a:avLst>
          </a:prstGeom>
          <a:solidFill>
            <a:srgbClr val="0F766E"/>
          </a:solidFill>
          <a:ln>
            <a:noFill/>
          </a:ln>
          <a:effectLst/>
        </p:spPr>
        <p:txBody>
          <a:bodyPr rtlCol="0" anchor="ctr"/>
          <a:lstStyle/>
          <a:p>
            <a:pPr algn="ctr"/>
          </a:p>
        </p:txBody>
      </p:sp>
      <p:sp>
        <p:nvSpPr>
          <p:cNvPr id="54" name="TextBox 53"/>
          <p:cNvSpPr txBox="1"/>
          <p:nvPr/>
        </p:nvSpPr>
        <p:spPr>
          <a:xfrm>
            <a:off x="9299448" y="1325880"/>
            <a:ext cx="2194560" cy="731520"/>
          </a:xfrm>
          <a:prstGeom prst="rect">
            <a:avLst/>
          </a:prstGeom>
          <a:noFill/>
        </p:spPr>
        <p:txBody>
          <a:bodyPr wrap="square" anchor="ctr" lIns="0" rIns="0" tIns="0" bIns="0">
            <a:spAutoFit/>
          </a:bodyPr>
          <a:lstStyle/>
          <a:p>
            <a:pPr algn="ctr"/>
            <a:r>
              <a:rPr sz="1700" b="1" i="0">
                <a:solidFill>
                  <a:srgbClr val="FFFFFF"/>
                </a:solidFill>
                <a:latin typeface="Aptos"/>
              </a:rPr>
              <a:t>Báo tin</a:t>
            </a:r>
          </a:p>
        </p:txBody>
      </p:sp>
      <p:sp>
        <p:nvSpPr>
          <p:cNvPr id="55" name="Rounded Rectangle 54"/>
          <p:cNvSpPr/>
          <p:nvPr/>
        </p:nvSpPr>
        <p:spPr>
          <a:xfrm>
            <a:off x="9299448" y="2240280"/>
            <a:ext cx="959912" cy="274320"/>
          </a:xfrm>
          <a:prstGeom prst="roundRect">
            <a:avLst>
              <a:gd name="adj" fmla="val 50000"/>
            </a:avLst>
          </a:prstGeom>
          <a:solidFill>
            <a:srgbClr val="E0F2F1"/>
          </a:solidFill>
          <a:ln>
            <a:noFill/>
          </a:ln>
          <a:effectLst/>
        </p:spPr>
        <p:txBody>
          <a:bodyPr rtlCol="0" anchor="ctr"/>
          <a:lstStyle/>
          <a:p>
            <a:pPr algn="ctr"/>
          </a:p>
        </p:txBody>
      </p:sp>
      <p:sp>
        <p:nvSpPr>
          <p:cNvPr id="56" name="TextBox 55"/>
          <p:cNvSpPr txBox="1"/>
          <p:nvPr/>
        </p:nvSpPr>
        <p:spPr>
          <a:xfrm>
            <a:off x="9299448" y="2240280"/>
            <a:ext cx="959912" cy="274320"/>
          </a:xfrm>
          <a:prstGeom prst="rect">
            <a:avLst/>
          </a:prstGeom>
          <a:noFill/>
        </p:spPr>
        <p:txBody>
          <a:bodyPr wrap="square" anchor="ctr" lIns="0" rIns="0" tIns="0" bIns="0">
            <a:spAutoFit/>
          </a:bodyPr>
          <a:lstStyle/>
          <a:p>
            <a:pPr algn="ctr"/>
            <a:r>
              <a:rPr sz="1150" b="1" i="0">
                <a:solidFill>
                  <a:srgbClr val="0F4C47"/>
                </a:solidFill>
                <a:latin typeface="Aptos"/>
              </a:rPr>
              <a:t>Phụ huynh</a:t>
            </a:r>
          </a:p>
        </p:txBody>
      </p:sp>
      <p:sp>
        <p:nvSpPr>
          <p:cNvPr id="57" name="Oval 56"/>
          <p:cNvSpPr/>
          <p:nvPr/>
        </p:nvSpPr>
        <p:spPr>
          <a:xfrm>
            <a:off x="9299448" y="2788920"/>
            <a:ext cx="310896" cy="310896"/>
          </a:xfrm>
          <a:prstGeom prst="ellipse">
            <a:avLst/>
          </a:prstGeom>
          <a:solidFill>
            <a:srgbClr val="99D5CF"/>
          </a:solidFill>
          <a:ln>
            <a:noFill/>
          </a:ln>
          <a:effectLst/>
        </p:spPr>
        <p:txBody>
          <a:bodyPr rtlCol="0" anchor="ctr"/>
          <a:lstStyle/>
          <a:p>
            <a:pPr algn="ctr"/>
          </a:p>
        </p:txBody>
      </p:sp>
      <p:sp>
        <p:nvSpPr>
          <p:cNvPr id="58" name="TextBox 57"/>
          <p:cNvSpPr txBox="1"/>
          <p:nvPr/>
        </p:nvSpPr>
        <p:spPr>
          <a:xfrm>
            <a:off x="9299448" y="2788920"/>
            <a:ext cx="310896" cy="310896"/>
          </a:xfrm>
          <a:prstGeom prst="rect">
            <a:avLst/>
          </a:prstGeom>
          <a:noFill/>
        </p:spPr>
        <p:txBody>
          <a:bodyPr wrap="square" anchor="ctr" lIns="0" rIns="0" tIns="0" bIns="0">
            <a:spAutoFit/>
          </a:bodyPr>
          <a:lstStyle/>
          <a:p>
            <a:pPr algn="ctr"/>
            <a:r>
              <a:rPr sz="1200" b="1" i="0">
                <a:solidFill>
                  <a:srgbClr val="0F4C47"/>
                </a:solidFill>
                <a:latin typeface="Aptos"/>
              </a:rPr>
              <a:t>1</a:t>
            </a:r>
          </a:p>
        </p:txBody>
      </p:sp>
      <p:sp>
        <p:nvSpPr>
          <p:cNvPr id="59" name="TextBox 58"/>
          <p:cNvSpPr txBox="1"/>
          <p:nvPr/>
        </p:nvSpPr>
        <p:spPr>
          <a:xfrm>
            <a:off x="9710928" y="2779776"/>
            <a:ext cx="2011680" cy="548640"/>
          </a:xfrm>
          <a:prstGeom prst="rect">
            <a:avLst/>
          </a:prstGeom>
          <a:noFill/>
        </p:spPr>
        <p:txBody>
          <a:bodyPr wrap="square" anchor="ctr" lIns="0" rIns="0" tIns="0" bIns="0">
            <a:spAutoFit/>
          </a:bodyPr>
          <a:lstStyle/>
          <a:p>
            <a:pPr algn="l"/>
            <a:r>
              <a:rPr sz="1300" b="0" i="0">
                <a:solidFill>
                  <a:srgbClr val="1F2D2C"/>
                </a:solidFill>
                <a:latin typeface="Aptos"/>
              </a:rPr>
              <a:t>Email kèm lời của cô</a:t>
            </a:r>
          </a:p>
        </p:txBody>
      </p:sp>
      <p:sp>
        <p:nvSpPr>
          <p:cNvPr id="60" name="Oval 59"/>
          <p:cNvSpPr/>
          <p:nvPr/>
        </p:nvSpPr>
        <p:spPr>
          <a:xfrm>
            <a:off x="9299448" y="3447287"/>
            <a:ext cx="310896" cy="310896"/>
          </a:xfrm>
          <a:prstGeom prst="ellipse">
            <a:avLst/>
          </a:prstGeom>
          <a:solidFill>
            <a:srgbClr val="99D5CF"/>
          </a:solidFill>
          <a:ln>
            <a:noFill/>
          </a:ln>
          <a:effectLst/>
        </p:spPr>
        <p:txBody>
          <a:bodyPr rtlCol="0" anchor="ctr"/>
          <a:lstStyle/>
          <a:p>
            <a:pPr algn="ctr"/>
          </a:p>
        </p:txBody>
      </p:sp>
      <p:sp>
        <p:nvSpPr>
          <p:cNvPr id="61" name="TextBox 60"/>
          <p:cNvSpPr txBox="1"/>
          <p:nvPr/>
        </p:nvSpPr>
        <p:spPr>
          <a:xfrm>
            <a:off x="9299448" y="3447287"/>
            <a:ext cx="310896" cy="310896"/>
          </a:xfrm>
          <a:prstGeom prst="rect">
            <a:avLst/>
          </a:prstGeom>
          <a:noFill/>
        </p:spPr>
        <p:txBody>
          <a:bodyPr wrap="square" anchor="ctr" lIns="0" rIns="0" tIns="0" bIns="0">
            <a:spAutoFit/>
          </a:bodyPr>
          <a:lstStyle/>
          <a:p>
            <a:pPr algn="ctr"/>
            <a:r>
              <a:rPr sz="1200" b="1" i="0">
                <a:solidFill>
                  <a:srgbClr val="0F4C47"/>
                </a:solidFill>
                <a:latin typeface="Aptos"/>
              </a:rPr>
              <a:t>2</a:t>
            </a:r>
          </a:p>
        </p:txBody>
      </p:sp>
      <p:sp>
        <p:nvSpPr>
          <p:cNvPr id="62" name="TextBox 61"/>
          <p:cNvSpPr txBox="1"/>
          <p:nvPr/>
        </p:nvSpPr>
        <p:spPr>
          <a:xfrm>
            <a:off x="9710928" y="3438144"/>
            <a:ext cx="2011680" cy="548640"/>
          </a:xfrm>
          <a:prstGeom prst="rect">
            <a:avLst/>
          </a:prstGeom>
          <a:noFill/>
        </p:spPr>
        <p:txBody>
          <a:bodyPr wrap="square" anchor="ctr" lIns="0" rIns="0" tIns="0" bIns="0">
            <a:spAutoFit/>
          </a:bodyPr>
          <a:lstStyle/>
          <a:p>
            <a:pPr algn="l"/>
            <a:r>
              <a:rPr sz="1300" b="0" i="0">
                <a:solidFill>
                  <a:srgbClr val="1F2D2C"/>
                </a:solidFill>
                <a:latin typeface="Aptos"/>
              </a:rPr>
              <a:t>Xem hồ sơ của con</a:t>
            </a:r>
          </a:p>
        </p:txBody>
      </p:sp>
      <p:sp>
        <p:nvSpPr>
          <p:cNvPr id="63" name="Oval 62"/>
          <p:cNvSpPr/>
          <p:nvPr/>
        </p:nvSpPr>
        <p:spPr>
          <a:xfrm>
            <a:off x="9299448" y="4105656"/>
            <a:ext cx="310896" cy="310896"/>
          </a:xfrm>
          <a:prstGeom prst="ellipse">
            <a:avLst/>
          </a:prstGeom>
          <a:solidFill>
            <a:srgbClr val="99D5CF"/>
          </a:solidFill>
          <a:ln>
            <a:noFill/>
          </a:ln>
          <a:effectLst/>
        </p:spPr>
        <p:txBody>
          <a:bodyPr rtlCol="0" anchor="ctr"/>
          <a:lstStyle/>
          <a:p>
            <a:pPr algn="ctr"/>
          </a:p>
        </p:txBody>
      </p:sp>
      <p:sp>
        <p:nvSpPr>
          <p:cNvPr id="64" name="TextBox 63"/>
          <p:cNvSpPr txBox="1"/>
          <p:nvPr/>
        </p:nvSpPr>
        <p:spPr>
          <a:xfrm>
            <a:off x="9299448" y="4105656"/>
            <a:ext cx="310896" cy="310896"/>
          </a:xfrm>
          <a:prstGeom prst="rect">
            <a:avLst/>
          </a:prstGeom>
          <a:noFill/>
        </p:spPr>
        <p:txBody>
          <a:bodyPr wrap="square" anchor="ctr" lIns="0" rIns="0" tIns="0" bIns="0">
            <a:spAutoFit/>
          </a:bodyPr>
          <a:lstStyle/>
          <a:p>
            <a:pPr algn="ctr"/>
            <a:r>
              <a:rPr sz="1200" b="1" i="0">
                <a:solidFill>
                  <a:srgbClr val="0F4C47"/>
                </a:solidFill>
                <a:latin typeface="Aptos"/>
              </a:rPr>
              <a:t>3</a:t>
            </a:r>
          </a:p>
        </p:txBody>
      </p:sp>
      <p:sp>
        <p:nvSpPr>
          <p:cNvPr id="65" name="TextBox 64"/>
          <p:cNvSpPr txBox="1"/>
          <p:nvPr/>
        </p:nvSpPr>
        <p:spPr>
          <a:xfrm>
            <a:off x="9710928" y="4096512"/>
            <a:ext cx="2011680" cy="548640"/>
          </a:xfrm>
          <a:prstGeom prst="rect">
            <a:avLst/>
          </a:prstGeom>
          <a:noFill/>
        </p:spPr>
        <p:txBody>
          <a:bodyPr wrap="square" anchor="ctr" lIns="0" rIns="0" tIns="0" bIns="0">
            <a:spAutoFit/>
          </a:bodyPr>
          <a:lstStyle/>
          <a:p>
            <a:pPr algn="l"/>
            <a:r>
              <a:rPr sz="1300" b="0" i="0">
                <a:solidFill>
                  <a:srgbClr val="1F2D2C"/>
                </a:solidFill>
                <a:latin typeface="Aptos"/>
              </a:rPr>
              <a:t>Tải PDF thông báo, báo cáo</a:t>
            </a:r>
          </a:p>
        </p:txBody>
      </p:sp>
      <p:sp>
        <p:nvSpPr>
          <p:cNvPr id="66" name="Rounded Rectangle 65"/>
          <p:cNvSpPr/>
          <p:nvPr/>
        </p:nvSpPr>
        <p:spPr>
          <a:xfrm>
            <a:off x="420624" y="4937760"/>
            <a:ext cx="11347704" cy="914400"/>
          </a:xfrm>
          <a:prstGeom prst="roundRect">
            <a:avLst>
              <a:gd name="adj" fmla="val 14000"/>
            </a:avLst>
          </a:prstGeom>
          <a:solidFill>
            <a:srgbClr val="FFF1E0"/>
          </a:solidFill>
          <a:ln>
            <a:noFill/>
          </a:ln>
          <a:effectLst/>
        </p:spPr>
        <p:txBody>
          <a:bodyPr rtlCol="0" anchor="ctr"/>
          <a:lstStyle/>
          <a:p>
            <a:pPr algn="ctr"/>
          </a:p>
        </p:txBody>
      </p:sp>
      <p:sp>
        <p:nvSpPr>
          <p:cNvPr id="67" name="TextBox 66"/>
          <p:cNvSpPr txBox="1"/>
          <p:nvPr/>
        </p:nvSpPr>
        <p:spPr>
          <a:xfrm>
            <a:off x="685800" y="4937760"/>
            <a:ext cx="10881360" cy="914400"/>
          </a:xfrm>
          <a:prstGeom prst="rect">
            <a:avLst/>
          </a:prstGeom>
          <a:noFill/>
        </p:spPr>
        <p:txBody>
          <a:bodyPr wrap="square" anchor="ctr" lIns="0" rIns="0" tIns="0" bIns="0">
            <a:spAutoFit/>
          </a:bodyPr>
          <a:lstStyle/>
          <a:p>
            <a:pPr algn="l"/>
            <a:r>
              <a:rPr sz="1400" b="1" i="0">
                <a:solidFill>
                  <a:srgbClr val="0F4C47"/>
                </a:solidFill>
                <a:latin typeface="Aptos"/>
              </a:rPr>
              <a:t>Kết quả: </a:t>
            </a:r>
            <a:r>
              <a:rPr sz="1400" b="0" i="0">
                <a:solidFill>
                  <a:srgbClr val="1F2D2C"/>
                </a:solidFill>
                <a:latin typeface="Aptos"/>
              </a:rPr>
              <a:t>thông tin đi từ lớp học đến gia đình trong cùng ngày, thay vì chờ đến cuối tháng hoặc buổi họp phụ huynh.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09</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Cán bộ lớp ghi điểm trên điện thoại trong vài chạm</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app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Rounded Rectangle 14"/>
          <p:cNvSpPr/>
          <p:nvPr/>
        </p:nvSpPr>
        <p:spPr>
          <a:xfrm>
            <a:off x="466344" y="1497505"/>
            <a:ext cx="1993392" cy="4228748"/>
          </a:xfrm>
          <a:prstGeom prst="roundRect">
            <a:avLst>
              <a:gd name="adj" fmla="val 2000"/>
            </a:avLst>
          </a:prstGeom>
          <a:solidFill>
            <a:srgbClr val="D5E3E2"/>
          </a:solidFill>
          <a:ln>
            <a:noFill/>
          </a:ln>
          <a:effectLst/>
        </p:spPr>
        <p:txBody>
          <a:bodyPr rtlCol="0" anchor="ctr"/>
          <a:lstStyle/>
          <a:p>
            <a:pPr algn="ctr"/>
          </a:p>
        </p:txBody>
      </p:sp>
      <p:pic>
        <p:nvPicPr>
          <p:cNvPr id="16" name="Picture 15" descr="m_ghi.png"/>
          <p:cNvPicPr>
            <a:picLocks noChangeAspect="1"/>
          </p:cNvPicPr>
          <p:nvPr/>
        </p:nvPicPr>
        <p:blipFill>
          <a:blip r:embed="rId2"/>
          <a:stretch>
            <a:fillRect/>
          </a:stretch>
        </p:blipFill>
        <p:spPr>
          <a:xfrm>
            <a:off x="502920" y="1534081"/>
            <a:ext cx="1920240" cy="4155596"/>
          </a:xfrm>
          <a:prstGeom prst="rect">
            <a:avLst/>
          </a:prstGeom>
        </p:spPr>
      </p:pic>
      <p:sp>
        <p:nvSpPr>
          <p:cNvPr id="17" name="Oval 16"/>
          <p:cNvSpPr/>
          <p:nvPr/>
        </p:nvSpPr>
        <p:spPr>
          <a:xfrm>
            <a:off x="411480" y="1188720"/>
            <a:ext cx="347472" cy="347472"/>
          </a:xfrm>
          <a:prstGeom prst="ellipse">
            <a:avLst/>
          </a:prstGeom>
          <a:solidFill>
            <a:srgbClr val="F4A261"/>
          </a:solidFill>
          <a:ln>
            <a:noFill/>
          </a:ln>
          <a:effectLst/>
        </p:spPr>
        <p:txBody>
          <a:bodyPr rtlCol="0" anchor="ctr"/>
          <a:lstStyle/>
          <a:p>
            <a:pPr algn="ctr"/>
          </a:p>
        </p:txBody>
      </p:sp>
      <p:sp>
        <p:nvSpPr>
          <p:cNvPr id="18" name="TextBox 17"/>
          <p:cNvSpPr txBox="1"/>
          <p:nvPr/>
        </p:nvSpPr>
        <p:spPr>
          <a:xfrm>
            <a:off x="411480" y="1188720"/>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19" name="Rounded Rectangle 18"/>
          <p:cNvSpPr/>
          <p:nvPr/>
        </p:nvSpPr>
        <p:spPr>
          <a:xfrm>
            <a:off x="2615184" y="1497505"/>
            <a:ext cx="1993392" cy="4228748"/>
          </a:xfrm>
          <a:prstGeom prst="roundRect">
            <a:avLst>
              <a:gd name="adj" fmla="val 2000"/>
            </a:avLst>
          </a:prstGeom>
          <a:solidFill>
            <a:srgbClr val="D5E3E2"/>
          </a:solidFill>
          <a:ln>
            <a:noFill/>
          </a:ln>
          <a:effectLst/>
        </p:spPr>
        <p:txBody>
          <a:bodyPr rtlCol="0" anchor="ctr"/>
          <a:lstStyle/>
          <a:p>
            <a:pPr algn="ctr"/>
          </a:p>
        </p:txBody>
      </p:sp>
      <p:pic>
        <p:nvPicPr>
          <p:cNvPr id="20" name="Picture 19" descr="m_panel.png"/>
          <p:cNvPicPr>
            <a:picLocks noChangeAspect="1"/>
          </p:cNvPicPr>
          <p:nvPr/>
        </p:nvPicPr>
        <p:blipFill>
          <a:blip r:embed="rId3"/>
          <a:stretch>
            <a:fillRect/>
          </a:stretch>
        </p:blipFill>
        <p:spPr>
          <a:xfrm>
            <a:off x="2651760" y="1534081"/>
            <a:ext cx="1920240" cy="4155596"/>
          </a:xfrm>
          <a:prstGeom prst="rect">
            <a:avLst/>
          </a:prstGeom>
        </p:spPr>
      </p:pic>
      <p:sp>
        <p:nvSpPr>
          <p:cNvPr id="21" name="Oval 20"/>
          <p:cNvSpPr/>
          <p:nvPr/>
        </p:nvSpPr>
        <p:spPr>
          <a:xfrm>
            <a:off x="2560320" y="1188720"/>
            <a:ext cx="347472" cy="347472"/>
          </a:xfrm>
          <a:prstGeom prst="ellipse">
            <a:avLst/>
          </a:prstGeom>
          <a:solidFill>
            <a:srgbClr val="F4A261"/>
          </a:solidFill>
          <a:ln>
            <a:noFill/>
          </a:ln>
          <a:effectLst/>
        </p:spPr>
        <p:txBody>
          <a:bodyPr rtlCol="0" anchor="ctr"/>
          <a:lstStyle/>
          <a:p>
            <a:pPr algn="ctr"/>
          </a:p>
        </p:txBody>
      </p:sp>
      <p:sp>
        <p:nvSpPr>
          <p:cNvPr id="22" name="TextBox 21"/>
          <p:cNvSpPr txBox="1"/>
          <p:nvPr/>
        </p:nvSpPr>
        <p:spPr>
          <a:xfrm>
            <a:off x="2560320" y="1188720"/>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23" name="Rounded Rectangle 22"/>
          <p:cNvSpPr/>
          <p:nvPr/>
        </p:nvSpPr>
        <p:spPr>
          <a:xfrm>
            <a:off x="4764024" y="1497505"/>
            <a:ext cx="1993392" cy="4228748"/>
          </a:xfrm>
          <a:prstGeom prst="roundRect">
            <a:avLst>
              <a:gd name="adj" fmla="val 2000"/>
            </a:avLst>
          </a:prstGeom>
          <a:solidFill>
            <a:srgbClr val="D5E3E2"/>
          </a:solidFill>
          <a:ln>
            <a:noFill/>
          </a:ln>
          <a:effectLst/>
        </p:spPr>
        <p:txBody>
          <a:bodyPr rtlCol="0" anchor="ctr"/>
          <a:lstStyle/>
          <a:p>
            <a:pPr algn="ctr"/>
          </a:p>
        </p:txBody>
      </p:sp>
      <p:pic>
        <p:nvPicPr>
          <p:cNvPr id="24" name="Picture 23" descr="m_saved.png"/>
          <p:cNvPicPr>
            <a:picLocks noChangeAspect="1"/>
          </p:cNvPicPr>
          <p:nvPr/>
        </p:nvPicPr>
        <p:blipFill>
          <a:blip r:embed="rId4"/>
          <a:stretch>
            <a:fillRect/>
          </a:stretch>
        </p:blipFill>
        <p:spPr>
          <a:xfrm>
            <a:off x="4800600" y="1534081"/>
            <a:ext cx="1920240" cy="4155596"/>
          </a:xfrm>
          <a:prstGeom prst="rect">
            <a:avLst/>
          </a:prstGeom>
        </p:spPr>
      </p:pic>
      <p:sp>
        <p:nvSpPr>
          <p:cNvPr id="25" name="Oval 24"/>
          <p:cNvSpPr/>
          <p:nvPr/>
        </p:nvSpPr>
        <p:spPr>
          <a:xfrm>
            <a:off x="4709160" y="1188720"/>
            <a:ext cx="347472" cy="347472"/>
          </a:xfrm>
          <a:prstGeom prst="ellipse">
            <a:avLst/>
          </a:prstGeom>
          <a:solidFill>
            <a:srgbClr val="F4A261"/>
          </a:solidFill>
          <a:ln>
            <a:noFill/>
          </a:ln>
          <a:effectLst/>
        </p:spPr>
        <p:txBody>
          <a:bodyPr rtlCol="0" anchor="ctr"/>
          <a:lstStyle/>
          <a:p>
            <a:pPr algn="ctr"/>
          </a:p>
        </p:txBody>
      </p:sp>
      <p:sp>
        <p:nvSpPr>
          <p:cNvPr id="26" name="TextBox 25"/>
          <p:cNvSpPr txBox="1"/>
          <p:nvPr/>
        </p:nvSpPr>
        <p:spPr>
          <a:xfrm>
            <a:off x="4709160" y="1188720"/>
            <a:ext cx="347472" cy="347472"/>
          </a:xfrm>
          <a:prstGeom prst="rect">
            <a:avLst/>
          </a:prstGeom>
          <a:noFill/>
        </p:spPr>
        <p:txBody>
          <a:bodyPr wrap="square" anchor="ctr" lIns="0" rIns="0" tIns="0" bIns="0">
            <a:spAutoFit/>
          </a:bodyPr>
          <a:lstStyle/>
          <a:p>
            <a:pPr algn="ctr"/>
            <a:r>
              <a:rPr sz="1300" b="1" i="0">
                <a:solidFill>
                  <a:srgbClr val="FFFFFF"/>
                </a:solidFill>
                <a:latin typeface="Aptos"/>
              </a:rPr>
              <a:t>3</a:t>
            </a:r>
          </a:p>
        </p:txBody>
      </p:sp>
      <p:sp>
        <p:nvSpPr>
          <p:cNvPr id="27" name="Oval 26"/>
          <p:cNvSpPr/>
          <p:nvPr/>
        </p:nvSpPr>
        <p:spPr>
          <a:xfrm>
            <a:off x="7132320" y="1435608"/>
            <a:ext cx="347472" cy="347472"/>
          </a:xfrm>
          <a:prstGeom prst="ellipse">
            <a:avLst/>
          </a:prstGeom>
          <a:solidFill>
            <a:srgbClr val="F4A261"/>
          </a:solidFill>
          <a:ln>
            <a:noFill/>
          </a:ln>
          <a:effectLst/>
        </p:spPr>
        <p:txBody>
          <a:bodyPr rtlCol="0" anchor="ctr"/>
          <a:lstStyle/>
          <a:p>
            <a:pPr algn="ctr"/>
          </a:p>
        </p:txBody>
      </p:sp>
      <p:sp>
        <p:nvSpPr>
          <p:cNvPr id="28" name="TextBox 27"/>
          <p:cNvSpPr txBox="1"/>
          <p:nvPr/>
        </p:nvSpPr>
        <p:spPr>
          <a:xfrm>
            <a:off x="7132320" y="1435608"/>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29" name="TextBox 28"/>
          <p:cNvSpPr txBox="1"/>
          <p:nvPr/>
        </p:nvSpPr>
        <p:spPr>
          <a:xfrm>
            <a:off x="7635240" y="1417320"/>
            <a:ext cx="4069080" cy="310896"/>
          </a:xfrm>
          <a:prstGeom prst="rect">
            <a:avLst/>
          </a:prstGeom>
          <a:noFill/>
        </p:spPr>
        <p:txBody>
          <a:bodyPr wrap="square" anchor="t" lIns="0" rIns="0" tIns="0" bIns="0">
            <a:spAutoFit/>
          </a:bodyPr>
          <a:lstStyle/>
          <a:p>
            <a:pPr algn="l"/>
            <a:r>
              <a:rPr sz="1500" b="1" i="0">
                <a:solidFill>
                  <a:srgbClr val="0F4C47"/>
                </a:solidFill>
                <a:latin typeface="Aptos"/>
              </a:rPr>
              <a:t>Chọn học sinh</a:t>
            </a:r>
          </a:p>
        </p:txBody>
      </p:sp>
      <p:sp>
        <p:nvSpPr>
          <p:cNvPr id="30" name="TextBox 29"/>
          <p:cNvSpPr txBox="1"/>
          <p:nvPr/>
        </p:nvSpPr>
        <p:spPr>
          <a:xfrm>
            <a:off x="7635240" y="1746504"/>
            <a:ext cx="4069080" cy="640080"/>
          </a:xfrm>
          <a:prstGeom prst="rect">
            <a:avLst/>
          </a:prstGeom>
          <a:noFill/>
        </p:spPr>
        <p:txBody>
          <a:bodyPr wrap="square" anchor="t" lIns="0" rIns="0" tIns="0" bIns="0">
            <a:spAutoFit/>
          </a:bodyPr>
          <a:lstStyle/>
          <a:p>
            <a:pPr algn="l"/>
            <a:r>
              <a:rPr sz="1300" b="0" i="0">
                <a:solidFill>
                  <a:srgbClr val="1F2D2C"/>
                </a:solidFill>
                <a:latin typeface="Aptos"/>
              </a:rPr>
              <a:t>Danh sách theo tổ, tìm nhanh theo tên; tổ trưởng chỉ thấy tổ mình.</a:t>
            </a:r>
          </a:p>
        </p:txBody>
      </p:sp>
      <p:sp>
        <p:nvSpPr>
          <p:cNvPr id="31" name="Oval 30"/>
          <p:cNvSpPr/>
          <p:nvPr/>
        </p:nvSpPr>
        <p:spPr>
          <a:xfrm>
            <a:off x="7132320" y="2898648"/>
            <a:ext cx="347472" cy="347472"/>
          </a:xfrm>
          <a:prstGeom prst="ellipse">
            <a:avLst/>
          </a:prstGeom>
          <a:solidFill>
            <a:srgbClr val="F4A261"/>
          </a:solidFill>
          <a:ln>
            <a:noFill/>
          </a:ln>
          <a:effectLst/>
        </p:spPr>
        <p:txBody>
          <a:bodyPr rtlCol="0" anchor="ctr"/>
          <a:lstStyle/>
          <a:p>
            <a:pPr algn="ctr"/>
          </a:p>
        </p:txBody>
      </p:sp>
      <p:sp>
        <p:nvSpPr>
          <p:cNvPr id="32" name="TextBox 31"/>
          <p:cNvSpPr txBox="1"/>
          <p:nvPr/>
        </p:nvSpPr>
        <p:spPr>
          <a:xfrm>
            <a:off x="7132320" y="2898648"/>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33" name="TextBox 32"/>
          <p:cNvSpPr txBox="1"/>
          <p:nvPr/>
        </p:nvSpPr>
        <p:spPr>
          <a:xfrm>
            <a:off x="7635240" y="2880360"/>
            <a:ext cx="4069080" cy="310896"/>
          </a:xfrm>
          <a:prstGeom prst="rect">
            <a:avLst/>
          </a:prstGeom>
          <a:noFill/>
        </p:spPr>
        <p:txBody>
          <a:bodyPr wrap="square" anchor="t" lIns="0" rIns="0" tIns="0" bIns="0">
            <a:spAutoFit/>
          </a:bodyPr>
          <a:lstStyle/>
          <a:p>
            <a:pPr algn="l"/>
            <a:r>
              <a:rPr sz="1500" b="1" i="0">
                <a:solidFill>
                  <a:srgbClr val="0F4C47"/>
                </a:solidFill>
                <a:latin typeface="Aptos"/>
              </a:rPr>
              <a:t>Chọn lỗi hoặc điểm cộng</a:t>
            </a:r>
          </a:p>
        </p:txBody>
      </p:sp>
      <p:sp>
        <p:nvSpPr>
          <p:cNvPr id="34" name="TextBox 33"/>
          <p:cNvSpPr txBox="1"/>
          <p:nvPr/>
        </p:nvSpPr>
        <p:spPr>
          <a:xfrm>
            <a:off x="7635240" y="3209544"/>
            <a:ext cx="4069080" cy="640080"/>
          </a:xfrm>
          <a:prstGeom prst="rect">
            <a:avLst/>
          </a:prstGeom>
          <a:noFill/>
        </p:spPr>
        <p:txBody>
          <a:bodyPr wrap="square" anchor="t" lIns="0" rIns="0" tIns="0" bIns="0">
            <a:spAutoFit/>
          </a:bodyPr>
          <a:lstStyle/>
          <a:p>
            <a:pPr algn="l"/>
            <a:r>
              <a:rPr sz="1300" b="0" i="0">
                <a:solidFill>
                  <a:srgbClr val="1F2D2C"/>
                </a:solidFill>
                <a:latin typeface="Aptos"/>
              </a:rPr>
              <a:t>Danh mục do cô quy định sẵn; có thể ghi chú, chụp ảnh bằng chứng.</a:t>
            </a:r>
          </a:p>
        </p:txBody>
      </p:sp>
      <p:sp>
        <p:nvSpPr>
          <p:cNvPr id="35" name="Oval 34"/>
          <p:cNvSpPr/>
          <p:nvPr/>
        </p:nvSpPr>
        <p:spPr>
          <a:xfrm>
            <a:off x="7132320" y="4361688"/>
            <a:ext cx="347472" cy="347472"/>
          </a:xfrm>
          <a:prstGeom prst="ellipse">
            <a:avLst/>
          </a:prstGeom>
          <a:solidFill>
            <a:srgbClr val="F4A261"/>
          </a:solidFill>
          <a:ln>
            <a:noFill/>
          </a:ln>
          <a:effectLst/>
        </p:spPr>
        <p:txBody>
          <a:bodyPr rtlCol="0" anchor="ctr"/>
          <a:lstStyle/>
          <a:p>
            <a:pPr algn="ctr"/>
          </a:p>
        </p:txBody>
      </p:sp>
      <p:sp>
        <p:nvSpPr>
          <p:cNvPr id="36" name="TextBox 35"/>
          <p:cNvSpPr txBox="1"/>
          <p:nvPr/>
        </p:nvSpPr>
        <p:spPr>
          <a:xfrm>
            <a:off x="7132320" y="4361688"/>
            <a:ext cx="347472" cy="347472"/>
          </a:xfrm>
          <a:prstGeom prst="rect">
            <a:avLst/>
          </a:prstGeom>
          <a:noFill/>
        </p:spPr>
        <p:txBody>
          <a:bodyPr wrap="square" anchor="ctr" lIns="0" rIns="0" tIns="0" bIns="0">
            <a:spAutoFit/>
          </a:bodyPr>
          <a:lstStyle/>
          <a:p>
            <a:pPr algn="ctr"/>
            <a:r>
              <a:rPr sz="1300" b="1" i="0">
                <a:solidFill>
                  <a:srgbClr val="FFFFFF"/>
                </a:solidFill>
                <a:latin typeface="Aptos"/>
              </a:rPr>
              <a:t>3</a:t>
            </a:r>
          </a:p>
        </p:txBody>
      </p:sp>
      <p:sp>
        <p:nvSpPr>
          <p:cNvPr id="37" name="TextBox 36"/>
          <p:cNvSpPr txBox="1"/>
          <p:nvPr/>
        </p:nvSpPr>
        <p:spPr>
          <a:xfrm>
            <a:off x="7635240" y="4343400"/>
            <a:ext cx="4069080" cy="310896"/>
          </a:xfrm>
          <a:prstGeom prst="rect">
            <a:avLst/>
          </a:prstGeom>
          <a:noFill/>
        </p:spPr>
        <p:txBody>
          <a:bodyPr wrap="square" anchor="t" lIns="0" rIns="0" tIns="0" bIns="0">
            <a:spAutoFit/>
          </a:bodyPr>
          <a:lstStyle/>
          <a:p>
            <a:pPr algn="l"/>
            <a:r>
              <a:rPr sz="1500" b="1" i="0">
                <a:solidFill>
                  <a:srgbClr val="0F4C47"/>
                </a:solidFill>
                <a:latin typeface="Aptos"/>
              </a:rPr>
              <a:t>Lưu là xong</a:t>
            </a:r>
          </a:p>
        </p:txBody>
      </p:sp>
      <p:sp>
        <p:nvSpPr>
          <p:cNvPr id="38" name="TextBox 37"/>
          <p:cNvSpPr txBox="1"/>
          <p:nvPr/>
        </p:nvSpPr>
        <p:spPr>
          <a:xfrm>
            <a:off x="7635240" y="4672584"/>
            <a:ext cx="4069080" cy="640080"/>
          </a:xfrm>
          <a:prstGeom prst="rect">
            <a:avLst/>
          </a:prstGeom>
          <a:noFill/>
        </p:spPr>
        <p:txBody>
          <a:bodyPr wrap="square" anchor="t" lIns="0" rIns="0" tIns="0" bIns="0">
            <a:spAutoFit/>
          </a:bodyPr>
          <a:lstStyle/>
          <a:p>
            <a:pPr algn="l"/>
            <a:r>
              <a:rPr sz="1300" b="0" i="0">
                <a:solidFill>
                  <a:srgbClr val="1F2D2C"/>
                </a:solidFill>
                <a:latin typeface="Aptos"/>
              </a:rPr>
              <a:t>Điểm hiện ngay, không phải chờ; mạng yếu thì app tự gửi lại sau.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10</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Cô chủ nhiệm thấy cả lớp, biết từng điểm đến từ đâu</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app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Rounded Rectangle 14"/>
          <p:cNvSpPr/>
          <p:nvPr/>
        </p:nvSpPr>
        <p:spPr>
          <a:xfrm>
            <a:off x="384048" y="1392174"/>
            <a:ext cx="6839712" cy="4302252"/>
          </a:xfrm>
          <a:prstGeom prst="roundRect">
            <a:avLst>
              <a:gd name="adj" fmla="val 2000"/>
            </a:avLst>
          </a:prstGeom>
          <a:solidFill>
            <a:srgbClr val="D5E3E2"/>
          </a:solidFill>
          <a:ln>
            <a:noFill/>
          </a:ln>
          <a:effectLst/>
        </p:spPr>
        <p:txBody>
          <a:bodyPr rtlCol="0" anchor="ctr"/>
          <a:lstStyle/>
          <a:p>
            <a:pPr algn="ctr"/>
          </a:p>
        </p:txBody>
      </p:sp>
      <p:pic>
        <p:nvPicPr>
          <p:cNvPr id="16" name="Picture 15" descr="d_tip.png"/>
          <p:cNvPicPr>
            <a:picLocks noChangeAspect="1"/>
          </p:cNvPicPr>
          <p:nvPr/>
        </p:nvPicPr>
        <p:blipFill>
          <a:blip r:embed="rId2"/>
          <a:stretch>
            <a:fillRect/>
          </a:stretch>
        </p:blipFill>
        <p:spPr>
          <a:xfrm>
            <a:off x="420624" y="1428750"/>
            <a:ext cx="6766560" cy="4229100"/>
          </a:xfrm>
          <a:prstGeom prst="rect">
            <a:avLst/>
          </a:prstGeom>
        </p:spPr>
      </p:pic>
      <p:sp>
        <p:nvSpPr>
          <p:cNvPr id="17" name="Oval 16"/>
          <p:cNvSpPr/>
          <p:nvPr/>
        </p:nvSpPr>
        <p:spPr>
          <a:xfrm>
            <a:off x="7498079" y="1280160"/>
            <a:ext cx="512064" cy="512064"/>
          </a:xfrm>
          <a:prstGeom prst="ellipse">
            <a:avLst/>
          </a:prstGeom>
          <a:solidFill>
            <a:srgbClr val="E0F2F1"/>
          </a:solidFill>
          <a:ln>
            <a:noFill/>
          </a:ln>
          <a:effectLst/>
        </p:spPr>
        <p:txBody>
          <a:bodyPr rtlCol="0" anchor="ctr"/>
          <a:lstStyle/>
          <a:p>
            <a:pPr algn="ctr"/>
          </a:p>
        </p:txBody>
      </p:sp>
      <p:pic>
        <p:nvPicPr>
          <p:cNvPr id="18" name="Picture 17" descr="chart_2A9D8F.png"/>
          <p:cNvPicPr>
            <a:picLocks noChangeAspect="1"/>
          </p:cNvPicPr>
          <p:nvPr/>
        </p:nvPicPr>
        <p:blipFill>
          <a:blip r:embed="rId3"/>
          <a:stretch>
            <a:fillRect/>
          </a:stretch>
        </p:blipFill>
        <p:spPr>
          <a:xfrm>
            <a:off x="7610734" y="1392814"/>
            <a:ext cx="286755" cy="286755"/>
          </a:xfrm>
          <a:prstGeom prst="rect">
            <a:avLst/>
          </a:prstGeom>
        </p:spPr>
      </p:pic>
      <p:sp>
        <p:nvSpPr>
          <p:cNvPr id="19" name="TextBox 18"/>
          <p:cNvSpPr txBox="1"/>
          <p:nvPr/>
        </p:nvSpPr>
        <p:spPr>
          <a:xfrm>
            <a:off x="8156448" y="1243584"/>
            <a:ext cx="3611880" cy="292608"/>
          </a:xfrm>
          <a:prstGeom prst="rect">
            <a:avLst/>
          </a:prstGeom>
          <a:noFill/>
        </p:spPr>
        <p:txBody>
          <a:bodyPr wrap="square" anchor="t" lIns="0" rIns="0" tIns="0" bIns="0">
            <a:spAutoFit/>
          </a:bodyPr>
          <a:lstStyle/>
          <a:p>
            <a:pPr algn="l"/>
            <a:r>
              <a:rPr sz="1500" b="1" i="0">
                <a:solidFill>
                  <a:srgbClr val="0F4C47"/>
                </a:solidFill>
                <a:latin typeface="Aptos"/>
              </a:rPr>
              <a:t>Bảng tổng hợp theo tuần</a:t>
            </a:r>
          </a:p>
        </p:txBody>
      </p:sp>
      <p:sp>
        <p:nvSpPr>
          <p:cNvPr id="20" name="TextBox 19"/>
          <p:cNvSpPr txBox="1"/>
          <p:nvPr/>
        </p:nvSpPr>
        <p:spPr>
          <a:xfrm>
            <a:off x="8156448" y="1554480"/>
            <a:ext cx="3611880" cy="548640"/>
          </a:xfrm>
          <a:prstGeom prst="rect">
            <a:avLst/>
          </a:prstGeom>
          <a:noFill/>
        </p:spPr>
        <p:txBody>
          <a:bodyPr wrap="square" anchor="t" lIns="0" rIns="0" tIns="0" bIns="0">
            <a:spAutoFit/>
          </a:bodyPr>
          <a:lstStyle/>
          <a:p>
            <a:pPr algn="l"/>
            <a:r>
              <a:rPr sz="1250" b="0" i="0">
                <a:solidFill>
                  <a:srgbClr val="1F2D2C"/>
                </a:solidFill>
                <a:latin typeface="Aptos"/>
              </a:rPr>
              <a:t>Điểm, xếp loại từng học sinh, so sánh giữa các tổ.</a:t>
            </a:r>
          </a:p>
        </p:txBody>
      </p:sp>
      <p:sp>
        <p:nvSpPr>
          <p:cNvPr id="21" name="Oval 20"/>
          <p:cNvSpPr/>
          <p:nvPr/>
        </p:nvSpPr>
        <p:spPr>
          <a:xfrm>
            <a:off x="7498079" y="2194560"/>
            <a:ext cx="512064" cy="512064"/>
          </a:xfrm>
          <a:prstGeom prst="ellipse">
            <a:avLst/>
          </a:prstGeom>
          <a:solidFill>
            <a:srgbClr val="E0F2F1"/>
          </a:solidFill>
          <a:ln>
            <a:noFill/>
          </a:ln>
          <a:effectLst/>
        </p:spPr>
        <p:txBody>
          <a:bodyPr rtlCol="0" anchor="ctr"/>
          <a:lstStyle/>
          <a:p>
            <a:pPr algn="ctr"/>
          </a:p>
        </p:txBody>
      </p:sp>
      <p:pic>
        <p:nvPicPr>
          <p:cNvPr id="22" name="Picture 21" descr="eye_2A9D8F.png"/>
          <p:cNvPicPr>
            <a:picLocks noChangeAspect="1"/>
          </p:cNvPicPr>
          <p:nvPr/>
        </p:nvPicPr>
        <p:blipFill>
          <a:blip r:embed="rId4"/>
          <a:stretch>
            <a:fillRect/>
          </a:stretch>
        </p:blipFill>
        <p:spPr>
          <a:xfrm>
            <a:off x="7610734" y="2307214"/>
            <a:ext cx="286755" cy="286755"/>
          </a:xfrm>
          <a:prstGeom prst="rect">
            <a:avLst/>
          </a:prstGeom>
        </p:spPr>
      </p:pic>
      <p:sp>
        <p:nvSpPr>
          <p:cNvPr id="23" name="TextBox 22"/>
          <p:cNvSpPr txBox="1"/>
          <p:nvPr/>
        </p:nvSpPr>
        <p:spPr>
          <a:xfrm>
            <a:off x="8156448" y="2157984"/>
            <a:ext cx="3611880" cy="292608"/>
          </a:xfrm>
          <a:prstGeom prst="rect">
            <a:avLst/>
          </a:prstGeom>
          <a:noFill/>
        </p:spPr>
        <p:txBody>
          <a:bodyPr wrap="square" anchor="t" lIns="0" rIns="0" tIns="0" bIns="0">
            <a:spAutoFit/>
          </a:bodyPr>
          <a:lstStyle/>
          <a:p>
            <a:pPr algn="l"/>
            <a:r>
              <a:rPr sz="1500" b="1" i="0">
                <a:solidFill>
                  <a:srgbClr val="0F4C47"/>
                </a:solidFill>
                <a:latin typeface="Aptos"/>
              </a:rPr>
              <a:t>Rê chuột xem nguồn điểm</a:t>
            </a:r>
          </a:p>
        </p:txBody>
      </p:sp>
      <p:sp>
        <p:nvSpPr>
          <p:cNvPr id="24" name="TextBox 23"/>
          <p:cNvSpPr txBox="1"/>
          <p:nvPr/>
        </p:nvSpPr>
        <p:spPr>
          <a:xfrm>
            <a:off x="8156448" y="2468879"/>
            <a:ext cx="3611880" cy="548640"/>
          </a:xfrm>
          <a:prstGeom prst="rect">
            <a:avLst/>
          </a:prstGeom>
          <a:noFill/>
        </p:spPr>
        <p:txBody>
          <a:bodyPr wrap="square" anchor="t" lIns="0" rIns="0" tIns="0" bIns="0">
            <a:spAutoFit/>
          </a:bodyPr>
          <a:lstStyle/>
          <a:p>
            <a:pPr algn="l"/>
            <a:r>
              <a:rPr sz="1250" b="0" i="0">
                <a:solidFill>
                  <a:srgbClr val="1F2D2C"/>
                </a:solidFill>
                <a:latin typeface="Aptos"/>
              </a:rPr>
              <a:t>Biết ngay +7, −5 đến từ việc gì, ngày nào, ai ghi.</a:t>
            </a:r>
          </a:p>
        </p:txBody>
      </p:sp>
      <p:sp>
        <p:nvSpPr>
          <p:cNvPr id="25" name="Oval 24"/>
          <p:cNvSpPr/>
          <p:nvPr/>
        </p:nvSpPr>
        <p:spPr>
          <a:xfrm>
            <a:off x="7498079" y="3108960"/>
            <a:ext cx="512064" cy="512064"/>
          </a:xfrm>
          <a:prstGeom prst="ellipse">
            <a:avLst/>
          </a:prstGeom>
          <a:solidFill>
            <a:srgbClr val="E0F2F1"/>
          </a:solidFill>
          <a:ln>
            <a:noFill/>
          </a:ln>
          <a:effectLst/>
        </p:spPr>
        <p:txBody>
          <a:bodyPr rtlCol="0" anchor="ctr"/>
          <a:lstStyle/>
          <a:p>
            <a:pPr algn="ctr"/>
          </a:p>
        </p:txBody>
      </p:sp>
      <p:pic>
        <p:nvPicPr>
          <p:cNvPr id="26" name="Picture 25" descr="search_2A9D8F.png"/>
          <p:cNvPicPr>
            <a:picLocks noChangeAspect="1"/>
          </p:cNvPicPr>
          <p:nvPr/>
        </p:nvPicPr>
        <p:blipFill>
          <a:blip r:embed="rId5"/>
          <a:stretch>
            <a:fillRect/>
          </a:stretch>
        </p:blipFill>
        <p:spPr>
          <a:xfrm>
            <a:off x="7610734" y="3221614"/>
            <a:ext cx="286755" cy="286755"/>
          </a:xfrm>
          <a:prstGeom prst="rect">
            <a:avLst/>
          </a:prstGeom>
        </p:spPr>
      </p:pic>
      <p:sp>
        <p:nvSpPr>
          <p:cNvPr id="27" name="TextBox 26"/>
          <p:cNvSpPr txBox="1"/>
          <p:nvPr/>
        </p:nvSpPr>
        <p:spPr>
          <a:xfrm>
            <a:off x="8156448" y="3072384"/>
            <a:ext cx="3611880" cy="292608"/>
          </a:xfrm>
          <a:prstGeom prst="rect">
            <a:avLst/>
          </a:prstGeom>
          <a:noFill/>
        </p:spPr>
        <p:txBody>
          <a:bodyPr wrap="square" anchor="t" lIns="0" rIns="0" tIns="0" bIns="0">
            <a:spAutoFit/>
          </a:bodyPr>
          <a:lstStyle/>
          <a:p>
            <a:pPr algn="l"/>
            <a:r>
              <a:rPr sz="1500" b="1" i="0">
                <a:solidFill>
                  <a:srgbClr val="0F4C47"/>
                </a:solidFill>
                <a:latin typeface="Aptos"/>
              </a:rPr>
              <a:t>Tìm kiếm thông minh</a:t>
            </a:r>
          </a:p>
        </p:txBody>
      </p:sp>
      <p:sp>
        <p:nvSpPr>
          <p:cNvPr id="28" name="TextBox 27"/>
          <p:cNvSpPr txBox="1"/>
          <p:nvPr/>
        </p:nvSpPr>
        <p:spPr>
          <a:xfrm>
            <a:off x="8156448" y="3383279"/>
            <a:ext cx="3611880" cy="548640"/>
          </a:xfrm>
          <a:prstGeom prst="rect">
            <a:avLst/>
          </a:prstGeom>
          <a:noFill/>
        </p:spPr>
        <p:txBody>
          <a:bodyPr wrap="square" anchor="t" lIns="0" rIns="0" tIns="0" bIns="0">
            <a:spAutoFit/>
          </a:bodyPr>
          <a:lstStyle/>
          <a:p>
            <a:pPr algn="l"/>
            <a:r>
              <a:rPr sz="1250" b="0" i="0">
                <a:solidFill>
                  <a:srgbClr val="1F2D2C"/>
                </a:solidFill>
                <a:latin typeface="Aptos"/>
              </a:rPr>
              <a:t>Gõ "tổ 2 vi phạm" hay tên một em là ra kết quả.</a:t>
            </a:r>
          </a:p>
        </p:txBody>
      </p:sp>
      <p:sp>
        <p:nvSpPr>
          <p:cNvPr id="29" name="Oval 28"/>
          <p:cNvSpPr/>
          <p:nvPr/>
        </p:nvSpPr>
        <p:spPr>
          <a:xfrm>
            <a:off x="7498079" y="4023360"/>
            <a:ext cx="512064" cy="512064"/>
          </a:xfrm>
          <a:prstGeom prst="ellipse">
            <a:avLst/>
          </a:prstGeom>
          <a:solidFill>
            <a:srgbClr val="E0F2F1"/>
          </a:solidFill>
          <a:ln>
            <a:noFill/>
          </a:ln>
          <a:effectLst/>
        </p:spPr>
        <p:txBody>
          <a:bodyPr rtlCol="0" anchor="ctr"/>
          <a:lstStyle/>
          <a:p>
            <a:pPr algn="ctr"/>
          </a:p>
        </p:txBody>
      </p:sp>
      <p:pic>
        <p:nvPicPr>
          <p:cNvPr id="30" name="Picture 29" descr="clock_2A9D8F.png"/>
          <p:cNvPicPr>
            <a:picLocks noChangeAspect="1"/>
          </p:cNvPicPr>
          <p:nvPr/>
        </p:nvPicPr>
        <p:blipFill>
          <a:blip r:embed="rId6"/>
          <a:stretch>
            <a:fillRect/>
          </a:stretch>
        </p:blipFill>
        <p:spPr>
          <a:xfrm>
            <a:off x="7610734" y="4136014"/>
            <a:ext cx="286755" cy="286755"/>
          </a:xfrm>
          <a:prstGeom prst="rect">
            <a:avLst/>
          </a:prstGeom>
        </p:spPr>
      </p:pic>
      <p:sp>
        <p:nvSpPr>
          <p:cNvPr id="31" name="TextBox 30"/>
          <p:cNvSpPr txBox="1"/>
          <p:nvPr/>
        </p:nvSpPr>
        <p:spPr>
          <a:xfrm>
            <a:off x="8156448" y="3986784"/>
            <a:ext cx="3611880" cy="292608"/>
          </a:xfrm>
          <a:prstGeom prst="rect">
            <a:avLst/>
          </a:prstGeom>
          <a:noFill/>
        </p:spPr>
        <p:txBody>
          <a:bodyPr wrap="square" anchor="t" lIns="0" rIns="0" tIns="0" bIns="0">
            <a:spAutoFit/>
          </a:bodyPr>
          <a:lstStyle/>
          <a:p>
            <a:pPr algn="l"/>
            <a:r>
              <a:rPr sz="1500" b="1" i="0">
                <a:solidFill>
                  <a:srgbClr val="0F4C47"/>
                </a:solidFill>
                <a:latin typeface="Aptos"/>
              </a:rPr>
              <a:t>Cập nhật trực tiếp</a:t>
            </a:r>
          </a:p>
        </p:txBody>
      </p:sp>
      <p:sp>
        <p:nvSpPr>
          <p:cNvPr id="32" name="TextBox 31"/>
          <p:cNvSpPr txBox="1"/>
          <p:nvPr/>
        </p:nvSpPr>
        <p:spPr>
          <a:xfrm>
            <a:off x="8156448" y="4297680"/>
            <a:ext cx="3611880" cy="548640"/>
          </a:xfrm>
          <a:prstGeom prst="rect">
            <a:avLst/>
          </a:prstGeom>
          <a:noFill/>
        </p:spPr>
        <p:txBody>
          <a:bodyPr wrap="square" anchor="t" lIns="0" rIns="0" tIns="0" bIns="0">
            <a:spAutoFit/>
          </a:bodyPr>
          <a:lstStyle/>
          <a:p>
            <a:pPr algn="l"/>
            <a:r>
              <a:rPr sz="1250" b="0" i="0">
                <a:solidFill>
                  <a:srgbClr val="1F2D2C"/>
                </a:solidFill>
                <a:latin typeface="Aptos"/>
              </a:rPr>
              <a:t>Lớp vừa ghi, màn hình của cô tự hiện thay đổi.</a:t>
            </a:r>
          </a:p>
        </p:txBody>
      </p:sp>
      <p:sp>
        <p:nvSpPr>
          <p:cNvPr id="33" name="Oval 32"/>
          <p:cNvSpPr/>
          <p:nvPr/>
        </p:nvSpPr>
        <p:spPr>
          <a:xfrm>
            <a:off x="7498079" y="4937760"/>
            <a:ext cx="512064" cy="512064"/>
          </a:xfrm>
          <a:prstGeom prst="ellipse">
            <a:avLst/>
          </a:prstGeom>
          <a:solidFill>
            <a:srgbClr val="E0F2F1"/>
          </a:solidFill>
          <a:ln>
            <a:noFill/>
          </a:ln>
          <a:effectLst/>
        </p:spPr>
        <p:txBody>
          <a:bodyPr rtlCol="0" anchor="ctr"/>
          <a:lstStyle/>
          <a:p>
            <a:pPr algn="ctr"/>
          </a:p>
        </p:txBody>
      </p:sp>
      <p:pic>
        <p:nvPicPr>
          <p:cNvPr id="34" name="Picture 33" descr="shield_2A9D8F.png"/>
          <p:cNvPicPr>
            <a:picLocks noChangeAspect="1"/>
          </p:cNvPicPr>
          <p:nvPr/>
        </p:nvPicPr>
        <p:blipFill>
          <a:blip r:embed="rId7"/>
          <a:stretch>
            <a:fillRect/>
          </a:stretch>
        </p:blipFill>
        <p:spPr>
          <a:xfrm>
            <a:off x="7610734" y="5050414"/>
            <a:ext cx="286755" cy="286755"/>
          </a:xfrm>
          <a:prstGeom prst="rect">
            <a:avLst/>
          </a:prstGeom>
        </p:spPr>
      </p:pic>
      <p:sp>
        <p:nvSpPr>
          <p:cNvPr id="35" name="TextBox 34"/>
          <p:cNvSpPr txBox="1"/>
          <p:nvPr/>
        </p:nvSpPr>
        <p:spPr>
          <a:xfrm>
            <a:off x="8156448" y="4901184"/>
            <a:ext cx="3611880" cy="292608"/>
          </a:xfrm>
          <a:prstGeom prst="rect">
            <a:avLst/>
          </a:prstGeom>
          <a:noFill/>
        </p:spPr>
        <p:txBody>
          <a:bodyPr wrap="square" anchor="t" lIns="0" rIns="0" tIns="0" bIns="0">
            <a:spAutoFit/>
          </a:bodyPr>
          <a:lstStyle/>
          <a:p>
            <a:pPr algn="l"/>
            <a:r>
              <a:rPr sz="1500" b="1" i="0">
                <a:solidFill>
                  <a:srgbClr val="0F4C47"/>
                </a:solidFill>
                <a:latin typeface="Aptos"/>
              </a:rPr>
              <a:t>Chốt tháng</a:t>
            </a:r>
          </a:p>
        </p:txBody>
      </p:sp>
      <p:sp>
        <p:nvSpPr>
          <p:cNvPr id="36" name="TextBox 35"/>
          <p:cNvSpPr txBox="1"/>
          <p:nvPr/>
        </p:nvSpPr>
        <p:spPr>
          <a:xfrm>
            <a:off x="8156448" y="5212080"/>
            <a:ext cx="3611880" cy="548640"/>
          </a:xfrm>
          <a:prstGeom prst="rect">
            <a:avLst/>
          </a:prstGeom>
          <a:noFill/>
        </p:spPr>
        <p:txBody>
          <a:bodyPr wrap="square" anchor="t" lIns="0" rIns="0" tIns="0" bIns="0">
            <a:spAutoFit/>
          </a:bodyPr>
          <a:lstStyle/>
          <a:p>
            <a:pPr algn="l"/>
            <a:r>
              <a:rPr sz="1250" b="0" i="0">
                <a:solidFill>
                  <a:srgbClr val="1F2D2C"/>
                </a:solidFill>
                <a:latin typeface="Aptos"/>
              </a:rPr>
              <a:t>Khoá dữ liệu tháng đã xếp loại, chỉ cô mở lại được.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11</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Báo cáo tự soạn, in ngay ra PDF, luôn có lời nhận xét của cô</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app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Rounded Rectangle 14"/>
          <p:cNvSpPr/>
          <p:nvPr/>
        </p:nvSpPr>
        <p:spPr>
          <a:xfrm>
            <a:off x="384048" y="1243584"/>
            <a:ext cx="5925312" cy="3730752"/>
          </a:xfrm>
          <a:prstGeom prst="roundRect">
            <a:avLst>
              <a:gd name="adj" fmla="val 2000"/>
            </a:avLst>
          </a:prstGeom>
          <a:solidFill>
            <a:srgbClr val="D5E3E2"/>
          </a:solidFill>
          <a:ln>
            <a:noFill/>
          </a:ln>
          <a:effectLst/>
        </p:spPr>
        <p:txBody>
          <a:bodyPr rtlCol="0" anchor="ctr"/>
          <a:lstStyle/>
          <a:p>
            <a:pPr algn="ctr"/>
          </a:p>
        </p:txBody>
      </p:sp>
      <p:pic>
        <p:nvPicPr>
          <p:cNvPr id="16" name="Picture 15" descr="d_bc.png"/>
          <p:cNvPicPr>
            <a:picLocks noChangeAspect="1"/>
          </p:cNvPicPr>
          <p:nvPr/>
        </p:nvPicPr>
        <p:blipFill>
          <a:blip r:embed="rId2"/>
          <a:stretch>
            <a:fillRect/>
          </a:stretch>
        </p:blipFill>
        <p:spPr>
          <a:xfrm>
            <a:off x="420624" y="1280160"/>
            <a:ext cx="5852160" cy="3657600"/>
          </a:xfrm>
          <a:prstGeom prst="rect">
            <a:avLst/>
          </a:prstGeom>
        </p:spPr>
      </p:pic>
      <p:sp>
        <p:nvSpPr>
          <p:cNvPr id="17" name="Rounded Rectangle 16"/>
          <p:cNvSpPr/>
          <p:nvPr/>
        </p:nvSpPr>
        <p:spPr>
          <a:xfrm>
            <a:off x="7814990" y="1243584"/>
            <a:ext cx="2658019" cy="1901952"/>
          </a:xfrm>
          <a:prstGeom prst="roundRect">
            <a:avLst>
              <a:gd name="adj" fmla="val 2000"/>
            </a:avLst>
          </a:prstGeom>
          <a:solidFill>
            <a:srgbClr val="D5E3E2"/>
          </a:solidFill>
          <a:ln>
            <a:noFill/>
          </a:ln>
          <a:effectLst/>
        </p:spPr>
        <p:txBody>
          <a:bodyPr rtlCol="0" anchor="ctr"/>
          <a:lstStyle/>
          <a:p>
            <a:pPr algn="ctr"/>
          </a:p>
        </p:txBody>
      </p:sp>
      <p:pic>
        <p:nvPicPr>
          <p:cNvPr id="18" name="Picture 17" descr="dm_bcpdf.png"/>
          <p:cNvPicPr>
            <a:picLocks noChangeAspect="1"/>
          </p:cNvPicPr>
          <p:nvPr/>
        </p:nvPicPr>
        <p:blipFill>
          <a:blip r:embed="rId3"/>
          <a:stretch>
            <a:fillRect/>
          </a:stretch>
        </p:blipFill>
        <p:spPr>
          <a:xfrm>
            <a:off x="7851566" y="1280160"/>
            <a:ext cx="2584867" cy="1828800"/>
          </a:xfrm>
          <a:prstGeom prst="rect">
            <a:avLst/>
          </a:prstGeom>
        </p:spPr>
      </p:pic>
      <p:sp>
        <p:nvSpPr>
          <p:cNvPr id="19" name="Rounded Rectangle 18"/>
          <p:cNvSpPr/>
          <p:nvPr/>
        </p:nvSpPr>
        <p:spPr>
          <a:xfrm>
            <a:off x="7814990" y="3300984"/>
            <a:ext cx="2658019" cy="1901952"/>
          </a:xfrm>
          <a:prstGeom prst="roundRect">
            <a:avLst>
              <a:gd name="adj" fmla="val 2000"/>
            </a:avLst>
          </a:prstGeom>
          <a:solidFill>
            <a:srgbClr val="D5E3E2"/>
          </a:solidFill>
          <a:ln>
            <a:noFill/>
          </a:ln>
          <a:effectLst/>
        </p:spPr>
        <p:txBody>
          <a:bodyPr rtlCol="0" anchor="ctr"/>
          <a:lstStyle/>
          <a:p>
            <a:pPr algn="ctr"/>
          </a:p>
        </p:txBody>
      </p:sp>
      <p:pic>
        <p:nvPicPr>
          <p:cNvPr id="20" name="Picture 19" descr="dm_hspdf.png"/>
          <p:cNvPicPr>
            <a:picLocks noChangeAspect="1"/>
          </p:cNvPicPr>
          <p:nvPr/>
        </p:nvPicPr>
        <p:blipFill>
          <a:blip r:embed="rId4"/>
          <a:stretch>
            <a:fillRect/>
          </a:stretch>
        </p:blipFill>
        <p:spPr>
          <a:xfrm>
            <a:off x="7851566" y="3337560"/>
            <a:ext cx="2584867" cy="1828800"/>
          </a:xfrm>
          <a:prstGeom prst="rect">
            <a:avLst/>
          </a:prstGeom>
        </p:spPr>
      </p:pic>
      <p:sp>
        <p:nvSpPr>
          <p:cNvPr id="21" name="TextBox 20"/>
          <p:cNvSpPr txBox="1"/>
          <p:nvPr/>
        </p:nvSpPr>
        <p:spPr>
          <a:xfrm>
            <a:off x="420624" y="5166360"/>
            <a:ext cx="5486400" cy="457200"/>
          </a:xfrm>
          <a:prstGeom prst="rect">
            <a:avLst/>
          </a:prstGeom>
          <a:noFill/>
        </p:spPr>
        <p:txBody>
          <a:bodyPr wrap="square" anchor="t" lIns="0" rIns="0" tIns="0" bIns="0">
            <a:spAutoFit/>
          </a:bodyPr>
          <a:lstStyle/>
          <a:p>
            <a:pPr algn="l"/>
            <a:r>
              <a:rPr sz="1300" b="0" i="0">
                <a:solidFill>
                  <a:srgbClr val="1F2D2C"/>
                </a:solidFill>
                <a:latin typeface="Aptos"/>
              </a:rPr>
              <a:t>Màn hình Báo cáo: tuần, tháng, học kỳ, cả năm; so với kỳ trước</a:t>
            </a:r>
          </a:p>
        </p:txBody>
      </p:sp>
      <p:sp>
        <p:nvSpPr>
          <p:cNvPr id="22" name="TextBox 21"/>
          <p:cNvSpPr txBox="1"/>
          <p:nvPr/>
        </p:nvSpPr>
        <p:spPr>
          <a:xfrm>
            <a:off x="6537960" y="5349240"/>
            <a:ext cx="5486400" cy="457200"/>
          </a:xfrm>
          <a:prstGeom prst="rect">
            <a:avLst/>
          </a:prstGeom>
          <a:noFill/>
        </p:spPr>
        <p:txBody>
          <a:bodyPr wrap="square" anchor="t" lIns="0" rIns="0" tIns="0" bIns="0">
            <a:spAutoFit/>
          </a:bodyPr>
          <a:lstStyle/>
          <a:p>
            <a:pPr algn="l"/>
            <a:r>
              <a:rPr sz="1300" b="0" i="0">
                <a:solidFill>
                  <a:srgbClr val="1F2D2C"/>
                </a:solidFill>
                <a:latin typeface="Aptos"/>
              </a:rPr>
              <a:t>PDF báo cáo lớp và PDF riêng từng học sinh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12</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Phụ huynh nhận tin ngay, xem hồ sơ của con mọi lúc</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app · dữ liệu mẫu, email trong chế độ trải nghiệm</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Rounded Rectangle 14"/>
          <p:cNvSpPr/>
          <p:nvPr/>
        </p:nvSpPr>
        <p:spPr>
          <a:xfrm>
            <a:off x="420624" y="1280160"/>
            <a:ext cx="3657600" cy="4663440"/>
          </a:xfrm>
          <a:prstGeom prst="roundRect">
            <a:avLst>
              <a:gd name="adj" fmla="val 6000"/>
            </a:avLst>
          </a:prstGeom>
          <a:solidFill>
            <a:srgbClr val="F4F7F7"/>
          </a:solidFill>
          <a:ln>
            <a:noFill/>
          </a:ln>
          <a:effectLst/>
        </p:spPr>
        <p:txBody>
          <a:bodyPr rtlCol="0" anchor="ctr"/>
          <a:lstStyle/>
          <a:p>
            <a:pPr algn="ctr"/>
          </a:p>
        </p:txBody>
      </p:sp>
      <p:sp>
        <p:nvSpPr>
          <p:cNvPr id="16" name="Rounded Rectangle 15"/>
          <p:cNvSpPr/>
          <p:nvPr/>
        </p:nvSpPr>
        <p:spPr>
          <a:xfrm>
            <a:off x="603504" y="1444752"/>
            <a:ext cx="772668" cy="274320"/>
          </a:xfrm>
          <a:prstGeom prst="roundRect">
            <a:avLst>
              <a:gd name="adj" fmla="val 50000"/>
            </a:avLst>
          </a:prstGeom>
          <a:solidFill>
            <a:srgbClr val="0F766E"/>
          </a:solidFill>
          <a:ln>
            <a:noFill/>
          </a:ln>
          <a:effectLst/>
        </p:spPr>
        <p:txBody>
          <a:bodyPr rtlCol="0" anchor="ctr"/>
          <a:lstStyle/>
          <a:p>
            <a:pPr algn="ctr"/>
          </a:p>
        </p:txBody>
      </p:sp>
      <p:sp>
        <p:nvSpPr>
          <p:cNvPr id="17" name="TextBox 16"/>
          <p:cNvSpPr txBox="1"/>
          <p:nvPr/>
        </p:nvSpPr>
        <p:spPr>
          <a:xfrm>
            <a:off x="603504" y="1444752"/>
            <a:ext cx="772668" cy="274320"/>
          </a:xfrm>
          <a:prstGeom prst="rect">
            <a:avLst/>
          </a:prstGeom>
          <a:noFill/>
        </p:spPr>
        <p:txBody>
          <a:bodyPr wrap="square" anchor="ctr" lIns="0" rIns="0" tIns="0" bIns="0">
            <a:spAutoFit/>
          </a:bodyPr>
          <a:lstStyle/>
          <a:p>
            <a:pPr algn="ctr"/>
            <a:r>
              <a:rPr sz="1100" b="1" i="0">
                <a:solidFill>
                  <a:srgbClr val="FFFFFF"/>
                </a:solidFill>
                <a:latin typeface="Aptos"/>
              </a:rPr>
              <a:t>ĐĂNG KÝ</a:t>
            </a:r>
          </a:p>
        </p:txBody>
      </p:sp>
      <p:sp>
        <p:nvSpPr>
          <p:cNvPr id="18" name="TextBox 17"/>
          <p:cNvSpPr txBox="1"/>
          <p:nvPr/>
        </p:nvSpPr>
        <p:spPr>
          <a:xfrm>
            <a:off x="603504" y="1847088"/>
            <a:ext cx="3291840" cy="914400"/>
          </a:xfrm>
          <a:prstGeom prst="rect">
            <a:avLst/>
          </a:prstGeom>
          <a:noFill/>
        </p:spPr>
        <p:txBody>
          <a:bodyPr wrap="square" anchor="t" lIns="0" rIns="0" tIns="0" bIns="0">
            <a:spAutoFit/>
          </a:bodyPr>
          <a:lstStyle/>
          <a:p>
            <a:pPr algn="l"/>
            <a:r>
              <a:rPr sz="1300" b="0" i="0">
                <a:solidFill>
                  <a:srgbClr val="1F2D2C"/>
                </a:solidFill>
                <a:latin typeface="Aptos"/>
              </a:rPr>
              <a:t>Tự đăng ký email bằng mã 6 số; cô duyệt, phụ huynh nhận thư kèm hướng dẫn PDF.</a:t>
            </a:r>
          </a:p>
        </p:txBody>
      </p:sp>
      <p:sp>
        <p:nvSpPr>
          <p:cNvPr id="19" name="Rounded Rectangle 18"/>
          <p:cNvSpPr/>
          <p:nvPr/>
        </p:nvSpPr>
        <p:spPr>
          <a:xfrm>
            <a:off x="1536798" y="2798064"/>
            <a:ext cx="1425250" cy="2999232"/>
          </a:xfrm>
          <a:prstGeom prst="roundRect">
            <a:avLst>
              <a:gd name="adj" fmla="val 2000"/>
            </a:avLst>
          </a:prstGeom>
          <a:solidFill>
            <a:srgbClr val="D5E3E2"/>
          </a:solidFill>
          <a:ln>
            <a:noFill/>
          </a:ln>
          <a:effectLst/>
        </p:spPr>
        <p:txBody>
          <a:bodyPr rtlCol="0" anchor="ctr"/>
          <a:lstStyle/>
          <a:p>
            <a:pPr algn="ctr"/>
          </a:p>
        </p:txBody>
      </p:sp>
      <p:pic>
        <p:nvPicPr>
          <p:cNvPr id="20" name="Picture 19" descr="dm_dk1.png"/>
          <p:cNvPicPr>
            <a:picLocks noChangeAspect="1"/>
          </p:cNvPicPr>
          <p:nvPr/>
        </p:nvPicPr>
        <p:blipFill>
          <a:blip r:embed="rId2"/>
          <a:stretch>
            <a:fillRect/>
          </a:stretch>
        </p:blipFill>
        <p:spPr>
          <a:xfrm>
            <a:off x="1573374" y="2834640"/>
            <a:ext cx="1352098" cy="2926080"/>
          </a:xfrm>
          <a:prstGeom prst="rect">
            <a:avLst/>
          </a:prstGeom>
        </p:spPr>
      </p:pic>
      <p:sp>
        <p:nvSpPr>
          <p:cNvPr id="21" name="Rounded Rectangle 20"/>
          <p:cNvSpPr/>
          <p:nvPr/>
        </p:nvSpPr>
        <p:spPr>
          <a:xfrm>
            <a:off x="4233672" y="1280160"/>
            <a:ext cx="3657600" cy="4663440"/>
          </a:xfrm>
          <a:prstGeom prst="roundRect">
            <a:avLst>
              <a:gd name="adj" fmla="val 6000"/>
            </a:avLst>
          </a:prstGeom>
          <a:solidFill>
            <a:srgbClr val="F4F7F7"/>
          </a:solidFill>
          <a:ln>
            <a:noFill/>
          </a:ln>
          <a:effectLst/>
        </p:spPr>
        <p:txBody>
          <a:bodyPr rtlCol="0" anchor="ctr"/>
          <a:lstStyle/>
          <a:p>
            <a:pPr algn="ctr"/>
          </a:p>
        </p:txBody>
      </p:sp>
      <p:sp>
        <p:nvSpPr>
          <p:cNvPr id="22" name="Rounded Rectangle 21"/>
          <p:cNvSpPr/>
          <p:nvPr/>
        </p:nvSpPr>
        <p:spPr>
          <a:xfrm>
            <a:off x="4416552" y="1444752"/>
            <a:ext cx="1005840" cy="274320"/>
          </a:xfrm>
          <a:prstGeom prst="roundRect">
            <a:avLst>
              <a:gd name="adj" fmla="val 50000"/>
            </a:avLst>
          </a:prstGeom>
          <a:solidFill>
            <a:srgbClr val="0F766E"/>
          </a:solidFill>
          <a:ln>
            <a:noFill/>
          </a:ln>
          <a:effectLst/>
        </p:spPr>
        <p:txBody>
          <a:bodyPr rtlCol="0" anchor="ctr"/>
          <a:lstStyle/>
          <a:p>
            <a:pPr algn="ctr"/>
          </a:p>
        </p:txBody>
      </p:sp>
      <p:sp>
        <p:nvSpPr>
          <p:cNvPr id="23" name="TextBox 22"/>
          <p:cNvSpPr txBox="1"/>
          <p:nvPr/>
        </p:nvSpPr>
        <p:spPr>
          <a:xfrm>
            <a:off x="4416552" y="1444752"/>
            <a:ext cx="1005840" cy="274320"/>
          </a:xfrm>
          <a:prstGeom prst="rect">
            <a:avLst/>
          </a:prstGeom>
          <a:noFill/>
        </p:spPr>
        <p:txBody>
          <a:bodyPr wrap="square" anchor="ctr" lIns="0" rIns="0" tIns="0" bIns="0">
            <a:spAutoFit/>
          </a:bodyPr>
          <a:lstStyle/>
          <a:p>
            <a:pPr algn="ctr"/>
            <a:r>
              <a:rPr sz="1100" b="1" i="0">
                <a:solidFill>
                  <a:srgbClr val="FFFFFF"/>
                </a:solidFill>
                <a:latin typeface="Aptos"/>
              </a:rPr>
              <a:t>NHẬN EMAIL</a:t>
            </a:r>
          </a:p>
        </p:txBody>
      </p:sp>
      <p:sp>
        <p:nvSpPr>
          <p:cNvPr id="24" name="TextBox 23"/>
          <p:cNvSpPr txBox="1"/>
          <p:nvPr/>
        </p:nvSpPr>
        <p:spPr>
          <a:xfrm>
            <a:off x="4416552" y="1847088"/>
            <a:ext cx="3291840" cy="914400"/>
          </a:xfrm>
          <a:prstGeom prst="rect">
            <a:avLst/>
          </a:prstGeom>
          <a:noFill/>
        </p:spPr>
        <p:txBody>
          <a:bodyPr wrap="square" anchor="t" lIns="0" rIns="0" tIns="0" bIns="0">
            <a:spAutoFit/>
          </a:bodyPr>
          <a:lstStyle/>
          <a:p>
            <a:pPr algn="l"/>
            <a:r>
              <a:rPr sz="1300" b="0" i="0">
                <a:solidFill>
                  <a:srgbClr val="1F2D2C"/>
                </a:solidFill>
                <a:latin typeface="Aptos"/>
              </a:rPr>
              <a:t>Mỗi lần con được ghi điểm: thư có lời cô Thảo, đúng tình huống khen hay nhắc.</a:t>
            </a:r>
          </a:p>
        </p:txBody>
      </p:sp>
      <p:sp>
        <p:nvSpPr>
          <p:cNvPr id="25" name="Rounded Rectangle 24"/>
          <p:cNvSpPr/>
          <p:nvPr/>
        </p:nvSpPr>
        <p:spPr>
          <a:xfrm>
            <a:off x="4425696" y="3367453"/>
            <a:ext cx="3273552" cy="1860452"/>
          </a:xfrm>
          <a:prstGeom prst="roundRect">
            <a:avLst>
              <a:gd name="adj" fmla="val 2000"/>
            </a:avLst>
          </a:prstGeom>
          <a:solidFill>
            <a:srgbClr val="D5E3E2"/>
          </a:solidFill>
          <a:ln>
            <a:noFill/>
          </a:ln>
          <a:effectLst/>
        </p:spPr>
        <p:txBody>
          <a:bodyPr rtlCol="0" anchor="ctr"/>
          <a:lstStyle/>
          <a:p>
            <a:pPr algn="ctr"/>
          </a:p>
        </p:txBody>
      </p:sp>
      <p:pic>
        <p:nvPicPr>
          <p:cNvPr id="26" name="Picture 25" descr="mail.jpg"/>
          <p:cNvPicPr>
            <a:picLocks noChangeAspect="1"/>
          </p:cNvPicPr>
          <p:nvPr/>
        </p:nvPicPr>
        <p:blipFill>
          <a:blip r:embed="rId3"/>
          <a:stretch>
            <a:fillRect/>
          </a:stretch>
        </p:blipFill>
        <p:spPr>
          <a:xfrm>
            <a:off x="4462272" y="3404029"/>
            <a:ext cx="3200400" cy="1787300"/>
          </a:xfrm>
          <a:prstGeom prst="rect">
            <a:avLst/>
          </a:prstGeom>
        </p:spPr>
      </p:pic>
      <p:sp>
        <p:nvSpPr>
          <p:cNvPr id="27" name="Rounded Rectangle 26"/>
          <p:cNvSpPr/>
          <p:nvPr/>
        </p:nvSpPr>
        <p:spPr>
          <a:xfrm>
            <a:off x="8046720" y="1280160"/>
            <a:ext cx="3657600" cy="4663440"/>
          </a:xfrm>
          <a:prstGeom prst="roundRect">
            <a:avLst>
              <a:gd name="adj" fmla="val 6000"/>
            </a:avLst>
          </a:prstGeom>
          <a:solidFill>
            <a:srgbClr val="F4F7F7"/>
          </a:solidFill>
          <a:ln>
            <a:noFill/>
          </a:ln>
          <a:effectLst/>
        </p:spPr>
        <p:txBody>
          <a:bodyPr rtlCol="0" anchor="ctr"/>
          <a:lstStyle/>
          <a:p>
            <a:pPr algn="ctr"/>
          </a:p>
        </p:txBody>
      </p:sp>
      <p:sp>
        <p:nvSpPr>
          <p:cNvPr id="28" name="Rounded Rectangle 27"/>
          <p:cNvSpPr/>
          <p:nvPr/>
        </p:nvSpPr>
        <p:spPr>
          <a:xfrm>
            <a:off x="8229600" y="1444752"/>
            <a:ext cx="928116" cy="274320"/>
          </a:xfrm>
          <a:prstGeom prst="roundRect">
            <a:avLst>
              <a:gd name="adj" fmla="val 50000"/>
            </a:avLst>
          </a:prstGeom>
          <a:solidFill>
            <a:srgbClr val="0F766E"/>
          </a:solidFill>
          <a:ln>
            <a:noFill/>
          </a:ln>
          <a:effectLst/>
        </p:spPr>
        <p:txBody>
          <a:bodyPr rtlCol="0" anchor="ctr"/>
          <a:lstStyle/>
          <a:p>
            <a:pPr algn="ctr"/>
          </a:p>
        </p:txBody>
      </p:sp>
      <p:sp>
        <p:nvSpPr>
          <p:cNvPr id="29" name="TextBox 28"/>
          <p:cNvSpPr txBox="1"/>
          <p:nvPr/>
        </p:nvSpPr>
        <p:spPr>
          <a:xfrm>
            <a:off x="8229600" y="1444752"/>
            <a:ext cx="928116" cy="274320"/>
          </a:xfrm>
          <a:prstGeom prst="rect">
            <a:avLst/>
          </a:prstGeom>
          <a:noFill/>
        </p:spPr>
        <p:txBody>
          <a:bodyPr wrap="square" anchor="ctr" lIns="0" rIns="0" tIns="0" bIns="0">
            <a:spAutoFit/>
          </a:bodyPr>
          <a:lstStyle/>
          <a:p>
            <a:pPr algn="ctr"/>
            <a:r>
              <a:rPr sz="1100" b="1" i="0">
                <a:solidFill>
                  <a:srgbClr val="FFFFFF"/>
                </a:solidFill>
                <a:latin typeface="Aptos"/>
              </a:rPr>
              <a:t>XEM &amp; TẢI</a:t>
            </a:r>
          </a:p>
        </p:txBody>
      </p:sp>
      <p:sp>
        <p:nvSpPr>
          <p:cNvPr id="30" name="TextBox 29"/>
          <p:cNvSpPr txBox="1"/>
          <p:nvPr/>
        </p:nvSpPr>
        <p:spPr>
          <a:xfrm>
            <a:off x="8229600" y="1847088"/>
            <a:ext cx="3291840" cy="914400"/>
          </a:xfrm>
          <a:prstGeom prst="rect">
            <a:avLst/>
          </a:prstGeom>
          <a:noFill/>
        </p:spPr>
        <p:txBody>
          <a:bodyPr wrap="square" anchor="t" lIns="0" rIns="0" tIns="0" bIns="0">
            <a:spAutoFit/>
          </a:bodyPr>
          <a:lstStyle/>
          <a:p>
            <a:pPr algn="l"/>
            <a:r>
              <a:rPr sz="1300" b="0" i="0">
                <a:solidFill>
                  <a:srgbClr val="1F2D2C"/>
                </a:solidFill>
                <a:latin typeface="Aptos"/>
              </a:rPr>
              <a:t>Hồ sơ của con theo tuần, tháng; tải PDF thông báo, báo cáo.</a:t>
            </a:r>
          </a:p>
        </p:txBody>
      </p:sp>
      <p:sp>
        <p:nvSpPr>
          <p:cNvPr id="31" name="Rounded Rectangle 30"/>
          <p:cNvSpPr/>
          <p:nvPr/>
        </p:nvSpPr>
        <p:spPr>
          <a:xfrm>
            <a:off x="8238744" y="3128958"/>
            <a:ext cx="3273552" cy="2337442"/>
          </a:xfrm>
          <a:prstGeom prst="roundRect">
            <a:avLst>
              <a:gd name="adj" fmla="val 2000"/>
            </a:avLst>
          </a:prstGeom>
          <a:solidFill>
            <a:srgbClr val="D5E3E2"/>
          </a:solidFill>
          <a:ln>
            <a:noFill/>
          </a:ln>
          <a:effectLst/>
        </p:spPr>
        <p:txBody>
          <a:bodyPr rtlCol="0" anchor="ctr"/>
          <a:lstStyle/>
          <a:p>
            <a:pPr algn="ctr"/>
          </a:p>
        </p:txBody>
      </p:sp>
      <p:pic>
        <p:nvPicPr>
          <p:cNvPr id="32" name="Picture 31" descr="dm_tbpdf.png"/>
          <p:cNvPicPr>
            <a:picLocks noChangeAspect="1"/>
          </p:cNvPicPr>
          <p:nvPr/>
        </p:nvPicPr>
        <p:blipFill>
          <a:blip r:embed="rId4"/>
          <a:stretch>
            <a:fillRect/>
          </a:stretch>
        </p:blipFill>
        <p:spPr>
          <a:xfrm>
            <a:off x="8275320" y="3165534"/>
            <a:ext cx="3200400" cy="226429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13</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300" b="1" i="0">
                <a:solidFill>
                  <a:srgbClr val="0F4C47"/>
                </a:solidFill>
                <a:latin typeface="Aptos"/>
              </a:rPr>
              <a:t>Cô Thảo 3D: giao diện thân thiện, phản ứng theo từng tình huống</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Rounded Rectangle 9"/>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Rounded Rectangle 13"/>
          <p:cNvSpPr/>
          <p:nvPr/>
        </p:nvSpPr>
        <p:spPr>
          <a:xfrm>
            <a:off x="420624" y="1344168"/>
            <a:ext cx="539496" cy="274320"/>
          </a:xfrm>
          <a:prstGeom prst="roundRect">
            <a:avLst>
              <a:gd name="adj" fmla="val 50000"/>
            </a:avLst>
          </a:prstGeom>
          <a:solidFill>
            <a:srgbClr val="E0F2F1"/>
          </a:solidFill>
          <a:ln>
            <a:noFill/>
          </a:ln>
          <a:effectLst/>
        </p:spPr>
        <p:txBody>
          <a:bodyPr rtlCol="0" anchor="ctr"/>
          <a:lstStyle/>
          <a:p>
            <a:pPr algn="ctr"/>
          </a:p>
        </p:txBody>
      </p:sp>
      <p:sp>
        <p:nvSpPr>
          <p:cNvPr id="15" name="TextBox 14"/>
          <p:cNvSpPr txBox="1"/>
          <p:nvPr/>
        </p:nvSpPr>
        <p:spPr>
          <a:xfrm>
            <a:off x="420624" y="1344168"/>
            <a:ext cx="539496" cy="274320"/>
          </a:xfrm>
          <a:prstGeom prst="rect">
            <a:avLst/>
          </a:prstGeom>
          <a:noFill/>
        </p:spPr>
        <p:txBody>
          <a:bodyPr wrap="square" anchor="ctr" lIns="0" rIns="0" tIns="0" bIns="0">
            <a:spAutoFit/>
          </a:bodyPr>
          <a:lstStyle/>
          <a:p>
            <a:pPr algn="ctr"/>
            <a:r>
              <a:rPr sz="1100" b="1" i="0">
                <a:solidFill>
                  <a:srgbClr val="0F4C47"/>
                </a:solidFill>
                <a:latin typeface="Aptos"/>
              </a:rPr>
              <a:t>CHÀO</a:t>
            </a:r>
          </a:p>
        </p:txBody>
      </p:sp>
      <p:sp>
        <p:nvSpPr>
          <p:cNvPr id="16" name="TextBox 15"/>
          <p:cNvSpPr txBox="1"/>
          <p:nvPr/>
        </p:nvSpPr>
        <p:spPr>
          <a:xfrm>
            <a:off x="1874519" y="1298448"/>
            <a:ext cx="5486400" cy="411480"/>
          </a:xfrm>
          <a:prstGeom prst="rect">
            <a:avLst/>
          </a:prstGeom>
          <a:noFill/>
        </p:spPr>
        <p:txBody>
          <a:bodyPr wrap="square" anchor="ctr" lIns="0" rIns="0" tIns="0" bIns="0">
            <a:spAutoFit/>
          </a:bodyPr>
          <a:lstStyle/>
          <a:p>
            <a:pPr algn="l"/>
            <a:r>
              <a:rPr sz="1350" b="0" i="0">
                <a:solidFill>
                  <a:srgbClr val="1F2D2C"/>
                </a:solidFill>
                <a:latin typeface="Aptos"/>
              </a:rPr>
              <a:t>Lời chào theo vai: "Chào cô Thảo!", "Chào em", "Chào bác".</a:t>
            </a:r>
          </a:p>
        </p:txBody>
      </p:sp>
      <p:sp>
        <p:nvSpPr>
          <p:cNvPr id="17" name="Rounded Rectangle 16"/>
          <p:cNvSpPr/>
          <p:nvPr/>
        </p:nvSpPr>
        <p:spPr>
          <a:xfrm>
            <a:off x="420624" y="1911095"/>
            <a:ext cx="539496" cy="274320"/>
          </a:xfrm>
          <a:prstGeom prst="roundRect">
            <a:avLst>
              <a:gd name="adj" fmla="val 50000"/>
            </a:avLst>
          </a:prstGeom>
          <a:solidFill>
            <a:srgbClr val="E0F2F1"/>
          </a:solidFill>
          <a:ln>
            <a:noFill/>
          </a:ln>
          <a:effectLst/>
        </p:spPr>
        <p:txBody>
          <a:bodyPr rtlCol="0" anchor="ctr"/>
          <a:lstStyle/>
          <a:p>
            <a:pPr algn="ctr"/>
          </a:p>
        </p:txBody>
      </p:sp>
      <p:sp>
        <p:nvSpPr>
          <p:cNvPr id="18" name="TextBox 17"/>
          <p:cNvSpPr txBox="1"/>
          <p:nvPr/>
        </p:nvSpPr>
        <p:spPr>
          <a:xfrm>
            <a:off x="420624" y="1911095"/>
            <a:ext cx="539496" cy="274320"/>
          </a:xfrm>
          <a:prstGeom prst="rect">
            <a:avLst/>
          </a:prstGeom>
          <a:noFill/>
        </p:spPr>
        <p:txBody>
          <a:bodyPr wrap="square" anchor="ctr" lIns="0" rIns="0" tIns="0" bIns="0">
            <a:spAutoFit/>
          </a:bodyPr>
          <a:lstStyle/>
          <a:p>
            <a:pPr algn="ctr"/>
            <a:r>
              <a:rPr sz="1100" b="1" i="0">
                <a:solidFill>
                  <a:srgbClr val="0F4C47"/>
                </a:solidFill>
                <a:latin typeface="Aptos"/>
              </a:rPr>
              <a:t>KHEN</a:t>
            </a:r>
          </a:p>
        </p:txBody>
      </p:sp>
      <p:sp>
        <p:nvSpPr>
          <p:cNvPr id="19" name="TextBox 18"/>
          <p:cNvSpPr txBox="1"/>
          <p:nvPr/>
        </p:nvSpPr>
        <p:spPr>
          <a:xfrm>
            <a:off x="1874519" y="1865376"/>
            <a:ext cx="5486400" cy="411480"/>
          </a:xfrm>
          <a:prstGeom prst="rect">
            <a:avLst/>
          </a:prstGeom>
          <a:noFill/>
        </p:spPr>
        <p:txBody>
          <a:bodyPr wrap="square" anchor="ctr" lIns="0" rIns="0" tIns="0" bIns="0">
            <a:spAutoFit/>
          </a:bodyPr>
          <a:lstStyle/>
          <a:p>
            <a:pPr algn="l"/>
            <a:r>
              <a:rPr sz="1350" b="0" i="0">
                <a:solidFill>
                  <a:srgbClr val="1F2D2C"/>
                </a:solidFill>
                <a:latin typeface="Aptos"/>
              </a:rPr>
              <a:t>Học sinh được cộng điểm: cô vui, cô khen.</a:t>
            </a:r>
          </a:p>
        </p:txBody>
      </p:sp>
      <p:sp>
        <p:nvSpPr>
          <p:cNvPr id="20" name="Rounded Rectangle 19"/>
          <p:cNvSpPr/>
          <p:nvPr/>
        </p:nvSpPr>
        <p:spPr>
          <a:xfrm>
            <a:off x="420624" y="2478024"/>
            <a:ext cx="539496" cy="274320"/>
          </a:xfrm>
          <a:prstGeom prst="roundRect">
            <a:avLst>
              <a:gd name="adj" fmla="val 50000"/>
            </a:avLst>
          </a:prstGeom>
          <a:solidFill>
            <a:srgbClr val="E0F2F1"/>
          </a:solidFill>
          <a:ln>
            <a:noFill/>
          </a:ln>
          <a:effectLst/>
        </p:spPr>
        <p:txBody>
          <a:bodyPr rtlCol="0" anchor="ctr"/>
          <a:lstStyle/>
          <a:p>
            <a:pPr algn="ctr"/>
          </a:p>
        </p:txBody>
      </p:sp>
      <p:sp>
        <p:nvSpPr>
          <p:cNvPr id="21" name="TextBox 20"/>
          <p:cNvSpPr txBox="1"/>
          <p:nvPr/>
        </p:nvSpPr>
        <p:spPr>
          <a:xfrm>
            <a:off x="420624" y="2478024"/>
            <a:ext cx="539496" cy="274320"/>
          </a:xfrm>
          <a:prstGeom prst="rect">
            <a:avLst/>
          </a:prstGeom>
          <a:noFill/>
        </p:spPr>
        <p:txBody>
          <a:bodyPr wrap="square" anchor="ctr" lIns="0" rIns="0" tIns="0" bIns="0">
            <a:spAutoFit/>
          </a:bodyPr>
          <a:lstStyle/>
          <a:p>
            <a:pPr algn="ctr"/>
            <a:r>
              <a:rPr sz="1100" b="1" i="0">
                <a:solidFill>
                  <a:srgbClr val="0F4C47"/>
                </a:solidFill>
                <a:latin typeface="Aptos"/>
              </a:rPr>
              <a:t>NHẮC</a:t>
            </a:r>
          </a:p>
        </p:txBody>
      </p:sp>
      <p:sp>
        <p:nvSpPr>
          <p:cNvPr id="22" name="TextBox 21"/>
          <p:cNvSpPr txBox="1"/>
          <p:nvPr/>
        </p:nvSpPr>
        <p:spPr>
          <a:xfrm>
            <a:off x="1874519" y="2432304"/>
            <a:ext cx="5486400" cy="411480"/>
          </a:xfrm>
          <a:prstGeom prst="rect">
            <a:avLst/>
          </a:prstGeom>
          <a:noFill/>
        </p:spPr>
        <p:txBody>
          <a:bodyPr wrap="square" anchor="ctr" lIns="0" rIns="0" tIns="0" bIns="0">
            <a:spAutoFit/>
          </a:bodyPr>
          <a:lstStyle/>
          <a:p>
            <a:pPr algn="l"/>
            <a:r>
              <a:rPr sz="1350" b="0" i="0">
                <a:solidFill>
                  <a:srgbClr val="1F2D2C"/>
                </a:solidFill>
                <a:latin typeface="Aptos"/>
              </a:rPr>
              <a:t>Vi phạm lặp lại: cô nghiêm, cô buồn.</a:t>
            </a:r>
          </a:p>
        </p:txBody>
      </p:sp>
      <p:sp>
        <p:nvSpPr>
          <p:cNvPr id="23" name="Rounded Rectangle 22"/>
          <p:cNvSpPr/>
          <p:nvPr/>
        </p:nvSpPr>
        <p:spPr>
          <a:xfrm>
            <a:off x="420624" y="3044951"/>
            <a:ext cx="928116" cy="274320"/>
          </a:xfrm>
          <a:prstGeom prst="roundRect">
            <a:avLst>
              <a:gd name="adj" fmla="val 50000"/>
            </a:avLst>
          </a:prstGeom>
          <a:solidFill>
            <a:srgbClr val="E0F2F1"/>
          </a:solidFill>
          <a:ln>
            <a:noFill/>
          </a:ln>
          <a:effectLst/>
        </p:spPr>
        <p:txBody>
          <a:bodyPr rtlCol="0" anchor="ctr"/>
          <a:lstStyle/>
          <a:p>
            <a:pPr algn="ctr"/>
          </a:p>
        </p:txBody>
      </p:sp>
      <p:sp>
        <p:nvSpPr>
          <p:cNvPr id="24" name="TextBox 23"/>
          <p:cNvSpPr txBox="1"/>
          <p:nvPr/>
        </p:nvSpPr>
        <p:spPr>
          <a:xfrm>
            <a:off x="420624" y="3044951"/>
            <a:ext cx="928116" cy="274320"/>
          </a:xfrm>
          <a:prstGeom prst="rect">
            <a:avLst/>
          </a:prstGeom>
          <a:noFill/>
        </p:spPr>
        <p:txBody>
          <a:bodyPr wrap="square" anchor="ctr" lIns="0" rIns="0" tIns="0" bIns="0">
            <a:spAutoFit/>
          </a:bodyPr>
          <a:lstStyle/>
          <a:p>
            <a:pPr algn="ctr"/>
            <a:r>
              <a:rPr sz="1100" b="1" i="0">
                <a:solidFill>
                  <a:srgbClr val="0F4C47"/>
                </a:solidFill>
                <a:latin typeface="Aptos"/>
              </a:rPr>
              <a:t>HƯỚNG DẪN</a:t>
            </a:r>
          </a:p>
        </p:txBody>
      </p:sp>
      <p:sp>
        <p:nvSpPr>
          <p:cNvPr id="25" name="TextBox 24"/>
          <p:cNvSpPr txBox="1"/>
          <p:nvPr/>
        </p:nvSpPr>
        <p:spPr>
          <a:xfrm>
            <a:off x="1874519" y="2999232"/>
            <a:ext cx="5486400" cy="411480"/>
          </a:xfrm>
          <a:prstGeom prst="rect">
            <a:avLst/>
          </a:prstGeom>
          <a:noFill/>
        </p:spPr>
        <p:txBody>
          <a:bodyPr wrap="square" anchor="ctr" lIns="0" rIns="0" tIns="0" bIns="0">
            <a:spAutoFit/>
          </a:bodyPr>
          <a:lstStyle/>
          <a:p>
            <a:pPr algn="l"/>
            <a:r>
              <a:rPr sz="1350" b="0" i="0">
                <a:solidFill>
                  <a:srgbClr val="1F2D2C"/>
                </a:solidFill>
                <a:latin typeface="Aptos"/>
              </a:rPr>
              <a:t>Hướng dẫn từng bước khi mới dùng, trong cả file HDSD.</a:t>
            </a:r>
          </a:p>
        </p:txBody>
      </p:sp>
      <p:pic>
        <p:nvPicPr>
          <p:cNvPr id="26" name="Picture 25" descr="c_chu-nhiem_khen-lon.png"/>
          <p:cNvPicPr>
            <a:picLocks noChangeAspect="1"/>
          </p:cNvPicPr>
          <p:nvPr/>
        </p:nvPicPr>
        <p:blipFill>
          <a:blip r:embed="rId2"/>
          <a:stretch>
            <a:fillRect/>
          </a:stretch>
        </p:blipFill>
        <p:spPr>
          <a:xfrm>
            <a:off x="7543800" y="1188720"/>
            <a:ext cx="2286000" cy="2286000"/>
          </a:xfrm>
          <a:prstGeom prst="rect">
            <a:avLst/>
          </a:prstGeom>
        </p:spPr>
      </p:pic>
      <p:pic>
        <p:nvPicPr>
          <p:cNvPr id="27" name="Picture 26" descr="c_giang-day_co-vu.png"/>
          <p:cNvPicPr>
            <a:picLocks noChangeAspect="1"/>
          </p:cNvPicPr>
          <p:nvPr/>
        </p:nvPicPr>
        <p:blipFill>
          <a:blip r:embed="rId3"/>
          <a:stretch>
            <a:fillRect/>
          </a:stretch>
        </p:blipFill>
        <p:spPr>
          <a:xfrm>
            <a:off x="9646920" y="1188720"/>
            <a:ext cx="2286000" cy="2286000"/>
          </a:xfrm>
          <a:prstGeom prst="rect">
            <a:avLst/>
          </a:prstGeom>
        </p:spPr>
      </p:pic>
      <p:pic>
        <p:nvPicPr>
          <p:cNvPr id="28" name="Picture 27" descr="co-thao.jpg"/>
          <p:cNvPicPr>
            <a:picLocks noChangeAspect="1"/>
          </p:cNvPicPr>
          <p:nvPr/>
        </p:nvPicPr>
        <p:blipFill>
          <a:blip r:embed="rId4"/>
          <a:stretch>
            <a:fillRect/>
          </a:stretch>
        </p:blipFill>
        <p:spPr>
          <a:xfrm>
            <a:off x="2669183" y="3840480"/>
            <a:ext cx="6850585" cy="2011680"/>
          </a:xfrm>
          <a:prstGeom prst="rect">
            <a:avLst/>
          </a:prstGeom>
        </p:spPr>
      </p:pic>
      <p:sp>
        <p:nvSpPr>
          <p:cNvPr id="29" name="TextBox 28"/>
          <p:cNvSpPr txBox="1"/>
          <p:nvPr/>
        </p:nvSpPr>
        <p:spPr>
          <a:xfrm>
            <a:off x="420624" y="5989320"/>
            <a:ext cx="11338560" cy="274320"/>
          </a:xfrm>
          <a:prstGeom prst="rect">
            <a:avLst/>
          </a:prstGeom>
          <a:noFill/>
        </p:spPr>
        <p:txBody>
          <a:bodyPr wrap="square" anchor="t" lIns="0" rIns="0" tIns="0" bIns="0">
            <a:spAutoFit/>
          </a:bodyPr>
          <a:lstStyle/>
          <a:p>
            <a:pPr algn="l"/>
            <a:r>
              <a:rPr sz="1200" b="0" i="1">
                <a:solidFill>
                  <a:srgbClr val="5F7472"/>
                </a:solidFill>
                <a:latin typeface="Aptos"/>
              </a:rPr>
              <a:t>Nhiều bộ trang phục (áo dài, giảng dạy, STEM, mùa đông, màu nước…) tạo bằng Gemini, hiển thị ngẫu nhiên, tự đổi áo dài dịp 20/11.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14</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Dữ liệu an toàn: đúng người, đúng quyền, không bị sửa sau chốt</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Rounded Rectangle 9"/>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Oval 13"/>
          <p:cNvSpPr/>
          <p:nvPr/>
        </p:nvSpPr>
        <p:spPr>
          <a:xfrm>
            <a:off x="420624" y="1389888"/>
            <a:ext cx="347472" cy="347472"/>
          </a:xfrm>
          <a:prstGeom prst="ellipse">
            <a:avLst/>
          </a:prstGeom>
          <a:solidFill>
            <a:srgbClr val="0F766E"/>
          </a:solidFill>
          <a:ln>
            <a:noFill/>
          </a:ln>
          <a:effectLst/>
        </p:spPr>
        <p:txBody>
          <a:bodyPr rtlCol="0" anchor="ctr"/>
          <a:lstStyle/>
          <a:p>
            <a:pPr algn="ctr"/>
          </a:p>
        </p:txBody>
      </p:sp>
      <p:sp>
        <p:nvSpPr>
          <p:cNvPr id="15" name="TextBox 14"/>
          <p:cNvSpPr txBox="1"/>
          <p:nvPr/>
        </p:nvSpPr>
        <p:spPr>
          <a:xfrm>
            <a:off x="420624" y="1389888"/>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16" name="TextBox 15"/>
          <p:cNvSpPr txBox="1"/>
          <p:nvPr/>
        </p:nvSpPr>
        <p:spPr>
          <a:xfrm>
            <a:off x="960120" y="1280160"/>
            <a:ext cx="3291840" cy="676656"/>
          </a:xfrm>
          <a:prstGeom prst="rect">
            <a:avLst/>
          </a:prstGeom>
          <a:noFill/>
        </p:spPr>
        <p:txBody>
          <a:bodyPr wrap="square" anchor="ctr" lIns="0" rIns="0" tIns="0" bIns="0">
            <a:spAutoFit/>
          </a:bodyPr>
          <a:lstStyle/>
          <a:p>
            <a:pPr algn="l"/>
            <a:r>
              <a:rPr sz="1500" b="1" i="0">
                <a:solidFill>
                  <a:srgbClr val="0F4C47"/>
                </a:solidFill>
                <a:latin typeface="Aptos"/>
              </a:rPr>
              <a:t>Đăng nhập không mật khẩu</a:t>
            </a:r>
          </a:p>
        </p:txBody>
      </p:sp>
      <p:sp>
        <p:nvSpPr>
          <p:cNvPr id="17" name="TextBox 16"/>
          <p:cNvSpPr txBox="1"/>
          <p:nvPr/>
        </p:nvSpPr>
        <p:spPr>
          <a:xfrm>
            <a:off x="4297680" y="1280160"/>
            <a:ext cx="7452360" cy="676656"/>
          </a:xfrm>
          <a:prstGeom prst="rect">
            <a:avLst/>
          </a:prstGeom>
          <a:noFill/>
        </p:spPr>
        <p:txBody>
          <a:bodyPr wrap="square" anchor="ctr" lIns="0" rIns="0" tIns="0" bIns="0">
            <a:spAutoFit/>
          </a:bodyPr>
          <a:lstStyle/>
          <a:p>
            <a:pPr algn="l"/>
            <a:r>
              <a:rPr sz="1350" b="0" i="0">
                <a:solidFill>
                  <a:srgbClr val="1F2D2C"/>
                </a:solidFill>
                <a:latin typeface="Aptos"/>
              </a:rPr>
              <a:t>Email + mã 6 số gửi tới email; tài khoản do cô chủ nhiệm cấp và có thể khoá.</a:t>
            </a:r>
          </a:p>
        </p:txBody>
      </p:sp>
      <p:cxnSp>
        <p:nvCxnSpPr>
          <p:cNvPr id="18" name="Connector 17"/>
          <p:cNvCxnSpPr/>
          <p:nvPr/>
        </p:nvCxnSpPr>
        <p:spPr>
          <a:xfrm>
            <a:off x="420624" y="2011680"/>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20624" y="2157984"/>
            <a:ext cx="347472" cy="347472"/>
          </a:xfrm>
          <a:prstGeom prst="ellipse">
            <a:avLst/>
          </a:prstGeom>
          <a:solidFill>
            <a:srgbClr val="0F766E"/>
          </a:solidFill>
          <a:ln>
            <a:noFill/>
          </a:ln>
          <a:effectLst/>
        </p:spPr>
        <p:txBody>
          <a:bodyPr rtlCol="0" anchor="ctr"/>
          <a:lstStyle/>
          <a:p>
            <a:pPr algn="ctr"/>
          </a:p>
        </p:txBody>
      </p:sp>
      <p:sp>
        <p:nvSpPr>
          <p:cNvPr id="20" name="TextBox 19"/>
          <p:cNvSpPr txBox="1"/>
          <p:nvPr/>
        </p:nvSpPr>
        <p:spPr>
          <a:xfrm>
            <a:off x="420624" y="2157984"/>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21" name="TextBox 20"/>
          <p:cNvSpPr txBox="1"/>
          <p:nvPr/>
        </p:nvSpPr>
        <p:spPr>
          <a:xfrm>
            <a:off x="960120" y="2048255"/>
            <a:ext cx="3291840" cy="676656"/>
          </a:xfrm>
          <a:prstGeom prst="rect">
            <a:avLst/>
          </a:prstGeom>
          <a:noFill/>
        </p:spPr>
        <p:txBody>
          <a:bodyPr wrap="square" anchor="ctr" lIns="0" rIns="0" tIns="0" bIns="0">
            <a:spAutoFit/>
          </a:bodyPr>
          <a:lstStyle/>
          <a:p>
            <a:pPr algn="l"/>
            <a:r>
              <a:rPr sz="1500" b="1" i="0">
                <a:solidFill>
                  <a:srgbClr val="0F4C47"/>
                </a:solidFill>
                <a:latin typeface="Aptos"/>
              </a:rPr>
              <a:t>Phân quyền theo vai trò</a:t>
            </a:r>
          </a:p>
        </p:txBody>
      </p:sp>
      <p:sp>
        <p:nvSpPr>
          <p:cNvPr id="22" name="TextBox 21"/>
          <p:cNvSpPr txBox="1"/>
          <p:nvPr/>
        </p:nvSpPr>
        <p:spPr>
          <a:xfrm>
            <a:off x="4297680" y="2048255"/>
            <a:ext cx="7452360" cy="676656"/>
          </a:xfrm>
          <a:prstGeom prst="rect">
            <a:avLst/>
          </a:prstGeom>
          <a:noFill/>
        </p:spPr>
        <p:txBody>
          <a:bodyPr wrap="square" anchor="ctr" lIns="0" rIns="0" tIns="0" bIns="0">
            <a:spAutoFit/>
          </a:bodyPr>
          <a:lstStyle/>
          <a:p>
            <a:pPr algn="l"/>
            <a:r>
              <a:rPr sz="1350" b="0" i="0">
                <a:solidFill>
                  <a:srgbClr val="1F2D2C"/>
                </a:solidFill>
                <a:latin typeface="Aptos"/>
              </a:rPr>
              <a:t>Tổ trưởng chỉ ghi tổ mình; phụ huynh chỉ xem; máy chủ kiểm tra lại mọi lệnh ghi.</a:t>
            </a:r>
          </a:p>
        </p:txBody>
      </p:sp>
      <p:cxnSp>
        <p:nvCxnSpPr>
          <p:cNvPr id="23" name="Connector 22"/>
          <p:cNvCxnSpPr/>
          <p:nvPr/>
        </p:nvCxnSpPr>
        <p:spPr>
          <a:xfrm>
            <a:off x="420624" y="277977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420624" y="2926080"/>
            <a:ext cx="347472" cy="347472"/>
          </a:xfrm>
          <a:prstGeom prst="ellipse">
            <a:avLst/>
          </a:prstGeom>
          <a:solidFill>
            <a:srgbClr val="0F766E"/>
          </a:solidFill>
          <a:ln>
            <a:noFill/>
          </a:ln>
          <a:effectLst/>
        </p:spPr>
        <p:txBody>
          <a:bodyPr rtlCol="0" anchor="ctr"/>
          <a:lstStyle/>
          <a:p>
            <a:pPr algn="ctr"/>
          </a:p>
        </p:txBody>
      </p:sp>
      <p:sp>
        <p:nvSpPr>
          <p:cNvPr id="25" name="TextBox 24"/>
          <p:cNvSpPr txBox="1"/>
          <p:nvPr/>
        </p:nvSpPr>
        <p:spPr>
          <a:xfrm>
            <a:off x="420624" y="2926080"/>
            <a:ext cx="347472" cy="347472"/>
          </a:xfrm>
          <a:prstGeom prst="rect">
            <a:avLst/>
          </a:prstGeom>
          <a:noFill/>
        </p:spPr>
        <p:txBody>
          <a:bodyPr wrap="square" anchor="ctr" lIns="0" rIns="0" tIns="0" bIns="0">
            <a:spAutoFit/>
          </a:bodyPr>
          <a:lstStyle/>
          <a:p>
            <a:pPr algn="ctr"/>
            <a:r>
              <a:rPr sz="1300" b="1" i="0">
                <a:solidFill>
                  <a:srgbClr val="FFFFFF"/>
                </a:solidFill>
                <a:latin typeface="Aptos"/>
              </a:rPr>
              <a:t>3</a:t>
            </a:r>
          </a:p>
        </p:txBody>
      </p:sp>
      <p:sp>
        <p:nvSpPr>
          <p:cNvPr id="26" name="TextBox 25"/>
          <p:cNvSpPr txBox="1"/>
          <p:nvPr/>
        </p:nvSpPr>
        <p:spPr>
          <a:xfrm>
            <a:off x="960120" y="2816352"/>
            <a:ext cx="3291840" cy="676656"/>
          </a:xfrm>
          <a:prstGeom prst="rect">
            <a:avLst/>
          </a:prstGeom>
          <a:noFill/>
        </p:spPr>
        <p:txBody>
          <a:bodyPr wrap="square" anchor="ctr" lIns="0" rIns="0" tIns="0" bIns="0">
            <a:spAutoFit/>
          </a:bodyPr>
          <a:lstStyle/>
          <a:p>
            <a:pPr algn="l"/>
            <a:r>
              <a:rPr sz="1500" b="1" i="0">
                <a:solidFill>
                  <a:srgbClr val="0F4C47"/>
                </a:solidFill>
                <a:latin typeface="Aptos"/>
              </a:rPr>
              <a:t>Chốt tháng</a:t>
            </a:r>
          </a:p>
        </p:txBody>
      </p:sp>
      <p:sp>
        <p:nvSpPr>
          <p:cNvPr id="27" name="TextBox 26"/>
          <p:cNvSpPr txBox="1"/>
          <p:nvPr/>
        </p:nvSpPr>
        <p:spPr>
          <a:xfrm>
            <a:off x="4297680" y="2816352"/>
            <a:ext cx="7452360" cy="676656"/>
          </a:xfrm>
          <a:prstGeom prst="rect">
            <a:avLst/>
          </a:prstGeom>
          <a:noFill/>
        </p:spPr>
        <p:txBody>
          <a:bodyPr wrap="square" anchor="ctr" lIns="0" rIns="0" tIns="0" bIns="0">
            <a:spAutoFit/>
          </a:bodyPr>
          <a:lstStyle/>
          <a:p>
            <a:pPr algn="l"/>
            <a:r>
              <a:rPr sz="1350" b="0" i="0">
                <a:solidFill>
                  <a:srgbClr val="1F2D2C"/>
                </a:solidFill>
                <a:latin typeface="Aptos"/>
              </a:rPr>
              <a:t>Tháng đã chốt không thêm, sửa, xoá được; chỉ cô chủ nhiệm mở khoá.</a:t>
            </a:r>
          </a:p>
        </p:txBody>
      </p:sp>
      <p:cxnSp>
        <p:nvCxnSpPr>
          <p:cNvPr id="28" name="Connector 27"/>
          <p:cNvCxnSpPr/>
          <p:nvPr/>
        </p:nvCxnSpPr>
        <p:spPr>
          <a:xfrm>
            <a:off x="420624" y="3547872"/>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420624" y="3694176"/>
            <a:ext cx="347472" cy="347472"/>
          </a:xfrm>
          <a:prstGeom prst="ellipse">
            <a:avLst/>
          </a:prstGeom>
          <a:solidFill>
            <a:srgbClr val="0F766E"/>
          </a:solidFill>
          <a:ln>
            <a:noFill/>
          </a:ln>
          <a:effectLst/>
        </p:spPr>
        <p:txBody>
          <a:bodyPr rtlCol="0" anchor="ctr"/>
          <a:lstStyle/>
          <a:p>
            <a:pPr algn="ctr"/>
          </a:p>
        </p:txBody>
      </p:sp>
      <p:sp>
        <p:nvSpPr>
          <p:cNvPr id="30" name="TextBox 29"/>
          <p:cNvSpPr txBox="1"/>
          <p:nvPr/>
        </p:nvSpPr>
        <p:spPr>
          <a:xfrm>
            <a:off x="420624" y="3694176"/>
            <a:ext cx="347472" cy="347472"/>
          </a:xfrm>
          <a:prstGeom prst="rect">
            <a:avLst/>
          </a:prstGeom>
          <a:noFill/>
        </p:spPr>
        <p:txBody>
          <a:bodyPr wrap="square" anchor="ctr" lIns="0" rIns="0" tIns="0" bIns="0">
            <a:spAutoFit/>
          </a:bodyPr>
          <a:lstStyle/>
          <a:p>
            <a:pPr algn="ctr"/>
            <a:r>
              <a:rPr sz="1300" b="1" i="0">
                <a:solidFill>
                  <a:srgbClr val="FFFFFF"/>
                </a:solidFill>
                <a:latin typeface="Aptos"/>
              </a:rPr>
              <a:t>4</a:t>
            </a:r>
          </a:p>
        </p:txBody>
      </p:sp>
      <p:sp>
        <p:nvSpPr>
          <p:cNvPr id="31" name="TextBox 30"/>
          <p:cNvSpPr txBox="1"/>
          <p:nvPr/>
        </p:nvSpPr>
        <p:spPr>
          <a:xfrm>
            <a:off x="960120" y="3584448"/>
            <a:ext cx="3291840" cy="676656"/>
          </a:xfrm>
          <a:prstGeom prst="rect">
            <a:avLst/>
          </a:prstGeom>
          <a:noFill/>
        </p:spPr>
        <p:txBody>
          <a:bodyPr wrap="square" anchor="ctr" lIns="0" rIns="0" tIns="0" bIns="0">
            <a:spAutoFit/>
          </a:bodyPr>
          <a:lstStyle/>
          <a:p>
            <a:pPr algn="l"/>
            <a:r>
              <a:rPr sz="1500" b="1" i="0">
                <a:solidFill>
                  <a:srgbClr val="0F4C47"/>
                </a:solidFill>
                <a:latin typeface="Aptos"/>
              </a:rPr>
              <a:t>Dữ liệu ở Google của trường</a:t>
            </a:r>
          </a:p>
        </p:txBody>
      </p:sp>
      <p:sp>
        <p:nvSpPr>
          <p:cNvPr id="32" name="TextBox 31"/>
          <p:cNvSpPr txBox="1"/>
          <p:nvPr/>
        </p:nvSpPr>
        <p:spPr>
          <a:xfrm>
            <a:off x="4297680" y="3584448"/>
            <a:ext cx="7452360" cy="676656"/>
          </a:xfrm>
          <a:prstGeom prst="rect">
            <a:avLst/>
          </a:prstGeom>
          <a:noFill/>
        </p:spPr>
        <p:txBody>
          <a:bodyPr wrap="square" anchor="ctr" lIns="0" rIns="0" tIns="0" bIns="0">
            <a:spAutoFit/>
          </a:bodyPr>
          <a:lstStyle/>
          <a:p>
            <a:pPr algn="l"/>
            <a:r>
              <a:rPr sz="1350" b="0" i="0">
                <a:solidFill>
                  <a:srgbClr val="1F2D2C"/>
                </a:solidFill>
                <a:latin typeface="Aptos"/>
              </a:rPr>
              <a:t>Google Sheet, ảnh bằng chứng trong thư mục Drive riêng tư.</a:t>
            </a:r>
          </a:p>
        </p:txBody>
      </p:sp>
      <p:cxnSp>
        <p:nvCxnSpPr>
          <p:cNvPr id="33" name="Connector 32"/>
          <p:cNvCxnSpPr/>
          <p:nvPr/>
        </p:nvCxnSpPr>
        <p:spPr>
          <a:xfrm>
            <a:off x="420624" y="4315968"/>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420624" y="4462272"/>
            <a:ext cx="347472" cy="347472"/>
          </a:xfrm>
          <a:prstGeom prst="ellipse">
            <a:avLst/>
          </a:prstGeom>
          <a:solidFill>
            <a:srgbClr val="0F766E"/>
          </a:solidFill>
          <a:ln>
            <a:noFill/>
          </a:ln>
          <a:effectLst/>
        </p:spPr>
        <p:txBody>
          <a:bodyPr rtlCol="0" anchor="ctr"/>
          <a:lstStyle/>
          <a:p>
            <a:pPr algn="ctr"/>
          </a:p>
        </p:txBody>
      </p:sp>
      <p:sp>
        <p:nvSpPr>
          <p:cNvPr id="35" name="TextBox 34"/>
          <p:cNvSpPr txBox="1"/>
          <p:nvPr/>
        </p:nvSpPr>
        <p:spPr>
          <a:xfrm>
            <a:off x="420624" y="4462272"/>
            <a:ext cx="347472" cy="347472"/>
          </a:xfrm>
          <a:prstGeom prst="rect">
            <a:avLst/>
          </a:prstGeom>
          <a:noFill/>
        </p:spPr>
        <p:txBody>
          <a:bodyPr wrap="square" anchor="ctr" lIns="0" rIns="0" tIns="0" bIns="0">
            <a:spAutoFit/>
          </a:bodyPr>
          <a:lstStyle/>
          <a:p>
            <a:pPr algn="ctr"/>
            <a:r>
              <a:rPr sz="1300" b="1" i="0">
                <a:solidFill>
                  <a:srgbClr val="FFFFFF"/>
                </a:solidFill>
                <a:latin typeface="Aptos"/>
              </a:rPr>
              <a:t>5</a:t>
            </a:r>
          </a:p>
        </p:txBody>
      </p:sp>
      <p:sp>
        <p:nvSpPr>
          <p:cNvPr id="36" name="TextBox 35"/>
          <p:cNvSpPr txBox="1"/>
          <p:nvPr/>
        </p:nvSpPr>
        <p:spPr>
          <a:xfrm>
            <a:off x="960120" y="4352544"/>
            <a:ext cx="3291840" cy="676656"/>
          </a:xfrm>
          <a:prstGeom prst="rect">
            <a:avLst/>
          </a:prstGeom>
          <a:noFill/>
        </p:spPr>
        <p:txBody>
          <a:bodyPr wrap="square" anchor="ctr" lIns="0" rIns="0" tIns="0" bIns="0">
            <a:spAutoFit/>
          </a:bodyPr>
          <a:lstStyle/>
          <a:p>
            <a:pPr algn="l"/>
            <a:r>
              <a:rPr sz="1500" b="1" i="0">
                <a:solidFill>
                  <a:srgbClr val="0F4C47"/>
                </a:solidFill>
                <a:latin typeface="Aptos"/>
              </a:rPr>
              <a:t>Không mất thao tác</a:t>
            </a:r>
          </a:p>
        </p:txBody>
      </p:sp>
      <p:sp>
        <p:nvSpPr>
          <p:cNvPr id="37" name="TextBox 36"/>
          <p:cNvSpPr txBox="1"/>
          <p:nvPr/>
        </p:nvSpPr>
        <p:spPr>
          <a:xfrm>
            <a:off x="4297680" y="4352544"/>
            <a:ext cx="7452360" cy="676656"/>
          </a:xfrm>
          <a:prstGeom prst="rect">
            <a:avLst/>
          </a:prstGeom>
          <a:noFill/>
        </p:spPr>
        <p:txBody>
          <a:bodyPr wrap="square" anchor="ctr" lIns="0" rIns="0" tIns="0" bIns="0">
            <a:spAutoFit/>
          </a:bodyPr>
          <a:lstStyle/>
          <a:p>
            <a:pPr algn="l"/>
            <a:r>
              <a:rPr sz="1350" b="0" i="0">
                <a:solidFill>
                  <a:srgbClr val="1F2D2C"/>
                </a:solidFill>
                <a:latin typeface="Aptos"/>
              </a:rPr>
              <a:t>Ghi khi mạng yếu được giữ trên máy và tự gửi lại, không ghi trùng.</a:t>
            </a:r>
          </a:p>
        </p:txBody>
      </p:sp>
      <p:cxnSp>
        <p:nvCxnSpPr>
          <p:cNvPr id="38" name="Connector 37"/>
          <p:cNvCxnSpPr/>
          <p:nvPr/>
        </p:nvCxnSpPr>
        <p:spPr>
          <a:xfrm>
            <a:off x="420624" y="5084064"/>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420624" y="5230368"/>
            <a:ext cx="347472" cy="347472"/>
          </a:xfrm>
          <a:prstGeom prst="ellipse">
            <a:avLst/>
          </a:prstGeom>
          <a:solidFill>
            <a:srgbClr val="0F766E"/>
          </a:solidFill>
          <a:ln>
            <a:noFill/>
          </a:ln>
          <a:effectLst/>
        </p:spPr>
        <p:txBody>
          <a:bodyPr rtlCol="0" anchor="ctr"/>
          <a:lstStyle/>
          <a:p>
            <a:pPr algn="ctr"/>
          </a:p>
        </p:txBody>
      </p:sp>
      <p:sp>
        <p:nvSpPr>
          <p:cNvPr id="40" name="TextBox 39"/>
          <p:cNvSpPr txBox="1"/>
          <p:nvPr/>
        </p:nvSpPr>
        <p:spPr>
          <a:xfrm>
            <a:off x="420624" y="5230368"/>
            <a:ext cx="347472" cy="347472"/>
          </a:xfrm>
          <a:prstGeom prst="rect">
            <a:avLst/>
          </a:prstGeom>
          <a:noFill/>
        </p:spPr>
        <p:txBody>
          <a:bodyPr wrap="square" anchor="ctr" lIns="0" rIns="0" tIns="0" bIns="0">
            <a:spAutoFit/>
          </a:bodyPr>
          <a:lstStyle/>
          <a:p>
            <a:pPr algn="ctr"/>
            <a:r>
              <a:rPr sz="1300" b="1" i="0">
                <a:solidFill>
                  <a:srgbClr val="FFFFFF"/>
                </a:solidFill>
                <a:latin typeface="Aptos"/>
              </a:rPr>
              <a:t>6</a:t>
            </a:r>
          </a:p>
        </p:txBody>
      </p:sp>
      <p:sp>
        <p:nvSpPr>
          <p:cNvPr id="41" name="TextBox 40"/>
          <p:cNvSpPr txBox="1"/>
          <p:nvPr/>
        </p:nvSpPr>
        <p:spPr>
          <a:xfrm>
            <a:off x="960120" y="5120640"/>
            <a:ext cx="3291840" cy="676656"/>
          </a:xfrm>
          <a:prstGeom prst="rect">
            <a:avLst/>
          </a:prstGeom>
          <a:noFill/>
        </p:spPr>
        <p:txBody>
          <a:bodyPr wrap="square" anchor="ctr" lIns="0" rIns="0" tIns="0" bIns="0">
            <a:spAutoFit/>
          </a:bodyPr>
          <a:lstStyle/>
          <a:p>
            <a:pPr algn="l"/>
            <a:r>
              <a:rPr sz="1500" b="1" i="0">
                <a:solidFill>
                  <a:srgbClr val="0F4C47"/>
                </a:solidFill>
                <a:latin typeface="Aptos"/>
              </a:rPr>
              <a:t>Dữ liệu mẫu khi giới thiệu</a:t>
            </a:r>
          </a:p>
        </p:txBody>
      </p:sp>
      <p:sp>
        <p:nvSpPr>
          <p:cNvPr id="42" name="TextBox 41"/>
          <p:cNvSpPr txBox="1"/>
          <p:nvPr/>
        </p:nvSpPr>
        <p:spPr>
          <a:xfrm>
            <a:off x="4297680" y="5120640"/>
            <a:ext cx="7452360" cy="676656"/>
          </a:xfrm>
          <a:prstGeom prst="rect">
            <a:avLst/>
          </a:prstGeom>
          <a:noFill/>
        </p:spPr>
        <p:txBody>
          <a:bodyPr wrap="square" anchor="ctr" lIns="0" rIns="0" tIns="0" bIns="0">
            <a:spAutoFit/>
          </a:bodyPr>
          <a:lstStyle/>
          <a:p>
            <a:pPr algn="l"/>
            <a:r>
              <a:rPr sz="1350" b="0" i="0">
                <a:solidFill>
                  <a:srgbClr val="1F2D2C"/>
                </a:solidFill>
                <a:latin typeface="Aptos"/>
              </a:rPr>
              <a:t>Ảnh chụp, hướng dẫn, bản trải nghiệm đều dùng tên giả.</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IV · HIỆU QUẢ</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15</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300" b="1" i="0">
                <a:solidFill>
                  <a:srgbClr val="0F4C47"/>
                </a:solidFill>
                <a:latin typeface="Aptos"/>
              </a:rPr>
              <a:t>So với cách truyền thống: nhanh hơn, minh bạch hơn, kết nối hơn</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TextBox 9"/>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1" name="Rounded Rectangle 10"/>
          <p:cNvSpPr/>
          <p:nvPr/>
        </p:nvSpPr>
        <p:spPr>
          <a:xfrm>
            <a:off x="8034528"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graphicFrame>
        <p:nvGraphicFramePr>
          <p:cNvPr id="14" name="Table 13"/>
          <p:cNvGraphicFramePr>
            <a:graphicFrameLocks noGrp="1"/>
          </p:cNvGraphicFramePr>
          <p:nvPr/>
        </p:nvGraphicFramePr>
        <p:xfrm>
          <a:off x="420624" y="1280160"/>
          <a:ext cx="11347704" cy="4389120"/>
        </p:xfrm>
        <a:graphic>
          <a:graphicData uri="http://schemas.openxmlformats.org/drawingml/2006/table">
            <a:tbl>
              <a:tblPr firstRow="0" bandRow="0">
                <a:tableStyleId>{2D5ABB26-0587-4C30-8999-92F81FD0307C}</a:tableStyleId>
              </a:tblPr>
              <a:tblGrid>
                <a:gridCol w="2743200"/>
                <a:gridCol w="4206240"/>
                <a:gridCol w="4398264"/>
              </a:tblGrid>
              <a:tr h="548640">
                <a:tc>
                  <a:txBody>
                    <a:bodyPr/>
                    <a:lstStyle/>
                    <a:p>
                      <a:pPr algn="l"/>
                      <a:r>
                        <a:rPr sz="1300" b="1">
                          <a:solidFill>
                            <a:srgbClr val="0F4C47"/>
                          </a:solidFill>
                          <a:latin typeface="Aptos"/>
                        </a:rPr>
                        <a:t>Tiêu chí</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Sổ giấy, Excel, Sheet rời</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Sổ hạnh kiểm 11D3</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r>
              <a:tr h="548640">
                <a:tc>
                  <a:txBody>
                    <a:bodyPr/>
                    <a:lstStyle/>
                    <a:p>
                      <a:pPr algn="l"/>
                      <a:r>
                        <a:rPr sz="1350" b="0">
                          <a:solidFill>
                            <a:srgbClr val="1F2D2C"/>
                          </a:solidFill>
                          <a:latin typeface="Aptos"/>
                        </a:rPr>
                        <a:t>Ghi nhận</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Ghi sổ từng tổ, chép lại vào file</a:t>
                      </a:r>
                    </a:p>
                  </a:txBody>
                  <a:tcPr marL="73152" marR="73152" marT="18288" marB="18288" anchor="ctr">
                    <a:lnL w="0">
                      <a:noFill/>
                    </a:lnL>
                    <a:lnR w="0">
                      <a:noFill/>
                    </a:lnR>
                    <a:lnT w="0">
                      <a:noFill/>
                    </a:lnT>
                    <a:lnB w="12700">
                      <a:solidFill>
                        <a:srgbClr val="D5E3E2"/>
                      </a:solidFill>
                    </a:lnB>
                    <a:noFill/>
                  </a:tcPr>
                </a:tc>
                <a:tc>
                  <a:txBody>
                    <a:bodyPr/>
                    <a:lstStyle/>
                    <a:p>
                      <a:pPr algn="l"/>
                      <a:r>
                        <a:rPr sz="1350" b="1">
                          <a:solidFill>
                            <a:srgbClr val="0F4C47"/>
                          </a:solidFill>
                          <a:latin typeface="Aptos"/>
                        </a:rPr>
                        <a:t>Ghi một lần trên điện thoại</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50" b="0">
                          <a:solidFill>
                            <a:srgbClr val="1F2D2C"/>
                          </a:solidFill>
                          <a:latin typeface="Aptos"/>
                        </a:rPr>
                        <a:t>Tổng hợp, xếp loại</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Cộng tay cuối tuần, cuối tháng</a:t>
                      </a:r>
                    </a:p>
                  </a:txBody>
                  <a:tcPr marL="73152" marR="73152" marT="18288" marB="18288" anchor="ctr">
                    <a:lnL w="0">
                      <a:noFill/>
                    </a:lnL>
                    <a:lnR w="0">
                      <a:noFill/>
                    </a:lnR>
                    <a:lnT w="0">
                      <a:noFill/>
                    </a:lnT>
                    <a:lnB w="12700">
                      <a:solidFill>
                        <a:srgbClr val="D5E3E2"/>
                      </a:solidFill>
                    </a:lnB>
                    <a:noFill/>
                  </a:tcPr>
                </a:tc>
                <a:tc>
                  <a:txBody>
                    <a:bodyPr/>
                    <a:lstStyle/>
                    <a:p>
                      <a:pPr algn="l"/>
                      <a:r>
                        <a:rPr sz="1350" b="1">
                          <a:solidFill>
                            <a:srgbClr val="0F4C47"/>
                          </a:solidFill>
                          <a:latin typeface="Aptos"/>
                        </a:rPr>
                        <a:t>Tự động, cập nhật trực tiếp</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50" b="0">
                          <a:solidFill>
                            <a:srgbClr val="1F2D2C"/>
                          </a:solidFill>
                          <a:latin typeface="Aptos"/>
                        </a:rPr>
                        <a:t>Nguồn gốc điểm</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Phải lật sổ, hỏi lại</a:t>
                      </a:r>
                    </a:p>
                  </a:txBody>
                  <a:tcPr marL="73152" marR="73152" marT="18288" marB="18288" anchor="ctr">
                    <a:lnL w="0">
                      <a:noFill/>
                    </a:lnL>
                    <a:lnR w="0">
                      <a:noFill/>
                    </a:lnR>
                    <a:lnT w="0">
                      <a:noFill/>
                    </a:lnT>
                    <a:lnB w="12700">
                      <a:solidFill>
                        <a:srgbClr val="D5E3E2"/>
                      </a:solidFill>
                    </a:lnB>
                    <a:noFill/>
                  </a:tcPr>
                </a:tc>
                <a:tc>
                  <a:txBody>
                    <a:bodyPr/>
                    <a:lstStyle/>
                    <a:p>
                      <a:pPr algn="l"/>
                      <a:r>
                        <a:rPr sz="1350" b="1">
                          <a:solidFill>
                            <a:srgbClr val="0F4C47"/>
                          </a:solidFill>
                          <a:latin typeface="Aptos"/>
                        </a:rPr>
                        <a:t>Rê chuột là thấy; có ảnh bằng chứng</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50" b="0">
                          <a:solidFill>
                            <a:srgbClr val="1F2D2C"/>
                          </a:solidFill>
                          <a:latin typeface="Aptos"/>
                        </a:rPr>
                        <a:t>Báo cáo</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Soạn văn bản thủ công</a:t>
                      </a:r>
                    </a:p>
                  </a:txBody>
                  <a:tcPr marL="73152" marR="73152" marT="18288" marB="18288" anchor="ctr">
                    <a:lnL w="0">
                      <a:noFill/>
                    </a:lnL>
                    <a:lnR w="0">
                      <a:noFill/>
                    </a:lnR>
                    <a:lnT w="0">
                      <a:noFill/>
                    </a:lnT>
                    <a:lnB w="12700">
                      <a:solidFill>
                        <a:srgbClr val="D5E3E2"/>
                      </a:solidFill>
                    </a:lnB>
                    <a:noFill/>
                  </a:tcPr>
                </a:tc>
                <a:tc>
                  <a:txBody>
                    <a:bodyPr/>
                    <a:lstStyle/>
                    <a:p>
                      <a:pPr algn="l"/>
                      <a:r>
                        <a:rPr sz="1350" b="1">
                          <a:solidFill>
                            <a:srgbClr val="0F4C47"/>
                          </a:solidFill>
                          <a:latin typeface="Aptos"/>
                        </a:rPr>
                        <a:t>Tự soạn, in PDF một nút</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50" b="0">
                          <a:solidFill>
                            <a:srgbClr val="1F2D2C"/>
                          </a:solidFill>
                          <a:latin typeface="Aptos"/>
                        </a:rPr>
                        <a:t>Phụ huynh</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Biết qua họp, tin nhắn lẻ</a:t>
                      </a:r>
                    </a:p>
                  </a:txBody>
                  <a:tcPr marL="73152" marR="73152" marT="18288" marB="18288" anchor="ctr">
                    <a:lnL w="0">
                      <a:noFill/>
                    </a:lnL>
                    <a:lnR w="0">
                      <a:noFill/>
                    </a:lnR>
                    <a:lnT w="0">
                      <a:noFill/>
                    </a:lnT>
                    <a:lnB w="12700">
                      <a:solidFill>
                        <a:srgbClr val="D5E3E2"/>
                      </a:solidFill>
                    </a:lnB>
                    <a:noFill/>
                  </a:tcPr>
                </a:tc>
                <a:tc>
                  <a:txBody>
                    <a:bodyPr/>
                    <a:lstStyle/>
                    <a:p>
                      <a:pPr algn="l"/>
                      <a:r>
                        <a:rPr sz="1350" b="1">
                          <a:solidFill>
                            <a:srgbClr val="0F4C47"/>
                          </a:solidFill>
                          <a:latin typeface="Aptos"/>
                        </a:rPr>
                        <a:t>Email ngay, xem hồ sơ mọi lúc</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50" b="0">
                          <a:solidFill>
                            <a:srgbClr val="1F2D2C"/>
                          </a:solidFill>
                          <a:latin typeface="Aptos"/>
                        </a:rPr>
                        <a:t>Kiểm soát sửa đổi</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Khó biết ai sửa, sửa khi nào</a:t>
                      </a:r>
                    </a:p>
                  </a:txBody>
                  <a:tcPr marL="73152" marR="73152" marT="18288" marB="18288" anchor="ctr">
                    <a:lnL w="0">
                      <a:noFill/>
                    </a:lnL>
                    <a:lnR w="0">
                      <a:noFill/>
                    </a:lnR>
                    <a:lnT w="0">
                      <a:noFill/>
                    </a:lnT>
                    <a:lnB w="12700">
                      <a:solidFill>
                        <a:srgbClr val="D5E3E2"/>
                      </a:solidFill>
                    </a:lnB>
                    <a:noFill/>
                  </a:tcPr>
                </a:tc>
                <a:tc>
                  <a:txBody>
                    <a:bodyPr/>
                    <a:lstStyle/>
                    <a:p>
                      <a:pPr algn="l"/>
                      <a:r>
                        <a:rPr sz="1350" b="1">
                          <a:solidFill>
                            <a:srgbClr val="0F4C47"/>
                          </a:solidFill>
                          <a:latin typeface="Aptos"/>
                        </a:rPr>
                        <a:t>Ghi người ghi, chốt tháng khoá dữ liệu</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50" b="0">
                          <a:solidFill>
                            <a:srgbClr val="1F2D2C"/>
                          </a:solidFill>
                          <a:latin typeface="Aptos"/>
                        </a:rPr>
                        <a:t>Chi phí</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Giấy, thời gian của giáo viên</a:t>
                      </a:r>
                    </a:p>
                  </a:txBody>
                  <a:tcPr marL="73152" marR="73152" marT="18288" marB="18288" anchor="ctr">
                    <a:lnL w="0">
                      <a:noFill/>
                    </a:lnL>
                    <a:lnR w="0">
                      <a:noFill/>
                    </a:lnR>
                    <a:lnT w="0">
                      <a:noFill/>
                    </a:lnT>
                    <a:lnB w="12700">
                      <a:solidFill>
                        <a:srgbClr val="D5E3E2"/>
                      </a:solidFill>
                    </a:lnB>
                    <a:noFill/>
                  </a:tcPr>
                </a:tc>
                <a:tc>
                  <a:txBody>
                    <a:bodyPr/>
                    <a:lstStyle/>
                    <a:p>
                      <a:pPr algn="l"/>
                      <a:r>
                        <a:rPr sz="1350" b="1">
                          <a:solidFill>
                            <a:srgbClr val="0F4C47"/>
                          </a:solidFill>
                          <a:latin typeface="Aptos"/>
                        </a:rPr>
                        <a:t>Dùng dịch vụ miễn phí của Google, GitHub</a:t>
                      </a:r>
                    </a:p>
                  </a:txBody>
                  <a:tcPr marL="73152" marR="73152" marT="18288" marB="18288" anchor="ctr">
                    <a:lnL w="0">
                      <a:noFill/>
                    </a:lnL>
                    <a:lnR w="0">
                      <a:noFill/>
                    </a:lnR>
                    <a:lnT w="0">
                      <a:noFill/>
                    </a:lnT>
                    <a:lnB w="12700">
                      <a:solidFill>
                        <a:srgbClr val="D5E3E2"/>
                      </a:solidFill>
                    </a:lnB>
                    <a:solidFill>
                      <a:srgbClr val="E0F2F1"/>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IV · HIỆU QUẢ</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16</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Lợi ích cho từng bên trong nhà trường và gia đình</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TextBox 9"/>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1" name="Rounded Rectangle 10"/>
          <p:cNvSpPr/>
          <p:nvPr/>
        </p:nvSpPr>
        <p:spPr>
          <a:xfrm>
            <a:off x="8034528"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Rounded Rectangle 13"/>
          <p:cNvSpPr/>
          <p:nvPr/>
        </p:nvSpPr>
        <p:spPr>
          <a:xfrm>
            <a:off x="420624" y="1280160"/>
            <a:ext cx="3657600" cy="2194560"/>
          </a:xfrm>
          <a:prstGeom prst="roundRect">
            <a:avLst>
              <a:gd name="adj" fmla="val 6000"/>
            </a:avLst>
          </a:prstGeom>
          <a:solidFill>
            <a:srgbClr val="F4F7F7"/>
          </a:solidFill>
          <a:ln>
            <a:noFill/>
          </a:ln>
          <a:effectLst/>
        </p:spPr>
        <p:txBody>
          <a:bodyPr rtlCol="0" anchor="ctr"/>
          <a:lstStyle/>
          <a:p>
            <a:pPr algn="ctr"/>
          </a:p>
        </p:txBody>
      </p:sp>
      <p:sp>
        <p:nvSpPr>
          <p:cNvPr id="15" name="Oval 14"/>
          <p:cNvSpPr/>
          <p:nvPr/>
        </p:nvSpPr>
        <p:spPr>
          <a:xfrm>
            <a:off x="649224" y="1508760"/>
            <a:ext cx="347472" cy="347472"/>
          </a:xfrm>
          <a:prstGeom prst="ellipse">
            <a:avLst/>
          </a:prstGeom>
          <a:solidFill>
            <a:srgbClr val="0F766E"/>
          </a:solidFill>
          <a:ln>
            <a:noFill/>
          </a:ln>
          <a:effectLst/>
        </p:spPr>
        <p:txBody>
          <a:bodyPr rtlCol="0" anchor="ctr"/>
          <a:lstStyle/>
          <a:p>
            <a:pPr algn="ctr"/>
          </a:p>
        </p:txBody>
      </p:sp>
      <p:sp>
        <p:nvSpPr>
          <p:cNvPr id="16" name="TextBox 15"/>
          <p:cNvSpPr txBox="1"/>
          <p:nvPr/>
        </p:nvSpPr>
        <p:spPr>
          <a:xfrm>
            <a:off x="649224" y="1508760"/>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17" name="TextBox 16"/>
          <p:cNvSpPr txBox="1"/>
          <p:nvPr/>
        </p:nvSpPr>
        <p:spPr>
          <a:xfrm>
            <a:off x="1152144" y="1499616"/>
            <a:ext cx="2743200" cy="384048"/>
          </a:xfrm>
          <a:prstGeom prst="rect">
            <a:avLst/>
          </a:prstGeom>
          <a:noFill/>
        </p:spPr>
        <p:txBody>
          <a:bodyPr wrap="square" anchor="ctr" lIns="0" rIns="0" tIns="0" bIns="0">
            <a:spAutoFit/>
          </a:bodyPr>
          <a:lstStyle/>
          <a:p>
            <a:pPr algn="l"/>
            <a:r>
              <a:rPr sz="1700" b="1" i="0">
                <a:solidFill>
                  <a:srgbClr val="0F4C47"/>
                </a:solidFill>
                <a:latin typeface="Aptos"/>
              </a:rPr>
              <a:t>Học sinh</a:t>
            </a:r>
          </a:p>
        </p:txBody>
      </p:sp>
      <p:sp>
        <p:nvSpPr>
          <p:cNvPr id="18" name="TextBox 17"/>
          <p:cNvSpPr txBox="1"/>
          <p:nvPr/>
        </p:nvSpPr>
        <p:spPr>
          <a:xfrm>
            <a:off x="649224" y="2057400"/>
            <a:ext cx="3200400" cy="1325880"/>
          </a:xfrm>
          <a:prstGeom prst="rect">
            <a:avLst/>
          </a:prstGeom>
          <a:noFill/>
        </p:spPr>
        <p:txBody>
          <a:bodyPr wrap="square" anchor="t" lIns="0" rIns="0" tIns="0" bIns="0">
            <a:spAutoFit/>
          </a:bodyPr>
          <a:lstStyle/>
          <a:p>
            <a:pPr algn="l"/>
            <a:r>
              <a:rPr sz="1350" b="0" i="0">
                <a:solidFill>
                  <a:srgbClr val="1F2D2C"/>
                </a:solidFill>
                <a:latin typeface="Aptos"/>
              </a:rPr>
              <a:t>Biết ngay mình được cộng, bị trừ vì sao; được ghi nhận việc tốt, tự điều chỉnh sớm.</a:t>
            </a:r>
          </a:p>
        </p:txBody>
      </p:sp>
      <p:sp>
        <p:nvSpPr>
          <p:cNvPr id="19" name="Rounded Rectangle 18"/>
          <p:cNvSpPr/>
          <p:nvPr/>
        </p:nvSpPr>
        <p:spPr>
          <a:xfrm>
            <a:off x="4233672" y="1280160"/>
            <a:ext cx="3657600" cy="2194560"/>
          </a:xfrm>
          <a:prstGeom prst="roundRect">
            <a:avLst>
              <a:gd name="adj" fmla="val 6000"/>
            </a:avLst>
          </a:prstGeom>
          <a:solidFill>
            <a:srgbClr val="F4F7F7"/>
          </a:solidFill>
          <a:ln>
            <a:noFill/>
          </a:ln>
          <a:effectLst/>
        </p:spPr>
        <p:txBody>
          <a:bodyPr rtlCol="0" anchor="ctr"/>
          <a:lstStyle/>
          <a:p>
            <a:pPr algn="ctr"/>
          </a:p>
        </p:txBody>
      </p:sp>
      <p:sp>
        <p:nvSpPr>
          <p:cNvPr id="20" name="Oval 19"/>
          <p:cNvSpPr/>
          <p:nvPr/>
        </p:nvSpPr>
        <p:spPr>
          <a:xfrm>
            <a:off x="4462272" y="1508760"/>
            <a:ext cx="347472" cy="347472"/>
          </a:xfrm>
          <a:prstGeom prst="ellipse">
            <a:avLst/>
          </a:prstGeom>
          <a:solidFill>
            <a:srgbClr val="0F766E"/>
          </a:solidFill>
          <a:ln>
            <a:noFill/>
          </a:ln>
          <a:effectLst/>
        </p:spPr>
        <p:txBody>
          <a:bodyPr rtlCol="0" anchor="ctr"/>
          <a:lstStyle/>
          <a:p>
            <a:pPr algn="ctr"/>
          </a:p>
        </p:txBody>
      </p:sp>
      <p:sp>
        <p:nvSpPr>
          <p:cNvPr id="21" name="TextBox 20"/>
          <p:cNvSpPr txBox="1"/>
          <p:nvPr/>
        </p:nvSpPr>
        <p:spPr>
          <a:xfrm>
            <a:off x="4462272" y="1508760"/>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22" name="TextBox 21"/>
          <p:cNvSpPr txBox="1"/>
          <p:nvPr/>
        </p:nvSpPr>
        <p:spPr>
          <a:xfrm>
            <a:off x="4965192" y="1499616"/>
            <a:ext cx="2743200" cy="384048"/>
          </a:xfrm>
          <a:prstGeom prst="rect">
            <a:avLst/>
          </a:prstGeom>
          <a:noFill/>
        </p:spPr>
        <p:txBody>
          <a:bodyPr wrap="square" anchor="ctr" lIns="0" rIns="0" tIns="0" bIns="0">
            <a:spAutoFit/>
          </a:bodyPr>
          <a:lstStyle/>
          <a:p>
            <a:pPr algn="l"/>
            <a:r>
              <a:rPr sz="1700" b="1" i="0">
                <a:solidFill>
                  <a:srgbClr val="0F4C47"/>
                </a:solidFill>
                <a:latin typeface="Aptos"/>
              </a:rPr>
              <a:t>Cán bộ lớp</a:t>
            </a:r>
          </a:p>
        </p:txBody>
      </p:sp>
      <p:sp>
        <p:nvSpPr>
          <p:cNvPr id="23" name="TextBox 22"/>
          <p:cNvSpPr txBox="1"/>
          <p:nvPr/>
        </p:nvSpPr>
        <p:spPr>
          <a:xfrm>
            <a:off x="4462272" y="2057400"/>
            <a:ext cx="3200400" cy="1325880"/>
          </a:xfrm>
          <a:prstGeom prst="rect">
            <a:avLst/>
          </a:prstGeom>
          <a:noFill/>
        </p:spPr>
        <p:txBody>
          <a:bodyPr wrap="square" anchor="t" lIns="0" rIns="0" tIns="0" bIns="0">
            <a:spAutoFit/>
          </a:bodyPr>
          <a:lstStyle/>
          <a:p>
            <a:pPr algn="l"/>
            <a:r>
              <a:rPr sz="1350" b="0" i="0">
                <a:solidFill>
                  <a:srgbClr val="1F2D2C"/>
                </a:solidFill>
                <a:latin typeface="Aptos"/>
              </a:rPr>
              <a:t>Ghi nhanh trên điện thoại, không giữ sổ giấy; rèn kỹ năng số và tinh thần trách nhiệm.</a:t>
            </a:r>
          </a:p>
        </p:txBody>
      </p:sp>
      <p:sp>
        <p:nvSpPr>
          <p:cNvPr id="24" name="Rounded Rectangle 23"/>
          <p:cNvSpPr/>
          <p:nvPr/>
        </p:nvSpPr>
        <p:spPr>
          <a:xfrm>
            <a:off x="8046720" y="1280160"/>
            <a:ext cx="3657600" cy="2194560"/>
          </a:xfrm>
          <a:prstGeom prst="roundRect">
            <a:avLst>
              <a:gd name="adj" fmla="val 6000"/>
            </a:avLst>
          </a:prstGeom>
          <a:solidFill>
            <a:srgbClr val="F4F7F7"/>
          </a:solidFill>
          <a:ln>
            <a:noFill/>
          </a:ln>
          <a:effectLst/>
        </p:spPr>
        <p:txBody>
          <a:bodyPr rtlCol="0" anchor="ctr"/>
          <a:lstStyle/>
          <a:p>
            <a:pPr algn="ctr"/>
          </a:p>
        </p:txBody>
      </p:sp>
      <p:sp>
        <p:nvSpPr>
          <p:cNvPr id="25" name="Oval 24"/>
          <p:cNvSpPr/>
          <p:nvPr/>
        </p:nvSpPr>
        <p:spPr>
          <a:xfrm>
            <a:off x="8275320" y="1508760"/>
            <a:ext cx="347472" cy="347472"/>
          </a:xfrm>
          <a:prstGeom prst="ellipse">
            <a:avLst/>
          </a:prstGeom>
          <a:solidFill>
            <a:srgbClr val="F4A261"/>
          </a:solidFill>
          <a:ln>
            <a:noFill/>
          </a:ln>
          <a:effectLst/>
        </p:spPr>
        <p:txBody>
          <a:bodyPr rtlCol="0" anchor="ctr"/>
          <a:lstStyle/>
          <a:p>
            <a:pPr algn="ctr"/>
          </a:p>
        </p:txBody>
      </p:sp>
      <p:sp>
        <p:nvSpPr>
          <p:cNvPr id="26" name="TextBox 25"/>
          <p:cNvSpPr txBox="1"/>
          <p:nvPr/>
        </p:nvSpPr>
        <p:spPr>
          <a:xfrm>
            <a:off x="8275320" y="1508760"/>
            <a:ext cx="347472" cy="347472"/>
          </a:xfrm>
          <a:prstGeom prst="rect">
            <a:avLst/>
          </a:prstGeom>
          <a:noFill/>
        </p:spPr>
        <p:txBody>
          <a:bodyPr wrap="square" anchor="ctr" lIns="0" rIns="0" tIns="0" bIns="0">
            <a:spAutoFit/>
          </a:bodyPr>
          <a:lstStyle/>
          <a:p>
            <a:pPr algn="ctr"/>
            <a:r>
              <a:rPr sz="1300" b="1" i="0">
                <a:solidFill>
                  <a:srgbClr val="FFFFFF"/>
                </a:solidFill>
                <a:latin typeface="Aptos"/>
              </a:rPr>
              <a:t>3</a:t>
            </a:r>
          </a:p>
        </p:txBody>
      </p:sp>
      <p:sp>
        <p:nvSpPr>
          <p:cNvPr id="27" name="TextBox 26"/>
          <p:cNvSpPr txBox="1"/>
          <p:nvPr/>
        </p:nvSpPr>
        <p:spPr>
          <a:xfrm>
            <a:off x="8778240" y="1499616"/>
            <a:ext cx="2743200" cy="384048"/>
          </a:xfrm>
          <a:prstGeom prst="rect">
            <a:avLst/>
          </a:prstGeom>
          <a:noFill/>
        </p:spPr>
        <p:txBody>
          <a:bodyPr wrap="square" anchor="ctr" lIns="0" rIns="0" tIns="0" bIns="0">
            <a:spAutoFit/>
          </a:bodyPr>
          <a:lstStyle/>
          <a:p>
            <a:pPr algn="l"/>
            <a:r>
              <a:rPr sz="1700" b="1" i="0">
                <a:solidFill>
                  <a:srgbClr val="0F4C47"/>
                </a:solidFill>
                <a:latin typeface="Aptos"/>
              </a:rPr>
              <a:t>Cô chủ nhiệm</a:t>
            </a:r>
          </a:p>
        </p:txBody>
      </p:sp>
      <p:sp>
        <p:nvSpPr>
          <p:cNvPr id="28" name="TextBox 27"/>
          <p:cNvSpPr txBox="1"/>
          <p:nvPr/>
        </p:nvSpPr>
        <p:spPr>
          <a:xfrm>
            <a:off x="8275320" y="2057400"/>
            <a:ext cx="3200400" cy="1325880"/>
          </a:xfrm>
          <a:prstGeom prst="rect">
            <a:avLst/>
          </a:prstGeom>
          <a:noFill/>
        </p:spPr>
        <p:txBody>
          <a:bodyPr wrap="square" anchor="t" lIns="0" rIns="0" tIns="0" bIns="0">
            <a:spAutoFit/>
          </a:bodyPr>
          <a:lstStyle/>
          <a:p>
            <a:pPr algn="l"/>
            <a:r>
              <a:rPr sz="1350" b="0" i="0">
                <a:solidFill>
                  <a:srgbClr val="1F2D2C"/>
                </a:solidFill>
                <a:latin typeface="Aptos"/>
              </a:rPr>
              <a:t>Bớt việc cộng điểm, soạn báo cáo; dành thời gian cho trao đổi, động viên học sinh.</a:t>
            </a:r>
          </a:p>
        </p:txBody>
      </p:sp>
      <p:sp>
        <p:nvSpPr>
          <p:cNvPr id="29" name="Rounded Rectangle 28"/>
          <p:cNvSpPr/>
          <p:nvPr/>
        </p:nvSpPr>
        <p:spPr>
          <a:xfrm>
            <a:off x="420624" y="3657600"/>
            <a:ext cx="3657600" cy="2194560"/>
          </a:xfrm>
          <a:prstGeom prst="roundRect">
            <a:avLst>
              <a:gd name="adj" fmla="val 6000"/>
            </a:avLst>
          </a:prstGeom>
          <a:solidFill>
            <a:srgbClr val="F4F7F7"/>
          </a:solidFill>
          <a:ln>
            <a:noFill/>
          </a:ln>
          <a:effectLst/>
        </p:spPr>
        <p:txBody>
          <a:bodyPr rtlCol="0" anchor="ctr"/>
          <a:lstStyle/>
          <a:p>
            <a:pPr algn="ctr"/>
          </a:p>
        </p:txBody>
      </p:sp>
      <p:sp>
        <p:nvSpPr>
          <p:cNvPr id="30" name="Oval 29"/>
          <p:cNvSpPr/>
          <p:nvPr/>
        </p:nvSpPr>
        <p:spPr>
          <a:xfrm>
            <a:off x="649224" y="3886200"/>
            <a:ext cx="347472" cy="347472"/>
          </a:xfrm>
          <a:prstGeom prst="ellipse">
            <a:avLst/>
          </a:prstGeom>
          <a:solidFill>
            <a:srgbClr val="0F766E"/>
          </a:solidFill>
          <a:ln>
            <a:noFill/>
          </a:ln>
          <a:effectLst/>
        </p:spPr>
        <p:txBody>
          <a:bodyPr rtlCol="0" anchor="ctr"/>
          <a:lstStyle/>
          <a:p>
            <a:pPr algn="ctr"/>
          </a:p>
        </p:txBody>
      </p:sp>
      <p:sp>
        <p:nvSpPr>
          <p:cNvPr id="31" name="TextBox 30"/>
          <p:cNvSpPr txBox="1"/>
          <p:nvPr/>
        </p:nvSpPr>
        <p:spPr>
          <a:xfrm>
            <a:off x="649224" y="3886200"/>
            <a:ext cx="347472" cy="347472"/>
          </a:xfrm>
          <a:prstGeom prst="rect">
            <a:avLst/>
          </a:prstGeom>
          <a:noFill/>
        </p:spPr>
        <p:txBody>
          <a:bodyPr wrap="square" anchor="ctr" lIns="0" rIns="0" tIns="0" bIns="0">
            <a:spAutoFit/>
          </a:bodyPr>
          <a:lstStyle/>
          <a:p>
            <a:pPr algn="ctr"/>
            <a:r>
              <a:rPr sz="1300" b="1" i="0">
                <a:solidFill>
                  <a:srgbClr val="FFFFFF"/>
                </a:solidFill>
                <a:latin typeface="Aptos"/>
              </a:rPr>
              <a:t>4</a:t>
            </a:r>
          </a:p>
        </p:txBody>
      </p:sp>
      <p:sp>
        <p:nvSpPr>
          <p:cNvPr id="32" name="TextBox 31"/>
          <p:cNvSpPr txBox="1"/>
          <p:nvPr/>
        </p:nvSpPr>
        <p:spPr>
          <a:xfrm>
            <a:off x="1152144" y="3877056"/>
            <a:ext cx="2743200" cy="384048"/>
          </a:xfrm>
          <a:prstGeom prst="rect">
            <a:avLst/>
          </a:prstGeom>
          <a:noFill/>
        </p:spPr>
        <p:txBody>
          <a:bodyPr wrap="square" anchor="ctr" lIns="0" rIns="0" tIns="0" bIns="0">
            <a:spAutoFit/>
          </a:bodyPr>
          <a:lstStyle/>
          <a:p>
            <a:pPr algn="l"/>
            <a:r>
              <a:rPr sz="1700" b="1" i="0">
                <a:solidFill>
                  <a:srgbClr val="0F4C47"/>
                </a:solidFill>
                <a:latin typeface="Aptos"/>
              </a:rPr>
              <a:t>Phụ huynh</a:t>
            </a:r>
          </a:p>
        </p:txBody>
      </p:sp>
      <p:sp>
        <p:nvSpPr>
          <p:cNvPr id="33" name="TextBox 32"/>
          <p:cNvSpPr txBox="1"/>
          <p:nvPr/>
        </p:nvSpPr>
        <p:spPr>
          <a:xfrm>
            <a:off x="649224" y="4434840"/>
            <a:ext cx="3200400" cy="1325880"/>
          </a:xfrm>
          <a:prstGeom prst="rect">
            <a:avLst/>
          </a:prstGeom>
          <a:noFill/>
        </p:spPr>
        <p:txBody>
          <a:bodyPr wrap="square" anchor="t" lIns="0" rIns="0" tIns="0" bIns="0">
            <a:spAutoFit/>
          </a:bodyPr>
          <a:lstStyle/>
          <a:p>
            <a:pPr algn="l"/>
            <a:r>
              <a:rPr sz="1350" b="0" i="0">
                <a:solidFill>
                  <a:srgbClr val="1F2D2C"/>
                </a:solidFill>
                <a:latin typeface="Aptos"/>
              </a:rPr>
              <a:t>Nắm tình hình của con kịp thời, có bằng chứng, phối hợp với cô sớm hơn.</a:t>
            </a:r>
          </a:p>
        </p:txBody>
      </p:sp>
      <p:sp>
        <p:nvSpPr>
          <p:cNvPr id="34" name="Rounded Rectangle 33"/>
          <p:cNvSpPr/>
          <p:nvPr/>
        </p:nvSpPr>
        <p:spPr>
          <a:xfrm>
            <a:off x="4233672" y="3657600"/>
            <a:ext cx="3657600" cy="2194560"/>
          </a:xfrm>
          <a:prstGeom prst="roundRect">
            <a:avLst>
              <a:gd name="adj" fmla="val 6000"/>
            </a:avLst>
          </a:prstGeom>
          <a:solidFill>
            <a:srgbClr val="F4F7F7"/>
          </a:solidFill>
          <a:ln>
            <a:noFill/>
          </a:ln>
          <a:effectLst/>
        </p:spPr>
        <p:txBody>
          <a:bodyPr rtlCol="0" anchor="ctr"/>
          <a:lstStyle/>
          <a:p>
            <a:pPr algn="ctr"/>
          </a:p>
        </p:txBody>
      </p:sp>
      <p:sp>
        <p:nvSpPr>
          <p:cNvPr id="35" name="Oval 34"/>
          <p:cNvSpPr/>
          <p:nvPr/>
        </p:nvSpPr>
        <p:spPr>
          <a:xfrm>
            <a:off x="4462272" y="3886200"/>
            <a:ext cx="347472" cy="347472"/>
          </a:xfrm>
          <a:prstGeom prst="ellipse">
            <a:avLst/>
          </a:prstGeom>
          <a:solidFill>
            <a:srgbClr val="0F766E"/>
          </a:solidFill>
          <a:ln>
            <a:noFill/>
          </a:ln>
          <a:effectLst/>
        </p:spPr>
        <p:txBody>
          <a:bodyPr rtlCol="0" anchor="ctr"/>
          <a:lstStyle/>
          <a:p>
            <a:pPr algn="ctr"/>
          </a:p>
        </p:txBody>
      </p:sp>
      <p:sp>
        <p:nvSpPr>
          <p:cNvPr id="36" name="TextBox 35"/>
          <p:cNvSpPr txBox="1"/>
          <p:nvPr/>
        </p:nvSpPr>
        <p:spPr>
          <a:xfrm>
            <a:off x="4462272" y="3886200"/>
            <a:ext cx="347472" cy="347472"/>
          </a:xfrm>
          <a:prstGeom prst="rect">
            <a:avLst/>
          </a:prstGeom>
          <a:noFill/>
        </p:spPr>
        <p:txBody>
          <a:bodyPr wrap="square" anchor="ctr" lIns="0" rIns="0" tIns="0" bIns="0">
            <a:spAutoFit/>
          </a:bodyPr>
          <a:lstStyle/>
          <a:p>
            <a:pPr algn="ctr"/>
            <a:r>
              <a:rPr sz="1300" b="1" i="0">
                <a:solidFill>
                  <a:srgbClr val="FFFFFF"/>
                </a:solidFill>
                <a:latin typeface="Aptos"/>
              </a:rPr>
              <a:t>5</a:t>
            </a:r>
          </a:p>
        </p:txBody>
      </p:sp>
      <p:sp>
        <p:nvSpPr>
          <p:cNvPr id="37" name="TextBox 36"/>
          <p:cNvSpPr txBox="1"/>
          <p:nvPr/>
        </p:nvSpPr>
        <p:spPr>
          <a:xfrm>
            <a:off x="4965192" y="3877056"/>
            <a:ext cx="2743200" cy="384048"/>
          </a:xfrm>
          <a:prstGeom prst="rect">
            <a:avLst/>
          </a:prstGeom>
          <a:noFill/>
        </p:spPr>
        <p:txBody>
          <a:bodyPr wrap="square" anchor="ctr" lIns="0" rIns="0" tIns="0" bIns="0">
            <a:spAutoFit/>
          </a:bodyPr>
          <a:lstStyle/>
          <a:p>
            <a:pPr algn="l"/>
            <a:r>
              <a:rPr sz="1700" b="1" i="0">
                <a:solidFill>
                  <a:srgbClr val="0F4C47"/>
                </a:solidFill>
                <a:latin typeface="Aptos"/>
              </a:rPr>
              <a:t>Ban giám hiệu</a:t>
            </a:r>
          </a:p>
        </p:txBody>
      </p:sp>
      <p:sp>
        <p:nvSpPr>
          <p:cNvPr id="38" name="TextBox 37"/>
          <p:cNvSpPr txBox="1"/>
          <p:nvPr/>
        </p:nvSpPr>
        <p:spPr>
          <a:xfrm>
            <a:off x="4462272" y="4434840"/>
            <a:ext cx="3200400" cy="1325880"/>
          </a:xfrm>
          <a:prstGeom prst="rect">
            <a:avLst/>
          </a:prstGeom>
          <a:noFill/>
        </p:spPr>
        <p:txBody>
          <a:bodyPr wrap="square" anchor="t" lIns="0" rIns="0" tIns="0" bIns="0">
            <a:spAutoFit/>
          </a:bodyPr>
          <a:lstStyle/>
          <a:p>
            <a:pPr algn="l"/>
            <a:r>
              <a:rPr sz="1350" b="0" i="0">
                <a:solidFill>
                  <a:srgbClr val="1F2D2C"/>
                </a:solidFill>
                <a:latin typeface="Aptos"/>
              </a:rPr>
              <a:t>Có số liệu rõ ràng, báo cáo chuẩn mẫu, sẵn sàng nhân rộng cho các lớp.</a:t>
            </a:r>
          </a:p>
        </p:txBody>
      </p:sp>
      <p:sp>
        <p:nvSpPr>
          <p:cNvPr id="39" name="Rounded Rectangle 38"/>
          <p:cNvSpPr/>
          <p:nvPr/>
        </p:nvSpPr>
        <p:spPr>
          <a:xfrm>
            <a:off x="8046720" y="3657600"/>
            <a:ext cx="3657600" cy="2194560"/>
          </a:xfrm>
          <a:prstGeom prst="roundRect">
            <a:avLst>
              <a:gd name="adj" fmla="val 6000"/>
            </a:avLst>
          </a:prstGeom>
          <a:solidFill>
            <a:srgbClr val="F4F7F7"/>
          </a:solidFill>
          <a:ln>
            <a:noFill/>
          </a:ln>
          <a:effectLst/>
        </p:spPr>
        <p:txBody>
          <a:bodyPr rtlCol="0" anchor="ctr"/>
          <a:lstStyle/>
          <a:p>
            <a:pPr algn="ctr"/>
          </a:p>
        </p:txBody>
      </p:sp>
      <p:sp>
        <p:nvSpPr>
          <p:cNvPr id="40" name="Oval 39"/>
          <p:cNvSpPr/>
          <p:nvPr/>
        </p:nvSpPr>
        <p:spPr>
          <a:xfrm>
            <a:off x="8275320" y="3886200"/>
            <a:ext cx="347472" cy="347472"/>
          </a:xfrm>
          <a:prstGeom prst="ellipse">
            <a:avLst/>
          </a:prstGeom>
          <a:solidFill>
            <a:srgbClr val="0F766E"/>
          </a:solidFill>
          <a:ln>
            <a:noFill/>
          </a:ln>
          <a:effectLst/>
        </p:spPr>
        <p:txBody>
          <a:bodyPr rtlCol="0" anchor="ctr"/>
          <a:lstStyle/>
          <a:p>
            <a:pPr algn="ctr"/>
          </a:p>
        </p:txBody>
      </p:sp>
      <p:sp>
        <p:nvSpPr>
          <p:cNvPr id="41" name="TextBox 40"/>
          <p:cNvSpPr txBox="1"/>
          <p:nvPr/>
        </p:nvSpPr>
        <p:spPr>
          <a:xfrm>
            <a:off x="8275320" y="3886200"/>
            <a:ext cx="347472" cy="347472"/>
          </a:xfrm>
          <a:prstGeom prst="rect">
            <a:avLst/>
          </a:prstGeom>
          <a:noFill/>
        </p:spPr>
        <p:txBody>
          <a:bodyPr wrap="square" anchor="ctr" lIns="0" rIns="0" tIns="0" bIns="0">
            <a:spAutoFit/>
          </a:bodyPr>
          <a:lstStyle/>
          <a:p>
            <a:pPr algn="ctr"/>
            <a:r>
              <a:rPr sz="1300" b="1" i="0">
                <a:solidFill>
                  <a:srgbClr val="FFFFFF"/>
                </a:solidFill>
                <a:latin typeface="Aptos"/>
              </a:rPr>
              <a:t>6</a:t>
            </a:r>
          </a:p>
        </p:txBody>
      </p:sp>
      <p:sp>
        <p:nvSpPr>
          <p:cNvPr id="42" name="TextBox 41"/>
          <p:cNvSpPr txBox="1"/>
          <p:nvPr/>
        </p:nvSpPr>
        <p:spPr>
          <a:xfrm>
            <a:off x="8778240" y="3877056"/>
            <a:ext cx="2743200" cy="384048"/>
          </a:xfrm>
          <a:prstGeom prst="rect">
            <a:avLst/>
          </a:prstGeom>
          <a:noFill/>
        </p:spPr>
        <p:txBody>
          <a:bodyPr wrap="square" anchor="ctr" lIns="0" rIns="0" tIns="0" bIns="0">
            <a:spAutoFit/>
          </a:bodyPr>
          <a:lstStyle/>
          <a:p>
            <a:pPr algn="l"/>
            <a:r>
              <a:rPr sz="1700" b="1" i="0">
                <a:solidFill>
                  <a:srgbClr val="0F4C47"/>
                </a:solidFill>
                <a:latin typeface="Aptos"/>
              </a:rPr>
              <a:t>Môi trường</a:t>
            </a:r>
          </a:p>
        </p:txBody>
      </p:sp>
      <p:sp>
        <p:nvSpPr>
          <p:cNvPr id="43" name="TextBox 42"/>
          <p:cNvSpPr txBox="1"/>
          <p:nvPr/>
        </p:nvSpPr>
        <p:spPr>
          <a:xfrm>
            <a:off x="8275320" y="4434840"/>
            <a:ext cx="3200400" cy="1325880"/>
          </a:xfrm>
          <a:prstGeom prst="rect">
            <a:avLst/>
          </a:prstGeom>
          <a:noFill/>
        </p:spPr>
        <p:txBody>
          <a:bodyPr wrap="square" anchor="t" lIns="0" rIns="0" tIns="0" bIns="0">
            <a:spAutoFit/>
          </a:bodyPr>
          <a:lstStyle/>
          <a:p>
            <a:pPr algn="l"/>
            <a:r>
              <a:rPr sz="1350" b="0" i="0">
                <a:solidFill>
                  <a:srgbClr val="1F2D2C"/>
                </a:solidFill>
                <a:latin typeface="Aptos"/>
              </a:rPr>
              <a:t>Giảm in ấn sổ sách, giấy tờ nhờ thông báo và báo cáo dạng số.</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IV · HIỆU QUẢ</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17</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Trải nghiệm đủ 3 vai trong 10 phút, không cần mật khẩu</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TextBox 9"/>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1" name="Rounded Rectangle 10"/>
          <p:cNvSpPr/>
          <p:nvPr/>
        </p:nvSpPr>
        <p:spPr>
          <a:xfrm>
            <a:off x="8034528"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Oval 13"/>
          <p:cNvSpPr/>
          <p:nvPr/>
        </p:nvSpPr>
        <p:spPr>
          <a:xfrm>
            <a:off x="420624" y="1298448"/>
            <a:ext cx="329184" cy="329184"/>
          </a:xfrm>
          <a:prstGeom prst="ellipse">
            <a:avLst/>
          </a:prstGeom>
          <a:solidFill>
            <a:srgbClr val="0F766E"/>
          </a:solidFill>
          <a:ln>
            <a:noFill/>
          </a:ln>
          <a:effectLst/>
        </p:spPr>
        <p:txBody>
          <a:bodyPr rtlCol="0" anchor="ctr"/>
          <a:lstStyle/>
          <a:p>
            <a:pPr algn="ctr"/>
          </a:p>
        </p:txBody>
      </p:sp>
      <p:sp>
        <p:nvSpPr>
          <p:cNvPr id="15" name="TextBox 14"/>
          <p:cNvSpPr txBox="1"/>
          <p:nvPr/>
        </p:nvSpPr>
        <p:spPr>
          <a:xfrm>
            <a:off x="420624" y="1298448"/>
            <a:ext cx="329184" cy="329184"/>
          </a:xfrm>
          <a:prstGeom prst="rect">
            <a:avLst/>
          </a:prstGeom>
          <a:noFill/>
        </p:spPr>
        <p:txBody>
          <a:bodyPr wrap="square" anchor="ctr" lIns="0" rIns="0" tIns="0" bIns="0">
            <a:spAutoFit/>
          </a:bodyPr>
          <a:lstStyle/>
          <a:p>
            <a:pPr algn="ctr"/>
            <a:r>
              <a:rPr sz="1200" b="1" i="0">
                <a:solidFill>
                  <a:srgbClr val="FFFFFF"/>
                </a:solidFill>
                <a:latin typeface="Aptos"/>
              </a:rPr>
              <a:t>1</a:t>
            </a:r>
          </a:p>
        </p:txBody>
      </p:sp>
      <p:sp>
        <p:nvSpPr>
          <p:cNvPr id="16" name="TextBox 15"/>
          <p:cNvSpPr txBox="1"/>
          <p:nvPr/>
        </p:nvSpPr>
        <p:spPr>
          <a:xfrm>
            <a:off x="914400" y="1261872"/>
            <a:ext cx="4206240" cy="402336"/>
          </a:xfrm>
          <a:prstGeom prst="rect">
            <a:avLst/>
          </a:prstGeom>
          <a:noFill/>
        </p:spPr>
        <p:txBody>
          <a:bodyPr wrap="square" anchor="ctr" lIns="0" rIns="0" tIns="0" bIns="0">
            <a:spAutoFit/>
          </a:bodyPr>
          <a:lstStyle/>
          <a:p>
            <a:pPr algn="l"/>
            <a:r>
              <a:rPr sz="1350" b="0" i="0">
                <a:solidFill>
                  <a:srgbClr val="1F2D2C"/>
                </a:solidFill>
                <a:latin typeface="Aptos"/>
              </a:rPr>
              <a:t>Ghi điểm cho một bạn</a:t>
            </a:r>
          </a:p>
        </p:txBody>
      </p:sp>
      <p:sp>
        <p:nvSpPr>
          <p:cNvPr id="17" name="Rounded Rectangle 16"/>
          <p:cNvSpPr/>
          <p:nvPr/>
        </p:nvSpPr>
        <p:spPr>
          <a:xfrm>
            <a:off x="5166360" y="1325880"/>
            <a:ext cx="970510" cy="274320"/>
          </a:xfrm>
          <a:prstGeom prst="roundRect">
            <a:avLst>
              <a:gd name="adj" fmla="val 50000"/>
            </a:avLst>
          </a:prstGeom>
          <a:solidFill>
            <a:srgbClr val="E0F2F1"/>
          </a:solidFill>
          <a:ln>
            <a:noFill/>
          </a:ln>
          <a:effectLst/>
        </p:spPr>
        <p:txBody>
          <a:bodyPr rtlCol="0" anchor="ctr"/>
          <a:lstStyle/>
          <a:p>
            <a:pPr algn="ctr"/>
          </a:p>
        </p:txBody>
      </p:sp>
      <p:sp>
        <p:nvSpPr>
          <p:cNvPr id="18" name="TextBox 17"/>
          <p:cNvSpPr txBox="1"/>
          <p:nvPr/>
        </p:nvSpPr>
        <p:spPr>
          <a:xfrm>
            <a:off x="5166360" y="1325880"/>
            <a:ext cx="970510" cy="274320"/>
          </a:xfrm>
          <a:prstGeom prst="rect">
            <a:avLst/>
          </a:prstGeom>
          <a:noFill/>
        </p:spPr>
        <p:txBody>
          <a:bodyPr wrap="square" anchor="ctr" lIns="0" rIns="0" tIns="0" bIns="0">
            <a:spAutoFit/>
          </a:bodyPr>
          <a:lstStyle/>
          <a:p>
            <a:pPr algn="ctr"/>
            <a:r>
              <a:rPr sz="1050" b="1" i="0">
                <a:solidFill>
                  <a:srgbClr val="0F4C47"/>
                </a:solidFill>
                <a:latin typeface="Aptos"/>
              </a:rPr>
              <a:t>LỚP TRƯỞNG</a:t>
            </a:r>
          </a:p>
        </p:txBody>
      </p:sp>
      <p:sp>
        <p:nvSpPr>
          <p:cNvPr id="19" name="Oval 18"/>
          <p:cNvSpPr/>
          <p:nvPr/>
        </p:nvSpPr>
        <p:spPr>
          <a:xfrm>
            <a:off x="420624" y="1801368"/>
            <a:ext cx="329184" cy="329184"/>
          </a:xfrm>
          <a:prstGeom prst="ellipse">
            <a:avLst/>
          </a:prstGeom>
          <a:solidFill>
            <a:srgbClr val="0F766E"/>
          </a:solidFill>
          <a:ln>
            <a:noFill/>
          </a:ln>
          <a:effectLst/>
        </p:spPr>
        <p:txBody>
          <a:bodyPr rtlCol="0" anchor="ctr"/>
          <a:lstStyle/>
          <a:p>
            <a:pPr algn="ctr"/>
          </a:p>
        </p:txBody>
      </p:sp>
      <p:sp>
        <p:nvSpPr>
          <p:cNvPr id="20" name="TextBox 19"/>
          <p:cNvSpPr txBox="1"/>
          <p:nvPr/>
        </p:nvSpPr>
        <p:spPr>
          <a:xfrm>
            <a:off x="420624" y="1801368"/>
            <a:ext cx="329184" cy="329184"/>
          </a:xfrm>
          <a:prstGeom prst="rect">
            <a:avLst/>
          </a:prstGeom>
          <a:noFill/>
        </p:spPr>
        <p:txBody>
          <a:bodyPr wrap="square" anchor="ctr" lIns="0" rIns="0" tIns="0" bIns="0">
            <a:spAutoFit/>
          </a:bodyPr>
          <a:lstStyle/>
          <a:p>
            <a:pPr algn="ctr"/>
            <a:r>
              <a:rPr sz="1200" b="1" i="0">
                <a:solidFill>
                  <a:srgbClr val="FFFFFF"/>
                </a:solidFill>
                <a:latin typeface="Aptos"/>
              </a:rPr>
              <a:t>2</a:t>
            </a:r>
          </a:p>
        </p:txBody>
      </p:sp>
      <p:sp>
        <p:nvSpPr>
          <p:cNvPr id="21" name="TextBox 20"/>
          <p:cNvSpPr txBox="1"/>
          <p:nvPr/>
        </p:nvSpPr>
        <p:spPr>
          <a:xfrm>
            <a:off x="914400" y="1764792"/>
            <a:ext cx="4206240" cy="402336"/>
          </a:xfrm>
          <a:prstGeom prst="rect">
            <a:avLst/>
          </a:prstGeom>
          <a:noFill/>
        </p:spPr>
        <p:txBody>
          <a:bodyPr wrap="square" anchor="ctr" lIns="0" rIns="0" tIns="0" bIns="0">
            <a:spAutoFit/>
          </a:bodyPr>
          <a:lstStyle/>
          <a:p>
            <a:pPr algn="l"/>
            <a:r>
              <a:rPr sz="1350" b="0" i="0">
                <a:solidFill>
                  <a:srgbClr val="1F2D2C"/>
                </a:solidFill>
                <a:latin typeface="Aptos"/>
              </a:rPr>
              <a:t>Xem email phụ huynh vừa nhận</a:t>
            </a:r>
          </a:p>
        </p:txBody>
      </p:sp>
      <p:sp>
        <p:nvSpPr>
          <p:cNvPr id="22" name="Rounded Rectangle 21"/>
          <p:cNvSpPr/>
          <p:nvPr/>
        </p:nvSpPr>
        <p:spPr>
          <a:xfrm>
            <a:off x="5166360" y="1828800"/>
            <a:ext cx="747937" cy="274320"/>
          </a:xfrm>
          <a:prstGeom prst="roundRect">
            <a:avLst>
              <a:gd name="adj" fmla="val 50000"/>
            </a:avLst>
          </a:prstGeom>
          <a:solidFill>
            <a:srgbClr val="E0F2F1"/>
          </a:solidFill>
          <a:ln>
            <a:noFill/>
          </a:ln>
          <a:effectLst/>
        </p:spPr>
        <p:txBody>
          <a:bodyPr rtlCol="0" anchor="ctr"/>
          <a:lstStyle/>
          <a:p>
            <a:pPr algn="ctr"/>
          </a:p>
        </p:txBody>
      </p:sp>
      <p:sp>
        <p:nvSpPr>
          <p:cNvPr id="23" name="TextBox 22"/>
          <p:cNvSpPr txBox="1"/>
          <p:nvPr/>
        </p:nvSpPr>
        <p:spPr>
          <a:xfrm>
            <a:off x="5166360" y="1828800"/>
            <a:ext cx="747937" cy="274320"/>
          </a:xfrm>
          <a:prstGeom prst="rect">
            <a:avLst/>
          </a:prstGeom>
          <a:noFill/>
        </p:spPr>
        <p:txBody>
          <a:bodyPr wrap="square" anchor="ctr" lIns="0" rIns="0" tIns="0" bIns="0">
            <a:spAutoFit/>
          </a:bodyPr>
          <a:lstStyle/>
          <a:p>
            <a:pPr algn="ctr"/>
            <a:r>
              <a:rPr sz="1050" b="1" i="0">
                <a:solidFill>
                  <a:srgbClr val="0F4C47"/>
                </a:solidFill>
                <a:latin typeface="Aptos"/>
              </a:rPr>
              <a:t>HỘP THƯ</a:t>
            </a:r>
          </a:p>
        </p:txBody>
      </p:sp>
      <p:sp>
        <p:nvSpPr>
          <p:cNvPr id="24" name="Oval 23"/>
          <p:cNvSpPr/>
          <p:nvPr/>
        </p:nvSpPr>
        <p:spPr>
          <a:xfrm>
            <a:off x="420624" y="2304288"/>
            <a:ext cx="329184" cy="329184"/>
          </a:xfrm>
          <a:prstGeom prst="ellipse">
            <a:avLst/>
          </a:prstGeom>
          <a:solidFill>
            <a:srgbClr val="0F766E"/>
          </a:solidFill>
          <a:ln>
            <a:noFill/>
          </a:ln>
          <a:effectLst/>
        </p:spPr>
        <p:txBody>
          <a:bodyPr rtlCol="0" anchor="ctr"/>
          <a:lstStyle/>
          <a:p>
            <a:pPr algn="ctr"/>
          </a:p>
        </p:txBody>
      </p:sp>
      <p:sp>
        <p:nvSpPr>
          <p:cNvPr id="25" name="TextBox 24"/>
          <p:cNvSpPr txBox="1"/>
          <p:nvPr/>
        </p:nvSpPr>
        <p:spPr>
          <a:xfrm>
            <a:off x="420624" y="2304288"/>
            <a:ext cx="329184" cy="329184"/>
          </a:xfrm>
          <a:prstGeom prst="rect">
            <a:avLst/>
          </a:prstGeom>
          <a:noFill/>
        </p:spPr>
        <p:txBody>
          <a:bodyPr wrap="square" anchor="ctr" lIns="0" rIns="0" tIns="0" bIns="0">
            <a:spAutoFit/>
          </a:bodyPr>
          <a:lstStyle/>
          <a:p>
            <a:pPr algn="ctr"/>
            <a:r>
              <a:rPr sz="1200" b="1" i="0">
                <a:solidFill>
                  <a:srgbClr val="FFFFFF"/>
                </a:solidFill>
                <a:latin typeface="Aptos"/>
              </a:rPr>
              <a:t>3</a:t>
            </a:r>
          </a:p>
        </p:txBody>
      </p:sp>
      <p:sp>
        <p:nvSpPr>
          <p:cNvPr id="26" name="TextBox 25"/>
          <p:cNvSpPr txBox="1"/>
          <p:nvPr/>
        </p:nvSpPr>
        <p:spPr>
          <a:xfrm>
            <a:off x="914400" y="2267712"/>
            <a:ext cx="4206240" cy="402336"/>
          </a:xfrm>
          <a:prstGeom prst="rect">
            <a:avLst/>
          </a:prstGeom>
          <a:noFill/>
        </p:spPr>
        <p:txBody>
          <a:bodyPr wrap="square" anchor="ctr" lIns="0" rIns="0" tIns="0" bIns="0">
            <a:spAutoFit/>
          </a:bodyPr>
          <a:lstStyle/>
          <a:p>
            <a:pPr algn="l"/>
            <a:r>
              <a:rPr sz="1350" b="0" i="0">
                <a:solidFill>
                  <a:srgbClr val="1F2D2C"/>
                </a:solidFill>
                <a:latin typeface="Aptos"/>
              </a:rPr>
              <a:t>Mở thông báo, tải PDF</a:t>
            </a:r>
          </a:p>
        </p:txBody>
      </p:sp>
      <p:sp>
        <p:nvSpPr>
          <p:cNvPr id="27" name="Rounded Rectangle 26"/>
          <p:cNvSpPr/>
          <p:nvPr/>
        </p:nvSpPr>
        <p:spPr>
          <a:xfrm>
            <a:off x="5166360" y="2331720"/>
            <a:ext cx="896319" cy="274320"/>
          </a:xfrm>
          <a:prstGeom prst="roundRect">
            <a:avLst>
              <a:gd name="adj" fmla="val 50000"/>
            </a:avLst>
          </a:prstGeom>
          <a:solidFill>
            <a:srgbClr val="E0F2F1"/>
          </a:solidFill>
          <a:ln>
            <a:noFill/>
          </a:ln>
          <a:effectLst/>
        </p:spPr>
        <p:txBody>
          <a:bodyPr rtlCol="0" anchor="ctr"/>
          <a:lstStyle/>
          <a:p>
            <a:pPr algn="ctr"/>
          </a:p>
        </p:txBody>
      </p:sp>
      <p:sp>
        <p:nvSpPr>
          <p:cNvPr id="28" name="TextBox 27"/>
          <p:cNvSpPr txBox="1"/>
          <p:nvPr/>
        </p:nvSpPr>
        <p:spPr>
          <a:xfrm>
            <a:off x="5166360" y="2331720"/>
            <a:ext cx="896319" cy="274320"/>
          </a:xfrm>
          <a:prstGeom prst="rect">
            <a:avLst/>
          </a:prstGeom>
          <a:noFill/>
        </p:spPr>
        <p:txBody>
          <a:bodyPr wrap="square" anchor="ctr" lIns="0" rIns="0" tIns="0" bIns="0">
            <a:spAutoFit/>
          </a:bodyPr>
          <a:lstStyle/>
          <a:p>
            <a:pPr algn="ctr"/>
            <a:r>
              <a:rPr sz="1050" b="1" i="0">
                <a:solidFill>
                  <a:srgbClr val="0F4C47"/>
                </a:solidFill>
                <a:latin typeface="Aptos"/>
              </a:rPr>
              <a:t>PHỤ HUYNH</a:t>
            </a:r>
          </a:p>
        </p:txBody>
      </p:sp>
      <p:sp>
        <p:nvSpPr>
          <p:cNvPr id="29" name="Oval 28"/>
          <p:cNvSpPr/>
          <p:nvPr/>
        </p:nvSpPr>
        <p:spPr>
          <a:xfrm>
            <a:off x="420624" y="2807208"/>
            <a:ext cx="329184" cy="329184"/>
          </a:xfrm>
          <a:prstGeom prst="ellipse">
            <a:avLst/>
          </a:prstGeom>
          <a:solidFill>
            <a:srgbClr val="0F766E"/>
          </a:solidFill>
          <a:ln>
            <a:noFill/>
          </a:ln>
          <a:effectLst/>
        </p:spPr>
        <p:txBody>
          <a:bodyPr rtlCol="0" anchor="ctr"/>
          <a:lstStyle/>
          <a:p>
            <a:pPr algn="ctr"/>
          </a:p>
        </p:txBody>
      </p:sp>
      <p:sp>
        <p:nvSpPr>
          <p:cNvPr id="30" name="TextBox 29"/>
          <p:cNvSpPr txBox="1"/>
          <p:nvPr/>
        </p:nvSpPr>
        <p:spPr>
          <a:xfrm>
            <a:off x="420624" y="2807208"/>
            <a:ext cx="329184" cy="329184"/>
          </a:xfrm>
          <a:prstGeom prst="rect">
            <a:avLst/>
          </a:prstGeom>
          <a:noFill/>
        </p:spPr>
        <p:txBody>
          <a:bodyPr wrap="square" anchor="ctr" lIns="0" rIns="0" tIns="0" bIns="0">
            <a:spAutoFit/>
          </a:bodyPr>
          <a:lstStyle/>
          <a:p>
            <a:pPr algn="ctr"/>
            <a:r>
              <a:rPr sz="1200" b="1" i="0">
                <a:solidFill>
                  <a:srgbClr val="FFFFFF"/>
                </a:solidFill>
                <a:latin typeface="Aptos"/>
              </a:rPr>
              <a:t>4</a:t>
            </a:r>
          </a:p>
        </p:txBody>
      </p:sp>
      <p:sp>
        <p:nvSpPr>
          <p:cNvPr id="31" name="TextBox 30"/>
          <p:cNvSpPr txBox="1"/>
          <p:nvPr/>
        </p:nvSpPr>
        <p:spPr>
          <a:xfrm>
            <a:off x="914400" y="2770632"/>
            <a:ext cx="4206240" cy="402336"/>
          </a:xfrm>
          <a:prstGeom prst="rect">
            <a:avLst/>
          </a:prstGeom>
          <a:noFill/>
        </p:spPr>
        <p:txBody>
          <a:bodyPr wrap="square" anchor="ctr" lIns="0" rIns="0" tIns="0" bIns="0">
            <a:spAutoFit/>
          </a:bodyPr>
          <a:lstStyle/>
          <a:p>
            <a:pPr algn="l"/>
            <a:r>
              <a:rPr sz="1350" b="0" i="0">
                <a:solidFill>
                  <a:srgbClr val="1F2D2C"/>
                </a:solidFill>
                <a:latin typeface="Aptos"/>
              </a:rPr>
              <a:t>Nhận xét, chọn xếp loại</a:t>
            </a:r>
          </a:p>
        </p:txBody>
      </p:sp>
      <p:sp>
        <p:nvSpPr>
          <p:cNvPr id="32" name="Rounded Rectangle 31"/>
          <p:cNvSpPr/>
          <p:nvPr/>
        </p:nvSpPr>
        <p:spPr>
          <a:xfrm>
            <a:off x="5166360" y="2834640"/>
            <a:ext cx="747937" cy="274320"/>
          </a:xfrm>
          <a:prstGeom prst="roundRect">
            <a:avLst>
              <a:gd name="adj" fmla="val 50000"/>
            </a:avLst>
          </a:prstGeom>
          <a:solidFill>
            <a:srgbClr val="FFF1E0"/>
          </a:solidFill>
          <a:ln>
            <a:noFill/>
          </a:ln>
          <a:effectLst/>
        </p:spPr>
        <p:txBody>
          <a:bodyPr rtlCol="0" anchor="ctr"/>
          <a:lstStyle/>
          <a:p>
            <a:pPr algn="ctr"/>
          </a:p>
        </p:txBody>
      </p:sp>
      <p:sp>
        <p:nvSpPr>
          <p:cNvPr id="33" name="TextBox 32"/>
          <p:cNvSpPr txBox="1"/>
          <p:nvPr/>
        </p:nvSpPr>
        <p:spPr>
          <a:xfrm>
            <a:off x="5166360" y="2834640"/>
            <a:ext cx="747937" cy="274320"/>
          </a:xfrm>
          <a:prstGeom prst="rect">
            <a:avLst/>
          </a:prstGeom>
          <a:noFill/>
        </p:spPr>
        <p:txBody>
          <a:bodyPr wrap="square" anchor="ctr" lIns="0" rIns="0" tIns="0" bIns="0">
            <a:spAutoFit/>
          </a:bodyPr>
          <a:lstStyle/>
          <a:p>
            <a:pPr algn="ctr"/>
            <a:r>
              <a:rPr sz="1050" b="1" i="0">
                <a:solidFill>
                  <a:srgbClr val="0F4C47"/>
                </a:solidFill>
                <a:latin typeface="Aptos"/>
              </a:rPr>
              <a:t>CÔ THẢO</a:t>
            </a:r>
          </a:p>
        </p:txBody>
      </p:sp>
      <p:sp>
        <p:nvSpPr>
          <p:cNvPr id="34" name="Oval 33"/>
          <p:cNvSpPr/>
          <p:nvPr/>
        </p:nvSpPr>
        <p:spPr>
          <a:xfrm>
            <a:off x="420624" y="3310128"/>
            <a:ext cx="329184" cy="329184"/>
          </a:xfrm>
          <a:prstGeom prst="ellipse">
            <a:avLst/>
          </a:prstGeom>
          <a:solidFill>
            <a:srgbClr val="0F766E"/>
          </a:solidFill>
          <a:ln>
            <a:noFill/>
          </a:ln>
          <a:effectLst/>
        </p:spPr>
        <p:txBody>
          <a:bodyPr rtlCol="0" anchor="ctr"/>
          <a:lstStyle/>
          <a:p>
            <a:pPr algn="ctr"/>
          </a:p>
        </p:txBody>
      </p:sp>
      <p:sp>
        <p:nvSpPr>
          <p:cNvPr id="35" name="TextBox 34"/>
          <p:cNvSpPr txBox="1"/>
          <p:nvPr/>
        </p:nvSpPr>
        <p:spPr>
          <a:xfrm>
            <a:off x="420624" y="3310128"/>
            <a:ext cx="329184" cy="329184"/>
          </a:xfrm>
          <a:prstGeom prst="rect">
            <a:avLst/>
          </a:prstGeom>
          <a:noFill/>
        </p:spPr>
        <p:txBody>
          <a:bodyPr wrap="square" anchor="ctr" lIns="0" rIns="0" tIns="0" bIns="0">
            <a:spAutoFit/>
          </a:bodyPr>
          <a:lstStyle/>
          <a:p>
            <a:pPr algn="ctr"/>
            <a:r>
              <a:rPr sz="1200" b="1" i="0">
                <a:solidFill>
                  <a:srgbClr val="FFFFFF"/>
                </a:solidFill>
                <a:latin typeface="Aptos"/>
              </a:rPr>
              <a:t>5</a:t>
            </a:r>
          </a:p>
        </p:txBody>
      </p:sp>
      <p:sp>
        <p:nvSpPr>
          <p:cNvPr id="36" name="TextBox 35"/>
          <p:cNvSpPr txBox="1"/>
          <p:nvPr/>
        </p:nvSpPr>
        <p:spPr>
          <a:xfrm>
            <a:off x="914400" y="3273552"/>
            <a:ext cx="4206240" cy="402336"/>
          </a:xfrm>
          <a:prstGeom prst="rect">
            <a:avLst/>
          </a:prstGeom>
          <a:noFill/>
        </p:spPr>
        <p:txBody>
          <a:bodyPr wrap="square" anchor="ctr" lIns="0" rIns="0" tIns="0" bIns="0">
            <a:spAutoFit/>
          </a:bodyPr>
          <a:lstStyle/>
          <a:p>
            <a:pPr algn="l"/>
            <a:r>
              <a:rPr sz="1350" b="0" i="0">
                <a:solidFill>
                  <a:srgbClr val="1F2D2C"/>
                </a:solidFill>
                <a:latin typeface="Aptos"/>
              </a:rPr>
              <a:t>Xem báo cáo tháng, tải PDF</a:t>
            </a:r>
          </a:p>
        </p:txBody>
      </p:sp>
      <p:sp>
        <p:nvSpPr>
          <p:cNvPr id="37" name="Rounded Rectangle 36"/>
          <p:cNvSpPr/>
          <p:nvPr/>
        </p:nvSpPr>
        <p:spPr>
          <a:xfrm>
            <a:off x="5166360" y="3337560"/>
            <a:ext cx="747937" cy="274320"/>
          </a:xfrm>
          <a:prstGeom prst="roundRect">
            <a:avLst>
              <a:gd name="adj" fmla="val 50000"/>
            </a:avLst>
          </a:prstGeom>
          <a:solidFill>
            <a:srgbClr val="FFF1E0"/>
          </a:solidFill>
          <a:ln>
            <a:noFill/>
          </a:ln>
          <a:effectLst/>
        </p:spPr>
        <p:txBody>
          <a:bodyPr rtlCol="0" anchor="ctr"/>
          <a:lstStyle/>
          <a:p>
            <a:pPr algn="ctr"/>
          </a:p>
        </p:txBody>
      </p:sp>
      <p:sp>
        <p:nvSpPr>
          <p:cNvPr id="38" name="TextBox 37"/>
          <p:cNvSpPr txBox="1"/>
          <p:nvPr/>
        </p:nvSpPr>
        <p:spPr>
          <a:xfrm>
            <a:off x="5166360" y="3337560"/>
            <a:ext cx="747937" cy="274320"/>
          </a:xfrm>
          <a:prstGeom prst="rect">
            <a:avLst/>
          </a:prstGeom>
          <a:noFill/>
        </p:spPr>
        <p:txBody>
          <a:bodyPr wrap="square" anchor="ctr" lIns="0" rIns="0" tIns="0" bIns="0">
            <a:spAutoFit/>
          </a:bodyPr>
          <a:lstStyle/>
          <a:p>
            <a:pPr algn="ctr"/>
            <a:r>
              <a:rPr sz="1050" b="1" i="0">
                <a:solidFill>
                  <a:srgbClr val="0F4C47"/>
                </a:solidFill>
                <a:latin typeface="Aptos"/>
              </a:rPr>
              <a:t>CÔ THẢO</a:t>
            </a:r>
          </a:p>
        </p:txBody>
      </p:sp>
      <p:sp>
        <p:nvSpPr>
          <p:cNvPr id="39" name="Oval 38"/>
          <p:cNvSpPr/>
          <p:nvPr/>
        </p:nvSpPr>
        <p:spPr>
          <a:xfrm>
            <a:off x="420624" y="3813048"/>
            <a:ext cx="329184" cy="329184"/>
          </a:xfrm>
          <a:prstGeom prst="ellipse">
            <a:avLst/>
          </a:prstGeom>
          <a:solidFill>
            <a:srgbClr val="0F766E"/>
          </a:solidFill>
          <a:ln>
            <a:noFill/>
          </a:ln>
          <a:effectLst/>
        </p:spPr>
        <p:txBody>
          <a:bodyPr rtlCol="0" anchor="ctr"/>
          <a:lstStyle/>
          <a:p>
            <a:pPr algn="ctr"/>
          </a:p>
        </p:txBody>
      </p:sp>
      <p:sp>
        <p:nvSpPr>
          <p:cNvPr id="40" name="TextBox 39"/>
          <p:cNvSpPr txBox="1"/>
          <p:nvPr/>
        </p:nvSpPr>
        <p:spPr>
          <a:xfrm>
            <a:off x="420624" y="3813048"/>
            <a:ext cx="329184" cy="329184"/>
          </a:xfrm>
          <a:prstGeom prst="rect">
            <a:avLst/>
          </a:prstGeom>
          <a:noFill/>
        </p:spPr>
        <p:txBody>
          <a:bodyPr wrap="square" anchor="ctr" lIns="0" rIns="0" tIns="0" bIns="0">
            <a:spAutoFit/>
          </a:bodyPr>
          <a:lstStyle/>
          <a:p>
            <a:pPr algn="ctr"/>
            <a:r>
              <a:rPr sz="1200" b="1" i="0">
                <a:solidFill>
                  <a:srgbClr val="FFFFFF"/>
                </a:solidFill>
                <a:latin typeface="Aptos"/>
              </a:rPr>
              <a:t>6</a:t>
            </a:r>
          </a:p>
        </p:txBody>
      </p:sp>
      <p:sp>
        <p:nvSpPr>
          <p:cNvPr id="41" name="TextBox 40"/>
          <p:cNvSpPr txBox="1"/>
          <p:nvPr/>
        </p:nvSpPr>
        <p:spPr>
          <a:xfrm>
            <a:off x="914400" y="3776472"/>
            <a:ext cx="4206240" cy="402336"/>
          </a:xfrm>
          <a:prstGeom prst="rect">
            <a:avLst/>
          </a:prstGeom>
          <a:noFill/>
        </p:spPr>
        <p:txBody>
          <a:bodyPr wrap="square" anchor="ctr" lIns="0" rIns="0" tIns="0" bIns="0">
            <a:spAutoFit/>
          </a:bodyPr>
          <a:lstStyle/>
          <a:p>
            <a:pPr algn="l"/>
            <a:r>
              <a:rPr sz="1350" b="0" i="0">
                <a:solidFill>
                  <a:srgbClr val="1F2D2C"/>
                </a:solidFill>
                <a:latin typeface="Aptos"/>
              </a:rPr>
              <a:t>PDF riêng một học sinh</a:t>
            </a:r>
          </a:p>
        </p:txBody>
      </p:sp>
      <p:sp>
        <p:nvSpPr>
          <p:cNvPr id="42" name="Rounded Rectangle 41"/>
          <p:cNvSpPr/>
          <p:nvPr/>
        </p:nvSpPr>
        <p:spPr>
          <a:xfrm>
            <a:off x="5166360" y="3840480"/>
            <a:ext cx="747937" cy="274320"/>
          </a:xfrm>
          <a:prstGeom prst="roundRect">
            <a:avLst>
              <a:gd name="adj" fmla="val 50000"/>
            </a:avLst>
          </a:prstGeom>
          <a:solidFill>
            <a:srgbClr val="FFF1E0"/>
          </a:solidFill>
          <a:ln>
            <a:noFill/>
          </a:ln>
          <a:effectLst/>
        </p:spPr>
        <p:txBody>
          <a:bodyPr rtlCol="0" anchor="ctr"/>
          <a:lstStyle/>
          <a:p>
            <a:pPr algn="ctr"/>
          </a:p>
        </p:txBody>
      </p:sp>
      <p:sp>
        <p:nvSpPr>
          <p:cNvPr id="43" name="TextBox 42"/>
          <p:cNvSpPr txBox="1"/>
          <p:nvPr/>
        </p:nvSpPr>
        <p:spPr>
          <a:xfrm>
            <a:off x="5166360" y="3840480"/>
            <a:ext cx="747937" cy="274320"/>
          </a:xfrm>
          <a:prstGeom prst="rect">
            <a:avLst/>
          </a:prstGeom>
          <a:noFill/>
        </p:spPr>
        <p:txBody>
          <a:bodyPr wrap="square" anchor="ctr" lIns="0" rIns="0" tIns="0" bIns="0">
            <a:spAutoFit/>
          </a:bodyPr>
          <a:lstStyle/>
          <a:p>
            <a:pPr algn="ctr"/>
            <a:r>
              <a:rPr sz="1050" b="1" i="0">
                <a:solidFill>
                  <a:srgbClr val="0F4C47"/>
                </a:solidFill>
                <a:latin typeface="Aptos"/>
              </a:rPr>
              <a:t>CÔ THẢO</a:t>
            </a:r>
          </a:p>
        </p:txBody>
      </p:sp>
      <p:sp>
        <p:nvSpPr>
          <p:cNvPr id="44" name="Oval 43"/>
          <p:cNvSpPr/>
          <p:nvPr/>
        </p:nvSpPr>
        <p:spPr>
          <a:xfrm>
            <a:off x="420624" y="4315968"/>
            <a:ext cx="329184" cy="329184"/>
          </a:xfrm>
          <a:prstGeom prst="ellipse">
            <a:avLst/>
          </a:prstGeom>
          <a:solidFill>
            <a:srgbClr val="0F766E"/>
          </a:solidFill>
          <a:ln>
            <a:noFill/>
          </a:ln>
          <a:effectLst/>
        </p:spPr>
        <p:txBody>
          <a:bodyPr rtlCol="0" anchor="ctr"/>
          <a:lstStyle/>
          <a:p>
            <a:pPr algn="ctr"/>
          </a:p>
        </p:txBody>
      </p:sp>
      <p:sp>
        <p:nvSpPr>
          <p:cNvPr id="45" name="TextBox 44"/>
          <p:cNvSpPr txBox="1"/>
          <p:nvPr/>
        </p:nvSpPr>
        <p:spPr>
          <a:xfrm>
            <a:off x="420624" y="4315968"/>
            <a:ext cx="329184" cy="329184"/>
          </a:xfrm>
          <a:prstGeom prst="rect">
            <a:avLst/>
          </a:prstGeom>
          <a:noFill/>
        </p:spPr>
        <p:txBody>
          <a:bodyPr wrap="square" anchor="ctr" lIns="0" rIns="0" tIns="0" bIns="0">
            <a:spAutoFit/>
          </a:bodyPr>
          <a:lstStyle/>
          <a:p>
            <a:pPr algn="ctr"/>
            <a:r>
              <a:rPr sz="1200" b="1" i="0">
                <a:solidFill>
                  <a:srgbClr val="FFFFFF"/>
                </a:solidFill>
                <a:latin typeface="Aptos"/>
              </a:rPr>
              <a:t>7</a:t>
            </a:r>
          </a:p>
        </p:txBody>
      </p:sp>
      <p:sp>
        <p:nvSpPr>
          <p:cNvPr id="46" name="TextBox 45"/>
          <p:cNvSpPr txBox="1"/>
          <p:nvPr/>
        </p:nvSpPr>
        <p:spPr>
          <a:xfrm>
            <a:off x="914400" y="4279392"/>
            <a:ext cx="4206240" cy="402336"/>
          </a:xfrm>
          <a:prstGeom prst="rect">
            <a:avLst/>
          </a:prstGeom>
          <a:noFill/>
        </p:spPr>
        <p:txBody>
          <a:bodyPr wrap="square" anchor="ctr" lIns="0" rIns="0" tIns="0" bIns="0">
            <a:spAutoFit/>
          </a:bodyPr>
          <a:lstStyle/>
          <a:p>
            <a:pPr algn="l"/>
            <a:r>
              <a:rPr sz="1350" b="0" i="0">
                <a:solidFill>
                  <a:srgbClr val="1F2D2C"/>
                </a:solidFill>
                <a:latin typeface="Aptos"/>
              </a:rPr>
              <a:t>Đăng ký nhận email (mã 123456)</a:t>
            </a:r>
          </a:p>
        </p:txBody>
      </p:sp>
      <p:sp>
        <p:nvSpPr>
          <p:cNvPr id="47" name="Rounded Rectangle 46"/>
          <p:cNvSpPr/>
          <p:nvPr/>
        </p:nvSpPr>
        <p:spPr>
          <a:xfrm>
            <a:off x="5166360" y="4343400"/>
            <a:ext cx="896319" cy="274320"/>
          </a:xfrm>
          <a:prstGeom prst="roundRect">
            <a:avLst>
              <a:gd name="adj" fmla="val 50000"/>
            </a:avLst>
          </a:prstGeom>
          <a:solidFill>
            <a:srgbClr val="E0F2F1"/>
          </a:solidFill>
          <a:ln>
            <a:noFill/>
          </a:ln>
          <a:effectLst/>
        </p:spPr>
        <p:txBody>
          <a:bodyPr rtlCol="0" anchor="ctr"/>
          <a:lstStyle/>
          <a:p>
            <a:pPr algn="ctr"/>
          </a:p>
        </p:txBody>
      </p:sp>
      <p:sp>
        <p:nvSpPr>
          <p:cNvPr id="48" name="TextBox 47"/>
          <p:cNvSpPr txBox="1"/>
          <p:nvPr/>
        </p:nvSpPr>
        <p:spPr>
          <a:xfrm>
            <a:off x="5166360" y="4343400"/>
            <a:ext cx="896319" cy="274320"/>
          </a:xfrm>
          <a:prstGeom prst="rect">
            <a:avLst/>
          </a:prstGeom>
          <a:noFill/>
        </p:spPr>
        <p:txBody>
          <a:bodyPr wrap="square" anchor="ctr" lIns="0" rIns="0" tIns="0" bIns="0">
            <a:spAutoFit/>
          </a:bodyPr>
          <a:lstStyle/>
          <a:p>
            <a:pPr algn="ctr"/>
            <a:r>
              <a:rPr sz="1050" b="1" i="0">
                <a:solidFill>
                  <a:srgbClr val="0F4C47"/>
                </a:solidFill>
                <a:latin typeface="Aptos"/>
              </a:rPr>
              <a:t>PHỤ HUYNH</a:t>
            </a:r>
          </a:p>
        </p:txBody>
      </p:sp>
      <p:sp>
        <p:nvSpPr>
          <p:cNvPr id="49" name="Oval 48"/>
          <p:cNvSpPr/>
          <p:nvPr/>
        </p:nvSpPr>
        <p:spPr>
          <a:xfrm>
            <a:off x="420624" y="4818888"/>
            <a:ext cx="329184" cy="329184"/>
          </a:xfrm>
          <a:prstGeom prst="ellipse">
            <a:avLst/>
          </a:prstGeom>
          <a:solidFill>
            <a:srgbClr val="0F766E"/>
          </a:solidFill>
          <a:ln>
            <a:noFill/>
          </a:ln>
          <a:effectLst/>
        </p:spPr>
        <p:txBody>
          <a:bodyPr rtlCol="0" anchor="ctr"/>
          <a:lstStyle/>
          <a:p>
            <a:pPr algn="ctr"/>
          </a:p>
        </p:txBody>
      </p:sp>
      <p:sp>
        <p:nvSpPr>
          <p:cNvPr id="50" name="TextBox 49"/>
          <p:cNvSpPr txBox="1"/>
          <p:nvPr/>
        </p:nvSpPr>
        <p:spPr>
          <a:xfrm>
            <a:off x="420624" y="4818888"/>
            <a:ext cx="329184" cy="329184"/>
          </a:xfrm>
          <a:prstGeom prst="rect">
            <a:avLst/>
          </a:prstGeom>
          <a:noFill/>
        </p:spPr>
        <p:txBody>
          <a:bodyPr wrap="square" anchor="ctr" lIns="0" rIns="0" tIns="0" bIns="0">
            <a:spAutoFit/>
          </a:bodyPr>
          <a:lstStyle/>
          <a:p>
            <a:pPr algn="ctr"/>
            <a:r>
              <a:rPr sz="1200" b="1" i="0">
                <a:solidFill>
                  <a:srgbClr val="FFFFFF"/>
                </a:solidFill>
                <a:latin typeface="Aptos"/>
              </a:rPr>
              <a:t>8</a:t>
            </a:r>
          </a:p>
        </p:txBody>
      </p:sp>
      <p:sp>
        <p:nvSpPr>
          <p:cNvPr id="51" name="TextBox 50"/>
          <p:cNvSpPr txBox="1"/>
          <p:nvPr/>
        </p:nvSpPr>
        <p:spPr>
          <a:xfrm>
            <a:off x="914400" y="4782312"/>
            <a:ext cx="4206240" cy="402336"/>
          </a:xfrm>
          <a:prstGeom prst="rect">
            <a:avLst/>
          </a:prstGeom>
          <a:noFill/>
        </p:spPr>
        <p:txBody>
          <a:bodyPr wrap="square" anchor="ctr" lIns="0" rIns="0" tIns="0" bIns="0">
            <a:spAutoFit/>
          </a:bodyPr>
          <a:lstStyle/>
          <a:p>
            <a:pPr algn="l"/>
            <a:r>
              <a:rPr sz="1350" b="0" i="0">
                <a:solidFill>
                  <a:srgbClr val="1F2D2C"/>
                </a:solidFill>
                <a:latin typeface="Aptos"/>
              </a:rPr>
              <a:t>Duyệt phụ huynh, gửi hướng dẫn</a:t>
            </a:r>
          </a:p>
        </p:txBody>
      </p:sp>
      <p:sp>
        <p:nvSpPr>
          <p:cNvPr id="52" name="Rounded Rectangle 51"/>
          <p:cNvSpPr/>
          <p:nvPr/>
        </p:nvSpPr>
        <p:spPr>
          <a:xfrm>
            <a:off x="5166360" y="4846320"/>
            <a:ext cx="747937" cy="274320"/>
          </a:xfrm>
          <a:prstGeom prst="roundRect">
            <a:avLst>
              <a:gd name="adj" fmla="val 50000"/>
            </a:avLst>
          </a:prstGeom>
          <a:solidFill>
            <a:srgbClr val="FFF1E0"/>
          </a:solidFill>
          <a:ln>
            <a:noFill/>
          </a:ln>
          <a:effectLst/>
        </p:spPr>
        <p:txBody>
          <a:bodyPr rtlCol="0" anchor="ctr"/>
          <a:lstStyle/>
          <a:p>
            <a:pPr algn="ctr"/>
          </a:p>
        </p:txBody>
      </p:sp>
      <p:sp>
        <p:nvSpPr>
          <p:cNvPr id="53" name="TextBox 52"/>
          <p:cNvSpPr txBox="1"/>
          <p:nvPr/>
        </p:nvSpPr>
        <p:spPr>
          <a:xfrm>
            <a:off x="5166360" y="4846320"/>
            <a:ext cx="747937" cy="274320"/>
          </a:xfrm>
          <a:prstGeom prst="rect">
            <a:avLst/>
          </a:prstGeom>
          <a:noFill/>
        </p:spPr>
        <p:txBody>
          <a:bodyPr wrap="square" anchor="ctr" lIns="0" rIns="0" tIns="0" bIns="0">
            <a:spAutoFit/>
          </a:bodyPr>
          <a:lstStyle/>
          <a:p>
            <a:pPr algn="ctr"/>
            <a:r>
              <a:rPr sz="1050" b="1" i="0">
                <a:solidFill>
                  <a:srgbClr val="0F4C47"/>
                </a:solidFill>
                <a:latin typeface="Aptos"/>
              </a:rPr>
              <a:t>CÔ THẢO</a:t>
            </a:r>
          </a:p>
        </p:txBody>
      </p:sp>
      <p:sp>
        <p:nvSpPr>
          <p:cNvPr id="54" name="Oval 53"/>
          <p:cNvSpPr/>
          <p:nvPr/>
        </p:nvSpPr>
        <p:spPr>
          <a:xfrm>
            <a:off x="420624" y="5321808"/>
            <a:ext cx="329184" cy="329184"/>
          </a:xfrm>
          <a:prstGeom prst="ellipse">
            <a:avLst/>
          </a:prstGeom>
          <a:solidFill>
            <a:srgbClr val="0F766E"/>
          </a:solidFill>
          <a:ln>
            <a:noFill/>
          </a:ln>
          <a:effectLst/>
        </p:spPr>
        <p:txBody>
          <a:bodyPr rtlCol="0" anchor="ctr"/>
          <a:lstStyle/>
          <a:p>
            <a:pPr algn="ctr"/>
          </a:p>
        </p:txBody>
      </p:sp>
      <p:sp>
        <p:nvSpPr>
          <p:cNvPr id="55" name="TextBox 54"/>
          <p:cNvSpPr txBox="1"/>
          <p:nvPr/>
        </p:nvSpPr>
        <p:spPr>
          <a:xfrm>
            <a:off x="420624" y="5321808"/>
            <a:ext cx="329184" cy="329184"/>
          </a:xfrm>
          <a:prstGeom prst="rect">
            <a:avLst/>
          </a:prstGeom>
          <a:noFill/>
        </p:spPr>
        <p:txBody>
          <a:bodyPr wrap="square" anchor="ctr" lIns="0" rIns="0" tIns="0" bIns="0">
            <a:spAutoFit/>
          </a:bodyPr>
          <a:lstStyle/>
          <a:p>
            <a:pPr algn="ctr"/>
            <a:r>
              <a:rPr sz="1200" b="1" i="0">
                <a:solidFill>
                  <a:srgbClr val="FFFFFF"/>
                </a:solidFill>
                <a:latin typeface="Aptos"/>
              </a:rPr>
              <a:t>9</a:t>
            </a:r>
          </a:p>
        </p:txBody>
      </p:sp>
      <p:sp>
        <p:nvSpPr>
          <p:cNvPr id="56" name="TextBox 55"/>
          <p:cNvSpPr txBox="1"/>
          <p:nvPr/>
        </p:nvSpPr>
        <p:spPr>
          <a:xfrm>
            <a:off x="914400" y="5285232"/>
            <a:ext cx="4206240" cy="402336"/>
          </a:xfrm>
          <a:prstGeom prst="rect">
            <a:avLst/>
          </a:prstGeom>
          <a:noFill/>
        </p:spPr>
        <p:txBody>
          <a:bodyPr wrap="square" anchor="ctr" lIns="0" rIns="0" tIns="0" bIns="0">
            <a:spAutoFit/>
          </a:bodyPr>
          <a:lstStyle/>
          <a:p>
            <a:pPr algn="l"/>
            <a:r>
              <a:rPr sz="1350" b="0" i="0">
                <a:solidFill>
                  <a:srgbClr val="1F2D2C"/>
                </a:solidFill>
                <a:latin typeface="Aptos"/>
              </a:rPr>
              <a:t>Chốt hạnh kiểm tháng</a:t>
            </a:r>
          </a:p>
        </p:txBody>
      </p:sp>
      <p:sp>
        <p:nvSpPr>
          <p:cNvPr id="57" name="Rounded Rectangle 56"/>
          <p:cNvSpPr/>
          <p:nvPr/>
        </p:nvSpPr>
        <p:spPr>
          <a:xfrm>
            <a:off x="5166360" y="5349240"/>
            <a:ext cx="747937" cy="274320"/>
          </a:xfrm>
          <a:prstGeom prst="roundRect">
            <a:avLst>
              <a:gd name="adj" fmla="val 50000"/>
            </a:avLst>
          </a:prstGeom>
          <a:solidFill>
            <a:srgbClr val="FFF1E0"/>
          </a:solidFill>
          <a:ln>
            <a:noFill/>
          </a:ln>
          <a:effectLst/>
        </p:spPr>
        <p:txBody>
          <a:bodyPr rtlCol="0" anchor="ctr"/>
          <a:lstStyle/>
          <a:p>
            <a:pPr algn="ctr"/>
          </a:p>
        </p:txBody>
      </p:sp>
      <p:sp>
        <p:nvSpPr>
          <p:cNvPr id="58" name="TextBox 57"/>
          <p:cNvSpPr txBox="1"/>
          <p:nvPr/>
        </p:nvSpPr>
        <p:spPr>
          <a:xfrm>
            <a:off x="5166360" y="5349240"/>
            <a:ext cx="747937" cy="274320"/>
          </a:xfrm>
          <a:prstGeom prst="rect">
            <a:avLst/>
          </a:prstGeom>
          <a:noFill/>
        </p:spPr>
        <p:txBody>
          <a:bodyPr wrap="square" anchor="ctr" lIns="0" rIns="0" tIns="0" bIns="0">
            <a:spAutoFit/>
          </a:bodyPr>
          <a:lstStyle/>
          <a:p>
            <a:pPr algn="ctr"/>
            <a:r>
              <a:rPr sz="1050" b="1" i="0">
                <a:solidFill>
                  <a:srgbClr val="0F4C47"/>
                </a:solidFill>
                <a:latin typeface="Aptos"/>
              </a:rPr>
              <a:t>CÔ THẢO</a:t>
            </a:r>
          </a:p>
        </p:txBody>
      </p:sp>
      <p:sp>
        <p:nvSpPr>
          <p:cNvPr id="59" name="Rounded Rectangle 58"/>
          <p:cNvSpPr/>
          <p:nvPr/>
        </p:nvSpPr>
        <p:spPr>
          <a:xfrm>
            <a:off x="7040880" y="1261872"/>
            <a:ext cx="4727448" cy="4526280"/>
          </a:xfrm>
          <a:prstGeom prst="roundRect">
            <a:avLst>
              <a:gd name="adj" fmla="val 6000"/>
            </a:avLst>
          </a:prstGeom>
          <a:solidFill>
            <a:srgbClr val="E0F2F1"/>
          </a:solidFill>
          <a:ln>
            <a:noFill/>
          </a:ln>
          <a:effectLst/>
        </p:spPr>
        <p:txBody>
          <a:bodyPr rtlCol="0" anchor="ctr"/>
          <a:lstStyle/>
          <a:p>
            <a:pPr algn="ctr"/>
          </a:p>
        </p:txBody>
      </p:sp>
      <p:pic>
        <p:nvPicPr>
          <p:cNvPr id="60" name="Picture 59" descr="qr_demo.png"/>
          <p:cNvPicPr>
            <a:picLocks noChangeAspect="1"/>
          </p:cNvPicPr>
          <p:nvPr/>
        </p:nvPicPr>
        <p:blipFill>
          <a:blip r:embed="rId2"/>
          <a:stretch>
            <a:fillRect/>
          </a:stretch>
        </p:blipFill>
        <p:spPr>
          <a:xfrm>
            <a:off x="7315200" y="1508760"/>
            <a:ext cx="1828800" cy="1828800"/>
          </a:xfrm>
          <a:prstGeom prst="rect">
            <a:avLst/>
          </a:prstGeom>
        </p:spPr>
      </p:pic>
      <p:sp>
        <p:nvSpPr>
          <p:cNvPr id="61" name="TextBox 60"/>
          <p:cNvSpPr txBox="1"/>
          <p:nvPr/>
        </p:nvSpPr>
        <p:spPr>
          <a:xfrm>
            <a:off x="9326880" y="1508760"/>
            <a:ext cx="2286000" cy="1828800"/>
          </a:xfrm>
          <a:prstGeom prst="rect">
            <a:avLst/>
          </a:prstGeom>
          <a:noFill/>
        </p:spPr>
        <p:txBody>
          <a:bodyPr wrap="square" anchor="ctr" lIns="0" rIns="0" tIns="0" bIns="0">
            <a:spAutoFit/>
          </a:bodyPr>
          <a:lstStyle/>
          <a:p>
            <a:pPr algn="l"/>
            <a:r>
              <a:rPr sz="1300" b="0" i="0">
                <a:solidFill>
                  <a:srgbClr val="1F2D2C"/>
                </a:solidFill>
                <a:latin typeface="Aptos"/>
              </a:rPr>
              <a:t>Quét mã hoặc mở link, bấm thẻ </a:t>
            </a:r>
            <a:r>
              <a:rPr sz="1300" b="1" i="0">
                <a:solidFill>
                  <a:srgbClr val="0F4C47"/>
                </a:solidFill>
                <a:latin typeface="Aptos"/>
              </a:rPr>
              <a:t>Kiểm tra tính năng ứng dụng</a:t>
            </a:r>
            <a:r>
              <a:rPr sz="1300" b="0" i="0">
                <a:solidFill>
                  <a:srgbClr val="1F2D2C"/>
                </a:solidFill>
                <a:latin typeface="Aptos"/>
              </a:rPr>
              <a:t>. Không cần email, không cần mật khẩu, dữ liệu mẫu.</a:t>
            </a:r>
          </a:p>
        </p:txBody>
      </p:sp>
      <p:sp>
        <p:nvSpPr>
          <p:cNvPr id="62" name="Rounded Rectangle 61"/>
          <p:cNvSpPr/>
          <p:nvPr/>
        </p:nvSpPr>
        <p:spPr>
          <a:xfrm>
            <a:off x="7758684" y="3529584"/>
            <a:ext cx="3291840" cy="2084832"/>
          </a:xfrm>
          <a:prstGeom prst="roundRect">
            <a:avLst>
              <a:gd name="adj" fmla="val 2000"/>
            </a:avLst>
          </a:prstGeom>
          <a:solidFill>
            <a:srgbClr val="D5E3E2"/>
          </a:solidFill>
          <a:ln>
            <a:noFill/>
          </a:ln>
          <a:effectLst/>
        </p:spPr>
        <p:txBody>
          <a:bodyPr rtlCol="0" anchor="ctr"/>
          <a:lstStyle/>
          <a:p>
            <a:pPr algn="ctr"/>
          </a:p>
        </p:txBody>
      </p:sp>
      <p:pic>
        <p:nvPicPr>
          <p:cNvPr id="63" name="Picture 62" descr="dm_login.png"/>
          <p:cNvPicPr>
            <a:picLocks noChangeAspect="1"/>
          </p:cNvPicPr>
          <p:nvPr/>
        </p:nvPicPr>
        <p:blipFill>
          <a:blip r:embed="rId3"/>
          <a:stretch>
            <a:fillRect/>
          </a:stretch>
        </p:blipFill>
        <p:spPr>
          <a:xfrm>
            <a:off x="7795260" y="3566160"/>
            <a:ext cx="3218688" cy="2011680"/>
          </a:xfrm>
          <a:prstGeom prst="rect">
            <a:avLst/>
          </a:prstGeom>
        </p:spPr>
      </p:pic>
      <p:sp>
        <p:nvSpPr>
          <p:cNvPr id="64" name="TextBox 63"/>
          <p:cNvSpPr txBox="1"/>
          <p:nvPr/>
        </p:nvSpPr>
        <p:spPr>
          <a:xfrm>
            <a:off x="420624" y="5852160"/>
            <a:ext cx="11338560" cy="274320"/>
          </a:xfrm>
          <a:prstGeom prst="rect">
            <a:avLst/>
          </a:prstGeom>
          <a:noFill/>
        </p:spPr>
        <p:txBody>
          <a:bodyPr wrap="square" anchor="t" lIns="0" rIns="0" tIns="0" bIns="0">
            <a:spAutoFit/>
          </a:bodyPr>
          <a:lstStyle/>
          <a:p>
            <a:pPr algn="l"/>
            <a:r>
              <a:rPr sz="1200" b="1" i="0">
                <a:solidFill>
                  <a:srgbClr val="0F766E"/>
                </a:solidFill>
                <a:latin typeface="Aptos"/>
                <a:hlinkClick r:id="rId4"/>
              </a:rPr>
              <a:t>Mở thử: https://thptyenhoa.github.io/Theo-doi-hanh-kiem-11D3-nam-hoc-2026-2027/?demo=1   ·   Hướng dẫn trải nghiệm: docs/HD_Trai_nghiem.pdf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V · MỞ RỘNG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18</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Hướng mở rộng khả thi, phục vụ mục tiêu giáo dục toàn diện</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TextBox 9"/>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1" name="TextBox 10"/>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2" name="Rounded Rectangle 11"/>
          <p:cNvSpPr/>
          <p:nvPr/>
        </p:nvSpPr>
        <p:spPr>
          <a:xfrm>
            <a:off x="9938004"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V · MỞ RỘNG</a:t>
            </a:r>
          </a:p>
        </p:txBody>
      </p:sp>
      <p:sp>
        <p:nvSpPr>
          <p:cNvPr id="14" name="Pentagon 13"/>
          <p:cNvSpPr/>
          <p:nvPr/>
        </p:nvSpPr>
        <p:spPr>
          <a:xfrm>
            <a:off x="420624" y="1325880"/>
            <a:ext cx="3703320" cy="713232"/>
          </a:xfrm>
          <a:prstGeom prst="homePlate">
            <a:avLst>
              <a:gd name="adj" fmla="val 30000"/>
            </a:avLst>
          </a:prstGeom>
          <a:solidFill>
            <a:srgbClr val="99D5CF"/>
          </a:solidFill>
          <a:ln>
            <a:noFill/>
          </a:ln>
          <a:effectLst/>
        </p:spPr>
        <p:txBody>
          <a:bodyPr rtlCol="0" anchor="ctr"/>
          <a:lstStyle/>
          <a:p>
            <a:pPr algn="ctr"/>
          </a:p>
        </p:txBody>
      </p:sp>
      <p:sp>
        <p:nvSpPr>
          <p:cNvPr id="15" name="TextBox 14"/>
          <p:cNvSpPr txBox="1"/>
          <p:nvPr/>
        </p:nvSpPr>
        <p:spPr>
          <a:xfrm>
            <a:off x="694944" y="1325880"/>
            <a:ext cx="3108960" cy="713232"/>
          </a:xfrm>
          <a:prstGeom prst="rect">
            <a:avLst/>
          </a:prstGeom>
          <a:noFill/>
        </p:spPr>
        <p:txBody>
          <a:bodyPr wrap="square" anchor="ctr" lIns="0" rIns="0" tIns="0" bIns="0">
            <a:spAutoFit/>
          </a:bodyPr>
          <a:lstStyle/>
          <a:p>
            <a:pPr algn="ctr"/>
            <a:r>
              <a:rPr sz="1800" b="1" i="0">
                <a:solidFill>
                  <a:srgbClr val="0F4C47"/>
                </a:solidFill>
                <a:latin typeface="Aptos"/>
              </a:rPr>
              <a:t>Học kỳ II</a:t>
            </a:r>
          </a:p>
        </p:txBody>
      </p:sp>
      <p:sp>
        <p:nvSpPr>
          <p:cNvPr id="16" name="Rounded Rectangle 15"/>
          <p:cNvSpPr/>
          <p:nvPr/>
        </p:nvSpPr>
        <p:spPr>
          <a:xfrm>
            <a:off x="512064" y="2331720"/>
            <a:ext cx="3520440" cy="749808"/>
          </a:xfrm>
          <a:prstGeom prst="roundRect">
            <a:avLst>
              <a:gd name="adj" fmla="val 14000"/>
            </a:avLst>
          </a:prstGeom>
          <a:solidFill>
            <a:srgbClr val="F4F7F7"/>
          </a:solidFill>
          <a:ln>
            <a:noFill/>
          </a:ln>
          <a:effectLst/>
        </p:spPr>
        <p:txBody>
          <a:bodyPr rtlCol="0" anchor="ctr"/>
          <a:lstStyle/>
          <a:p>
            <a:pPr algn="ctr"/>
          </a:p>
        </p:txBody>
      </p:sp>
      <p:sp>
        <p:nvSpPr>
          <p:cNvPr id="17" name="TextBox 16"/>
          <p:cNvSpPr txBox="1"/>
          <p:nvPr/>
        </p:nvSpPr>
        <p:spPr>
          <a:xfrm>
            <a:off x="694944" y="2331720"/>
            <a:ext cx="3200400" cy="749808"/>
          </a:xfrm>
          <a:prstGeom prst="rect">
            <a:avLst/>
          </a:prstGeom>
          <a:noFill/>
        </p:spPr>
        <p:txBody>
          <a:bodyPr wrap="square" anchor="ctr" lIns="0" rIns="0" tIns="0" bIns="0">
            <a:spAutoFit/>
          </a:bodyPr>
          <a:lstStyle/>
          <a:p>
            <a:pPr algn="l"/>
            <a:r>
              <a:rPr sz="1350" b="0" i="0">
                <a:solidFill>
                  <a:srgbClr val="1F2D2C"/>
                </a:solidFill>
                <a:latin typeface="Aptos"/>
              </a:rPr>
              <a:t>Nhân rộng cho nhiều lớp, cùng một mẫu</a:t>
            </a:r>
          </a:p>
        </p:txBody>
      </p:sp>
      <p:sp>
        <p:nvSpPr>
          <p:cNvPr id="18" name="Rounded Rectangle 17"/>
          <p:cNvSpPr/>
          <p:nvPr/>
        </p:nvSpPr>
        <p:spPr>
          <a:xfrm>
            <a:off x="512064" y="3246120"/>
            <a:ext cx="3520440" cy="749808"/>
          </a:xfrm>
          <a:prstGeom prst="roundRect">
            <a:avLst>
              <a:gd name="adj" fmla="val 14000"/>
            </a:avLst>
          </a:prstGeom>
          <a:solidFill>
            <a:srgbClr val="F4F7F7"/>
          </a:solidFill>
          <a:ln>
            <a:noFill/>
          </a:ln>
          <a:effectLst/>
        </p:spPr>
        <p:txBody>
          <a:bodyPr rtlCol="0" anchor="ctr"/>
          <a:lstStyle/>
          <a:p>
            <a:pPr algn="ctr"/>
          </a:p>
        </p:txBody>
      </p:sp>
      <p:sp>
        <p:nvSpPr>
          <p:cNvPr id="19" name="TextBox 18"/>
          <p:cNvSpPr txBox="1"/>
          <p:nvPr/>
        </p:nvSpPr>
        <p:spPr>
          <a:xfrm>
            <a:off x="694944" y="3246120"/>
            <a:ext cx="3200400" cy="749808"/>
          </a:xfrm>
          <a:prstGeom prst="rect">
            <a:avLst/>
          </a:prstGeom>
          <a:noFill/>
        </p:spPr>
        <p:txBody>
          <a:bodyPr wrap="square" anchor="ctr" lIns="0" rIns="0" tIns="0" bIns="0">
            <a:spAutoFit/>
          </a:bodyPr>
          <a:lstStyle/>
          <a:p>
            <a:pPr algn="l"/>
            <a:r>
              <a:rPr sz="1350" b="0" i="0">
                <a:solidFill>
                  <a:srgbClr val="1F2D2C"/>
                </a:solidFill>
                <a:latin typeface="Aptos"/>
              </a:rPr>
              <a:t>Bảng tổng hợp cho Ban giám hiệu, toàn trường</a:t>
            </a:r>
          </a:p>
        </p:txBody>
      </p:sp>
      <p:sp>
        <p:nvSpPr>
          <p:cNvPr id="20" name="Rounded Rectangle 19"/>
          <p:cNvSpPr/>
          <p:nvPr/>
        </p:nvSpPr>
        <p:spPr>
          <a:xfrm>
            <a:off x="512064" y="4160520"/>
            <a:ext cx="3520440" cy="749808"/>
          </a:xfrm>
          <a:prstGeom prst="roundRect">
            <a:avLst>
              <a:gd name="adj" fmla="val 14000"/>
            </a:avLst>
          </a:prstGeom>
          <a:solidFill>
            <a:srgbClr val="F4F7F7"/>
          </a:solidFill>
          <a:ln>
            <a:noFill/>
          </a:ln>
          <a:effectLst/>
        </p:spPr>
        <p:txBody>
          <a:bodyPr rtlCol="0" anchor="ctr"/>
          <a:lstStyle/>
          <a:p>
            <a:pPr algn="ctr"/>
          </a:p>
        </p:txBody>
      </p:sp>
      <p:sp>
        <p:nvSpPr>
          <p:cNvPr id="21" name="TextBox 20"/>
          <p:cNvSpPr txBox="1"/>
          <p:nvPr/>
        </p:nvSpPr>
        <p:spPr>
          <a:xfrm>
            <a:off x="694944" y="4160520"/>
            <a:ext cx="3200400" cy="749808"/>
          </a:xfrm>
          <a:prstGeom prst="rect">
            <a:avLst/>
          </a:prstGeom>
          <a:noFill/>
        </p:spPr>
        <p:txBody>
          <a:bodyPr wrap="square" anchor="ctr" lIns="0" rIns="0" tIns="0" bIns="0">
            <a:spAutoFit/>
          </a:bodyPr>
          <a:lstStyle/>
          <a:p>
            <a:pPr algn="l"/>
            <a:r>
              <a:rPr sz="1350" b="0" i="0">
                <a:solidFill>
                  <a:srgbClr val="1F2D2C"/>
                </a:solidFill>
                <a:latin typeface="Aptos"/>
              </a:rPr>
              <a:t>AI gợi ý lời nhận xét, cô duyệt trước khi gửi</a:t>
            </a:r>
          </a:p>
        </p:txBody>
      </p:sp>
      <p:sp>
        <p:nvSpPr>
          <p:cNvPr id="22" name="Chevron 21"/>
          <p:cNvSpPr/>
          <p:nvPr/>
        </p:nvSpPr>
        <p:spPr>
          <a:xfrm>
            <a:off x="4233672" y="1325880"/>
            <a:ext cx="3703320" cy="713232"/>
          </a:xfrm>
          <a:prstGeom prst="chevron">
            <a:avLst>
              <a:gd name="adj" fmla="val 30000"/>
            </a:avLst>
          </a:prstGeom>
          <a:solidFill>
            <a:srgbClr val="2A9D8F"/>
          </a:solidFill>
          <a:ln>
            <a:noFill/>
          </a:ln>
          <a:effectLst/>
        </p:spPr>
        <p:txBody>
          <a:bodyPr rtlCol="0" anchor="ctr"/>
          <a:lstStyle/>
          <a:p>
            <a:pPr algn="ctr"/>
          </a:p>
        </p:txBody>
      </p:sp>
      <p:sp>
        <p:nvSpPr>
          <p:cNvPr id="23" name="TextBox 22"/>
          <p:cNvSpPr txBox="1"/>
          <p:nvPr/>
        </p:nvSpPr>
        <p:spPr>
          <a:xfrm>
            <a:off x="4507992" y="1325880"/>
            <a:ext cx="3108960" cy="713232"/>
          </a:xfrm>
          <a:prstGeom prst="rect">
            <a:avLst/>
          </a:prstGeom>
          <a:noFill/>
        </p:spPr>
        <p:txBody>
          <a:bodyPr wrap="square" anchor="ctr" lIns="0" rIns="0" tIns="0" bIns="0">
            <a:spAutoFit/>
          </a:bodyPr>
          <a:lstStyle/>
          <a:p>
            <a:pPr algn="ctr"/>
            <a:r>
              <a:rPr sz="1800" b="1" i="0">
                <a:solidFill>
                  <a:srgbClr val="FFFFFF"/>
                </a:solidFill>
                <a:latin typeface="Aptos"/>
              </a:rPr>
              <a:t>Năm học tới</a:t>
            </a:r>
          </a:p>
        </p:txBody>
      </p:sp>
      <p:sp>
        <p:nvSpPr>
          <p:cNvPr id="24" name="Rounded Rectangle 23"/>
          <p:cNvSpPr/>
          <p:nvPr/>
        </p:nvSpPr>
        <p:spPr>
          <a:xfrm>
            <a:off x="4325112" y="2331720"/>
            <a:ext cx="3520440" cy="749808"/>
          </a:xfrm>
          <a:prstGeom prst="roundRect">
            <a:avLst>
              <a:gd name="adj" fmla="val 14000"/>
            </a:avLst>
          </a:prstGeom>
          <a:solidFill>
            <a:srgbClr val="F4F7F7"/>
          </a:solidFill>
          <a:ln>
            <a:noFill/>
          </a:ln>
          <a:effectLst/>
        </p:spPr>
        <p:txBody>
          <a:bodyPr rtlCol="0" anchor="ctr"/>
          <a:lstStyle/>
          <a:p>
            <a:pPr algn="ctr"/>
          </a:p>
        </p:txBody>
      </p:sp>
      <p:sp>
        <p:nvSpPr>
          <p:cNvPr id="25" name="TextBox 24"/>
          <p:cNvSpPr txBox="1"/>
          <p:nvPr/>
        </p:nvSpPr>
        <p:spPr>
          <a:xfrm>
            <a:off x="4507992" y="2331720"/>
            <a:ext cx="3200400" cy="749808"/>
          </a:xfrm>
          <a:prstGeom prst="rect">
            <a:avLst/>
          </a:prstGeom>
          <a:noFill/>
        </p:spPr>
        <p:txBody>
          <a:bodyPr wrap="square" anchor="ctr" lIns="0" rIns="0" tIns="0" bIns="0">
            <a:spAutoFit/>
          </a:bodyPr>
          <a:lstStyle/>
          <a:p>
            <a:pPr algn="l"/>
            <a:r>
              <a:rPr sz="1350" b="0" i="0">
                <a:solidFill>
                  <a:srgbClr val="1F2D2C"/>
                </a:solidFill>
                <a:latin typeface="Aptos"/>
              </a:rPr>
              <a:t>Cảnh báo sớm học sinh có xu hướng vi phạm tăng</a:t>
            </a:r>
          </a:p>
        </p:txBody>
      </p:sp>
      <p:sp>
        <p:nvSpPr>
          <p:cNvPr id="26" name="Rounded Rectangle 25"/>
          <p:cNvSpPr/>
          <p:nvPr/>
        </p:nvSpPr>
        <p:spPr>
          <a:xfrm>
            <a:off x="4325112" y="3246120"/>
            <a:ext cx="3520440" cy="749808"/>
          </a:xfrm>
          <a:prstGeom prst="roundRect">
            <a:avLst>
              <a:gd name="adj" fmla="val 14000"/>
            </a:avLst>
          </a:prstGeom>
          <a:solidFill>
            <a:srgbClr val="F4F7F7"/>
          </a:solidFill>
          <a:ln>
            <a:noFill/>
          </a:ln>
          <a:effectLst/>
        </p:spPr>
        <p:txBody>
          <a:bodyPr rtlCol="0" anchor="ctr"/>
          <a:lstStyle/>
          <a:p>
            <a:pPr algn="ctr"/>
          </a:p>
        </p:txBody>
      </p:sp>
      <p:sp>
        <p:nvSpPr>
          <p:cNvPr id="27" name="TextBox 26"/>
          <p:cNvSpPr txBox="1"/>
          <p:nvPr/>
        </p:nvSpPr>
        <p:spPr>
          <a:xfrm>
            <a:off x="4507992" y="3246120"/>
            <a:ext cx="3200400" cy="749808"/>
          </a:xfrm>
          <a:prstGeom prst="rect">
            <a:avLst/>
          </a:prstGeom>
          <a:noFill/>
        </p:spPr>
        <p:txBody>
          <a:bodyPr wrap="square" anchor="ctr" lIns="0" rIns="0" tIns="0" bIns="0">
            <a:spAutoFit/>
          </a:bodyPr>
          <a:lstStyle/>
          <a:p>
            <a:pPr algn="l"/>
            <a:r>
              <a:rPr sz="1350" b="0" i="0">
                <a:solidFill>
                  <a:srgbClr val="1F2D2C"/>
                </a:solidFill>
                <a:latin typeface="Aptos"/>
              </a:rPr>
              <a:t>Học sinh tự đánh giá, huy hiệu rèn luyện</a:t>
            </a:r>
          </a:p>
        </p:txBody>
      </p:sp>
      <p:sp>
        <p:nvSpPr>
          <p:cNvPr id="28" name="Rounded Rectangle 27"/>
          <p:cNvSpPr/>
          <p:nvPr/>
        </p:nvSpPr>
        <p:spPr>
          <a:xfrm>
            <a:off x="4325112" y="4160520"/>
            <a:ext cx="3520440" cy="749808"/>
          </a:xfrm>
          <a:prstGeom prst="roundRect">
            <a:avLst>
              <a:gd name="adj" fmla="val 14000"/>
            </a:avLst>
          </a:prstGeom>
          <a:solidFill>
            <a:srgbClr val="F4F7F7"/>
          </a:solidFill>
          <a:ln>
            <a:noFill/>
          </a:ln>
          <a:effectLst/>
        </p:spPr>
        <p:txBody>
          <a:bodyPr rtlCol="0" anchor="ctr"/>
          <a:lstStyle/>
          <a:p>
            <a:pPr algn="ctr"/>
          </a:p>
        </p:txBody>
      </p:sp>
      <p:sp>
        <p:nvSpPr>
          <p:cNvPr id="29" name="TextBox 28"/>
          <p:cNvSpPr txBox="1"/>
          <p:nvPr/>
        </p:nvSpPr>
        <p:spPr>
          <a:xfrm>
            <a:off x="4507992" y="4160520"/>
            <a:ext cx="3200400" cy="749808"/>
          </a:xfrm>
          <a:prstGeom prst="rect">
            <a:avLst/>
          </a:prstGeom>
          <a:noFill/>
        </p:spPr>
        <p:txBody>
          <a:bodyPr wrap="square" anchor="ctr" lIns="0" rIns="0" tIns="0" bIns="0">
            <a:spAutoFit/>
          </a:bodyPr>
          <a:lstStyle/>
          <a:p>
            <a:pPr algn="l"/>
            <a:r>
              <a:rPr sz="1350" b="0" i="0">
                <a:solidFill>
                  <a:srgbClr val="1F2D2C"/>
                </a:solidFill>
                <a:latin typeface="Aptos"/>
              </a:rPr>
              <a:t>Thông báo qua Zalo cho phụ huynh</a:t>
            </a:r>
          </a:p>
        </p:txBody>
      </p:sp>
      <p:sp>
        <p:nvSpPr>
          <p:cNvPr id="30" name="Chevron 29"/>
          <p:cNvSpPr/>
          <p:nvPr/>
        </p:nvSpPr>
        <p:spPr>
          <a:xfrm>
            <a:off x="8046720" y="1325880"/>
            <a:ext cx="3703320" cy="713232"/>
          </a:xfrm>
          <a:prstGeom prst="chevron">
            <a:avLst>
              <a:gd name="adj" fmla="val 30000"/>
            </a:avLst>
          </a:prstGeom>
          <a:solidFill>
            <a:srgbClr val="0F766E"/>
          </a:solidFill>
          <a:ln>
            <a:noFill/>
          </a:ln>
          <a:effectLst/>
        </p:spPr>
        <p:txBody>
          <a:bodyPr rtlCol="0" anchor="ctr"/>
          <a:lstStyle/>
          <a:p>
            <a:pPr algn="ctr"/>
          </a:p>
        </p:txBody>
      </p:sp>
      <p:sp>
        <p:nvSpPr>
          <p:cNvPr id="31" name="TextBox 30"/>
          <p:cNvSpPr txBox="1"/>
          <p:nvPr/>
        </p:nvSpPr>
        <p:spPr>
          <a:xfrm>
            <a:off x="8321040" y="1325880"/>
            <a:ext cx="3108960" cy="713232"/>
          </a:xfrm>
          <a:prstGeom prst="rect">
            <a:avLst/>
          </a:prstGeom>
          <a:noFill/>
        </p:spPr>
        <p:txBody>
          <a:bodyPr wrap="square" anchor="ctr" lIns="0" rIns="0" tIns="0" bIns="0">
            <a:spAutoFit/>
          </a:bodyPr>
          <a:lstStyle/>
          <a:p>
            <a:pPr algn="ctr"/>
            <a:r>
              <a:rPr sz="1800" b="1" i="0">
                <a:solidFill>
                  <a:srgbClr val="FFFFFF"/>
                </a:solidFill>
                <a:latin typeface="Aptos"/>
              </a:rPr>
              <a:t>Dài hạn</a:t>
            </a:r>
          </a:p>
        </p:txBody>
      </p:sp>
      <p:sp>
        <p:nvSpPr>
          <p:cNvPr id="32" name="Rounded Rectangle 31"/>
          <p:cNvSpPr/>
          <p:nvPr/>
        </p:nvSpPr>
        <p:spPr>
          <a:xfrm>
            <a:off x="8138160" y="2331720"/>
            <a:ext cx="3520440" cy="749808"/>
          </a:xfrm>
          <a:prstGeom prst="roundRect">
            <a:avLst>
              <a:gd name="adj" fmla="val 14000"/>
            </a:avLst>
          </a:prstGeom>
          <a:solidFill>
            <a:srgbClr val="F4F7F7"/>
          </a:solidFill>
          <a:ln>
            <a:noFill/>
          </a:ln>
          <a:effectLst/>
        </p:spPr>
        <p:txBody>
          <a:bodyPr rtlCol="0" anchor="ctr"/>
          <a:lstStyle/>
          <a:p>
            <a:pPr algn="ctr"/>
          </a:p>
        </p:txBody>
      </p:sp>
      <p:sp>
        <p:nvSpPr>
          <p:cNvPr id="33" name="TextBox 32"/>
          <p:cNvSpPr txBox="1"/>
          <p:nvPr/>
        </p:nvSpPr>
        <p:spPr>
          <a:xfrm>
            <a:off x="8321040" y="2331720"/>
            <a:ext cx="3200400" cy="749808"/>
          </a:xfrm>
          <a:prstGeom prst="rect">
            <a:avLst/>
          </a:prstGeom>
          <a:noFill/>
        </p:spPr>
        <p:txBody>
          <a:bodyPr wrap="square" anchor="ctr" lIns="0" rIns="0" tIns="0" bIns="0">
            <a:spAutoFit/>
          </a:bodyPr>
          <a:lstStyle/>
          <a:p>
            <a:pPr algn="l"/>
            <a:r>
              <a:rPr sz="1350" b="0" i="0">
                <a:solidFill>
                  <a:srgbClr val="1F2D2C"/>
                </a:solidFill>
                <a:latin typeface="Aptos"/>
              </a:rPr>
              <a:t>Kết nối điểm danh, sổ đầu bài</a:t>
            </a:r>
          </a:p>
        </p:txBody>
      </p:sp>
      <p:sp>
        <p:nvSpPr>
          <p:cNvPr id="34" name="Rounded Rectangle 33"/>
          <p:cNvSpPr/>
          <p:nvPr/>
        </p:nvSpPr>
        <p:spPr>
          <a:xfrm>
            <a:off x="8138160" y="3246120"/>
            <a:ext cx="3520440" cy="749808"/>
          </a:xfrm>
          <a:prstGeom prst="roundRect">
            <a:avLst>
              <a:gd name="adj" fmla="val 14000"/>
            </a:avLst>
          </a:prstGeom>
          <a:solidFill>
            <a:srgbClr val="F4F7F7"/>
          </a:solidFill>
          <a:ln>
            <a:noFill/>
          </a:ln>
          <a:effectLst/>
        </p:spPr>
        <p:txBody>
          <a:bodyPr rtlCol="0" anchor="ctr"/>
          <a:lstStyle/>
          <a:p>
            <a:pPr algn="ctr"/>
          </a:p>
        </p:txBody>
      </p:sp>
      <p:sp>
        <p:nvSpPr>
          <p:cNvPr id="35" name="TextBox 34"/>
          <p:cNvSpPr txBox="1"/>
          <p:nvPr/>
        </p:nvSpPr>
        <p:spPr>
          <a:xfrm>
            <a:off x="8321040" y="3246120"/>
            <a:ext cx="3200400" cy="749808"/>
          </a:xfrm>
          <a:prstGeom prst="rect">
            <a:avLst/>
          </a:prstGeom>
          <a:noFill/>
        </p:spPr>
        <p:txBody>
          <a:bodyPr wrap="square" anchor="ctr" lIns="0" rIns="0" tIns="0" bIns="0">
            <a:spAutoFit/>
          </a:bodyPr>
          <a:lstStyle/>
          <a:p>
            <a:pPr algn="l"/>
            <a:r>
              <a:rPr sz="1350" b="0" i="0">
                <a:solidFill>
                  <a:srgbClr val="1F2D2C"/>
                </a:solidFill>
                <a:latin typeface="Aptos"/>
              </a:rPr>
              <a:t>Hồ sơ rèn luyện xuyên suốt 3 năm THPT</a:t>
            </a:r>
          </a:p>
        </p:txBody>
      </p:sp>
      <p:sp>
        <p:nvSpPr>
          <p:cNvPr id="36" name="Rounded Rectangle 35"/>
          <p:cNvSpPr/>
          <p:nvPr/>
        </p:nvSpPr>
        <p:spPr>
          <a:xfrm>
            <a:off x="8138160" y="4160520"/>
            <a:ext cx="3520440" cy="749808"/>
          </a:xfrm>
          <a:prstGeom prst="roundRect">
            <a:avLst>
              <a:gd name="adj" fmla="val 14000"/>
            </a:avLst>
          </a:prstGeom>
          <a:solidFill>
            <a:srgbClr val="F4F7F7"/>
          </a:solidFill>
          <a:ln>
            <a:noFill/>
          </a:ln>
          <a:effectLst/>
        </p:spPr>
        <p:txBody>
          <a:bodyPr rtlCol="0" anchor="ctr"/>
          <a:lstStyle/>
          <a:p>
            <a:pPr algn="ctr"/>
          </a:p>
        </p:txBody>
      </p:sp>
      <p:sp>
        <p:nvSpPr>
          <p:cNvPr id="37" name="TextBox 36"/>
          <p:cNvSpPr txBox="1"/>
          <p:nvPr/>
        </p:nvSpPr>
        <p:spPr>
          <a:xfrm>
            <a:off x="8321040" y="4160520"/>
            <a:ext cx="3200400" cy="749808"/>
          </a:xfrm>
          <a:prstGeom prst="rect">
            <a:avLst/>
          </a:prstGeom>
          <a:noFill/>
        </p:spPr>
        <p:txBody>
          <a:bodyPr wrap="square" anchor="ctr" lIns="0" rIns="0" tIns="0" bIns="0">
            <a:spAutoFit/>
          </a:bodyPr>
          <a:lstStyle/>
          <a:p>
            <a:pPr algn="l"/>
            <a:r>
              <a:rPr sz="1350" b="0" i="0">
                <a:solidFill>
                  <a:srgbClr val="1F2D2C"/>
                </a:solidFill>
                <a:latin typeface="Aptos"/>
              </a:rPr>
              <a:t>Ghi nhận năng lực số, hoạt động xanh, tình nguyện</a:t>
            </a:r>
          </a:p>
        </p:txBody>
      </p:sp>
      <p:sp>
        <p:nvSpPr>
          <p:cNvPr id="38" name="Rounded Rectangle 37"/>
          <p:cNvSpPr/>
          <p:nvPr/>
        </p:nvSpPr>
        <p:spPr>
          <a:xfrm>
            <a:off x="420624" y="5166360"/>
            <a:ext cx="11347704" cy="731520"/>
          </a:xfrm>
          <a:prstGeom prst="roundRect">
            <a:avLst>
              <a:gd name="adj" fmla="val 14000"/>
            </a:avLst>
          </a:prstGeom>
          <a:solidFill>
            <a:srgbClr val="FFF1E0"/>
          </a:solidFill>
          <a:ln>
            <a:noFill/>
          </a:ln>
          <a:effectLst/>
        </p:spPr>
        <p:txBody>
          <a:bodyPr rtlCol="0" anchor="ctr"/>
          <a:lstStyle/>
          <a:p>
            <a:pPr algn="ctr"/>
          </a:p>
        </p:txBody>
      </p:sp>
      <p:sp>
        <p:nvSpPr>
          <p:cNvPr id="39" name="TextBox 38"/>
          <p:cNvSpPr txBox="1"/>
          <p:nvPr/>
        </p:nvSpPr>
        <p:spPr>
          <a:xfrm>
            <a:off x="685800" y="5166360"/>
            <a:ext cx="10881360" cy="731520"/>
          </a:xfrm>
          <a:prstGeom prst="rect">
            <a:avLst/>
          </a:prstGeom>
          <a:noFill/>
        </p:spPr>
        <p:txBody>
          <a:bodyPr wrap="square" anchor="ctr" lIns="0" rIns="0" tIns="0" bIns="0">
            <a:spAutoFit/>
          </a:bodyPr>
          <a:lstStyle/>
          <a:p>
            <a:pPr algn="l"/>
            <a:r>
              <a:rPr sz="1400" b="1" i="0">
                <a:solidFill>
                  <a:srgbClr val="0F4C47"/>
                </a:solidFill>
                <a:latin typeface="Aptos"/>
              </a:rPr>
              <a:t>Nguyên tắc giữ nguyên: </a:t>
            </a:r>
            <a:r>
              <a:rPr sz="1400" b="0" i="0">
                <a:solidFill>
                  <a:srgbClr val="1F2D2C"/>
                </a:solidFill>
                <a:latin typeface="Aptos"/>
              </a:rPr>
              <a:t>AI chỉ gợi ý, giáo viên quyết định; dữ liệu học sinh ở trong hệ thống của nhà trường.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V · MỞ RỘNG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19</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Đường link và mã QR: dùng thử, hướng dẫn, trang phụ huynh</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TextBox 9"/>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1" name="TextBox 10"/>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2" name="Rounded Rectangle 11"/>
          <p:cNvSpPr/>
          <p:nvPr/>
        </p:nvSpPr>
        <p:spPr>
          <a:xfrm>
            <a:off x="9938004"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V · MỞ RỘNG</a:t>
            </a:r>
          </a:p>
        </p:txBody>
      </p:sp>
      <p:sp>
        <p:nvSpPr>
          <p:cNvPr id="14" name="Rounded Rectangle 13"/>
          <p:cNvSpPr/>
          <p:nvPr/>
        </p:nvSpPr>
        <p:spPr>
          <a:xfrm>
            <a:off x="420624" y="1280160"/>
            <a:ext cx="5623560" cy="2194560"/>
          </a:xfrm>
          <a:prstGeom prst="roundRect">
            <a:avLst>
              <a:gd name="adj" fmla="val 6000"/>
            </a:avLst>
          </a:prstGeom>
          <a:solidFill>
            <a:srgbClr val="F4F7F7"/>
          </a:solidFill>
          <a:ln>
            <a:noFill/>
          </a:ln>
          <a:effectLst/>
        </p:spPr>
        <p:txBody>
          <a:bodyPr rtlCol="0" anchor="ctr"/>
          <a:lstStyle/>
          <a:p>
            <a:pPr algn="ctr"/>
          </a:p>
        </p:txBody>
      </p:sp>
      <p:pic>
        <p:nvPicPr>
          <p:cNvPr id="15" name="Picture 14" descr="qr_demo.png"/>
          <p:cNvPicPr>
            <a:picLocks noChangeAspect="1"/>
          </p:cNvPicPr>
          <p:nvPr/>
        </p:nvPicPr>
        <p:blipFill>
          <a:blip r:embed="rId2"/>
          <a:stretch>
            <a:fillRect/>
          </a:stretch>
        </p:blipFill>
        <p:spPr>
          <a:xfrm>
            <a:off x="603504" y="1463039"/>
            <a:ext cx="1828800" cy="1828800"/>
          </a:xfrm>
          <a:prstGeom prst="rect">
            <a:avLst/>
          </a:prstGeom>
        </p:spPr>
      </p:pic>
      <p:sp>
        <p:nvSpPr>
          <p:cNvPr id="16" name="TextBox 15"/>
          <p:cNvSpPr txBox="1"/>
          <p:nvPr/>
        </p:nvSpPr>
        <p:spPr>
          <a:xfrm>
            <a:off x="2660904" y="1508760"/>
            <a:ext cx="3246120" cy="365760"/>
          </a:xfrm>
          <a:prstGeom prst="rect">
            <a:avLst/>
          </a:prstGeom>
          <a:noFill/>
        </p:spPr>
        <p:txBody>
          <a:bodyPr wrap="square" anchor="t" lIns="0" rIns="0" tIns="0" bIns="0">
            <a:spAutoFit/>
          </a:bodyPr>
          <a:lstStyle/>
          <a:p>
            <a:pPr algn="l"/>
            <a:r>
              <a:rPr sz="1700" b="1" i="0">
                <a:solidFill>
                  <a:srgbClr val="0F4C47"/>
                </a:solidFill>
                <a:latin typeface="Aptos"/>
              </a:rPr>
              <a:t>Dùng thử app</a:t>
            </a:r>
          </a:p>
        </p:txBody>
      </p:sp>
      <p:sp>
        <p:nvSpPr>
          <p:cNvPr id="17" name="TextBox 16"/>
          <p:cNvSpPr txBox="1"/>
          <p:nvPr/>
        </p:nvSpPr>
        <p:spPr>
          <a:xfrm>
            <a:off x="2660904" y="1920239"/>
            <a:ext cx="3246120" cy="457200"/>
          </a:xfrm>
          <a:prstGeom prst="rect">
            <a:avLst/>
          </a:prstGeom>
          <a:noFill/>
        </p:spPr>
        <p:txBody>
          <a:bodyPr wrap="square" anchor="t" lIns="0" rIns="0" tIns="0" bIns="0">
            <a:spAutoFit/>
          </a:bodyPr>
          <a:lstStyle/>
          <a:p>
            <a:pPr algn="l"/>
            <a:r>
              <a:rPr sz="1300" b="0" i="0">
                <a:solidFill>
                  <a:srgbClr val="5F7472"/>
                </a:solidFill>
                <a:latin typeface="Aptos"/>
              </a:rPr>
              <a:t>Chế độ Kiểm tra tính năng ứng dụng</a:t>
            </a:r>
          </a:p>
        </p:txBody>
      </p:sp>
      <p:sp>
        <p:nvSpPr>
          <p:cNvPr id="18" name="TextBox 17"/>
          <p:cNvSpPr txBox="1"/>
          <p:nvPr/>
        </p:nvSpPr>
        <p:spPr>
          <a:xfrm>
            <a:off x="2660904" y="2423160"/>
            <a:ext cx="3246120" cy="868680"/>
          </a:xfrm>
          <a:prstGeom prst="rect">
            <a:avLst/>
          </a:prstGeom>
          <a:noFill/>
        </p:spPr>
        <p:txBody>
          <a:bodyPr wrap="square" anchor="t" lIns="0" rIns="0" tIns="0" bIns="0">
            <a:spAutoFit/>
          </a:bodyPr>
          <a:lstStyle/>
          <a:p>
            <a:pPr algn="l"/>
            <a:r>
              <a:rPr sz="1100" b="1" i="0">
                <a:solidFill>
                  <a:srgbClr val="0F766E"/>
                </a:solidFill>
                <a:latin typeface="Aptos"/>
                <a:hlinkClick r:id="rId3"/>
              </a:rPr>
              <a:t>thptyenhoa.github.io/Theo-doi-hanh-kiem-11D3-nam-hoc-2026-2027/?demo=1</a:t>
            </a:r>
          </a:p>
        </p:txBody>
      </p:sp>
      <p:sp>
        <p:nvSpPr>
          <p:cNvPr id="19" name="Rounded Rectangle 18"/>
          <p:cNvSpPr/>
          <p:nvPr/>
        </p:nvSpPr>
        <p:spPr>
          <a:xfrm>
            <a:off x="6135624" y="1280160"/>
            <a:ext cx="5623560" cy="2194560"/>
          </a:xfrm>
          <a:prstGeom prst="roundRect">
            <a:avLst>
              <a:gd name="adj" fmla="val 6000"/>
            </a:avLst>
          </a:prstGeom>
          <a:solidFill>
            <a:srgbClr val="F4F7F7"/>
          </a:solidFill>
          <a:ln>
            <a:noFill/>
          </a:ln>
          <a:effectLst/>
        </p:spPr>
        <p:txBody>
          <a:bodyPr rtlCol="0" anchor="ctr"/>
          <a:lstStyle/>
          <a:p>
            <a:pPr algn="ctr"/>
          </a:p>
        </p:txBody>
      </p:sp>
      <p:pic>
        <p:nvPicPr>
          <p:cNvPr id="20" name="Picture 19" descr="qr_hdtn.png"/>
          <p:cNvPicPr>
            <a:picLocks noChangeAspect="1"/>
          </p:cNvPicPr>
          <p:nvPr/>
        </p:nvPicPr>
        <p:blipFill>
          <a:blip r:embed="rId4"/>
          <a:stretch>
            <a:fillRect/>
          </a:stretch>
        </p:blipFill>
        <p:spPr>
          <a:xfrm>
            <a:off x="6318504" y="1463039"/>
            <a:ext cx="1828800" cy="1828800"/>
          </a:xfrm>
          <a:prstGeom prst="rect">
            <a:avLst/>
          </a:prstGeom>
        </p:spPr>
      </p:pic>
      <p:sp>
        <p:nvSpPr>
          <p:cNvPr id="21" name="TextBox 20"/>
          <p:cNvSpPr txBox="1"/>
          <p:nvPr/>
        </p:nvSpPr>
        <p:spPr>
          <a:xfrm>
            <a:off x="8375904" y="1508760"/>
            <a:ext cx="3246120" cy="365760"/>
          </a:xfrm>
          <a:prstGeom prst="rect">
            <a:avLst/>
          </a:prstGeom>
          <a:noFill/>
        </p:spPr>
        <p:txBody>
          <a:bodyPr wrap="square" anchor="t" lIns="0" rIns="0" tIns="0" bIns="0">
            <a:spAutoFit/>
          </a:bodyPr>
          <a:lstStyle/>
          <a:p>
            <a:pPr algn="l"/>
            <a:r>
              <a:rPr sz="1700" b="1" i="0">
                <a:solidFill>
                  <a:srgbClr val="0F4C47"/>
                </a:solidFill>
                <a:latin typeface="Aptos"/>
              </a:rPr>
              <a:t>Hướng dẫn trải nghiệm</a:t>
            </a:r>
          </a:p>
        </p:txBody>
      </p:sp>
      <p:sp>
        <p:nvSpPr>
          <p:cNvPr id="22" name="TextBox 21"/>
          <p:cNvSpPr txBox="1"/>
          <p:nvPr/>
        </p:nvSpPr>
        <p:spPr>
          <a:xfrm>
            <a:off x="8375904" y="1920239"/>
            <a:ext cx="3246120" cy="457200"/>
          </a:xfrm>
          <a:prstGeom prst="rect">
            <a:avLst/>
          </a:prstGeom>
          <a:noFill/>
        </p:spPr>
        <p:txBody>
          <a:bodyPr wrap="square" anchor="t" lIns="0" rIns="0" tIns="0" bIns="0">
            <a:spAutoFit/>
          </a:bodyPr>
          <a:lstStyle/>
          <a:p>
            <a:pPr algn="l"/>
            <a:r>
              <a:rPr sz="1300" b="0" i="0">
                <a:solidFill>
                  <a:srgbClr val="5F7472"/>
                </a:solidFill>
                <a:latin typeface="Aptos"/>
              </a:rPr>
              <a:t>PDF 14 trang, 9 việc có ảnh</a:t>
            </a:r>
          </a:p>
        </p:txBody>
      </p:sp>
      <p:sp>
        <p:nvSpPr>
          <p:cNvPr id="23" name="TextBox 22"/>
          <p:cNvSpPr txBox="1"/>
          <p:nvPr/>
        </p:nvSpPr>
        <p:spPr>
          <a:xfrm>
            <a:off x="8375904" y="2423160"/>
            <a:ext cx="3246120" cy="868680"/>
          </a:xfrm>
          <a:prstGeom prst="rect">
            <a:avLst/>
          </a:prstGeom>
          <a:noFill/>
        </p:spPr>
        <p:txBody>
          <a:bodyPr wrap="square" anchor="t" lIns="0" rIns="0" tIns="0" bIns="0">
            <a:spAutoFit/>
          </a:bodyPr>
          <a:lstStyle/>
          <a:p>
            <a:pPr algn="l"/>
            <a:r>
              <a:rPr sz="1100" b="1" i="0">
                <a:solidFill>
                  <a:srgbClr val="0F766E"/>
                </a:solidFill>
                <a:latin typeface="Aptos"/>
                <a:hlinkClick r:id="rId5"/>
              </a:rPr>
              <a:t>thptyenhoa.github.io/Theo-doi-hanh-kiem-11D3-nam-hoc-2026-2027/docs/HD_Trai_nghiem.pdf</a:t>
            </a:r>
          </a:p>
        </p:txBody>
      </p:sp>
      <p:sp>
        <p:nvSpPr>
          <p:cNvPr id="24" name="Rounded Rectangle 23"/>
          <p:cNvSpPr/>
          <p:nvPr/>
        </p:nvSpPr>
        <p:spPr>
          <a:xfrm>
            <a:off x="420624" y="3611879"/>
            <a:ext cx="5623560" cy="2194560"/>
          </a:xfrm>
          <a:prstGeom prst="roundRect">
            <a:avLst>
              <a:gd name="adj" fmla="val 6000"/>
            </a:avLst>
          </a:prstGeom>
          <a:solidFill>
            <a:srgbClr val="F4F7F7"/>
          </a:solidFill>
          <a:ln>
            <a:noFill/>
          </a:ln>
          <a:effectLst/>
        </p:spPr>
        <p:txBody>
          <a:bodyPr rtlCol="0" anchor="ctr"/>
          <a:lstStyle/>
          <a:p>
            <a:pPr algn="ctr"/>
          </a:p>
        </p:txBody>
      </p:sp>
      <p:pic>
        <p:nvPicPr>
          <p:cNvPr id="25" name="Picture 24" descr="qr_hdsd.png"/>
          <p:cNvPicPr>
            <a:picLocks noChangeAspect="1"/>
          </p:cNvPicPr>
          <p:nvPr/>
        </p:nvPicPr>
        <p:blipFill>
          <a:blip r:embed="rId6"/>
          <a:stretch>
            <a:fillRect/>
          </a:stretch>
        </p:blipFill>
        <p:spPr>
          <a:xfrm>
            <a:off x="603504" y="3794759"/>
            <a:ext cx="1828800" cy="1828800"/>
          </a:xfrm>
          <a:prstGeom prst="rect">
            <a:avLst/>
          </a:prstGeom>
        </p:spPr>
      </p:pic>
      <p:sp>
        <p:nvSpPr>
          <p:cNvPr id="26" name="TextBox 25"/>
          <p:cNvSpPr txBox="1"/>
          <p:nvPr/>
        </p:nvSpPr>
        <p:spPr>
          <a:xfrm>
            <a:off x="2660904" y="3840479"/>
            <a:ext cx="3246120" cy="365760"/>
          </a:xfrm>
          <a:prstGeom prst="rect">
            <a:avLst/>
          </a:prstGeom>
          <a:noFill/>
        </p:spPr>
        <p:txBody>
          <a:bodyPr wrap="square" anchor="t" lIns="0" rIns="0" tIns="0" bIns="0">
            <a:spAutoFit/>
          </a:bodyPr>
          <a:lstStyle/>
          <a:p>
            <a:pPr algn="l"/>
            <a:r>
              <a:rPr sz="1700" b="1" i="0">
                <a:solidFill>
                  <a:srgbClr val="0F4C47"/>
                </a:solidFill>
                <a:latin typeface="Aptos"/>
              </a:rPr>
              <a:t>Hướng dẫn sử dụng đầy đủ</a:t>
            </a:r>
          </a:p>
        </p:txBody>
      </p:sp>
      <p:sp>
        <p:nvSpPr>
          <p:cNvPr id="27" name="TextBox 26"/>
          <p:cNvSpPr txBox="1"/>
          <p:nvPr/>
        </p:nvSpPr>
        <p:spPr>
          <a:xfrm>
            <a:off x="2660904" y="4251959"/>
            <a:ext cx="3246120" cy="457200"/>
          </a:xfrm>
          <a:prstGeom prst="rect">
            <a:avLst/>
          </a:prstGeom>
          <a:noFill/>
        </p:spPr>
        <p:txBody>
          <a:bodyPr wrap="square" anchor="t" lIns="0" rIns="0" tIns="0" bIns="0">
            <a:spAutoFit/>
          </a:bodyPr>
          <a:lstStyle/>
          <a:p>
            <a:pPr algn="l"/>
            <a:r>
              <a:rPr sz="1300" b="0" i="0">
                <a:solidFill>
                  <a:srgbClr val="5F7472"/>
                </a:solidFill>
                <a:latin typeface="Aptos"/>
              </a:rPr>
              <a:t>PDF: cô chủ nhiệm, cán bộ lớp, phụ huynh</a:t>
            </a:r>
          </a:p>
        </p:txBody>
      </p:sp>
      <p:sp>
        <p:nvSpPr>
          <p:cNvPr id="28" name="TextBox 27"/>
          <p:cNvSpPr txBox="1"/>
          <p:nvPr/>
        </p:nvSpPr>
        <p:spPr>
          <a:xfrm>
            <a:off x="2660904" y="4754879"/>
            <a:ext cx="3246120" cy="868680"/>
          </a:xfrm>
          <a:prstGeom prst="rect">
            <a:avLst/>
          </a:prstGeom>
          <a:noFill/>
        </p:spPr>
        <p:txBody>
          <a:bodyPr wrap="square" anchor="t" lIns="0" rIns="0" tIns="0" bIns="0">
            <a:spAutoFit/>
          </a:bodyPr>
          <a:lstStyle/>
          <a:p>
            <a:pPr algn="l"/>
            <a:r>
              <a:rPr sz="1100" b="1" i="0">
                <a:solidFill>
                  <a:srgbClr val="0F766E"/>
                </a:solidFill>
                <a:latin typeface="Aptos"/>
                <a:hlinkClick r:id="rId7"/>
              </a:rPr>
              <a:t>thptyenhoa.github.io/Theo-doi-hanh-kiem-11D3-nam-hoc-2026-2027/docs/HDSD_Day_du.pdf</a:t>
            </a:r>
          </a:p>
        </p:txBody>
      </p:sp>
      <p:sp>
        <p:nvSpPr>
          <p:cNvPr id="29" name="Rounded Rectangle 28"/>
          <p:cNvSpPr/>
          <p:nvPr/>
        </p:nvSpPr>
        <p:spPr>
          <a:xfrm>
            <a:off x="6135624" y="3611879"/>
            <a:ext cx="5623560" cy="2194560"/>
          </a:xfrm>
          <a:prstGeom prst="roundRect">
            <a:avLst>
              <a:gd name="adj" fmla="val 6000"/>
            </a:avLst>
          </a:prstGeom>
          <a:solidFill>
            <a:srgbClr val="F4F7F7"/>
          </a:solidFill>
          <a:ln>
            <a:noFill/>
          </a:ln>
          <a:effectLst/>
        </p:spPr>
        <p:txBody>
          <a:bodyPr rtlCol="0" anchor="ctr"/>
          <a:lstStyle/>
          <a:p>
            <a:pPr algn="ctr"/>
          </a:p>
        </p:txBody>
      </p:sp>
      <p:pic>
        <p:nvPicPr>
          <p:cNvPr id="30" name="Picture 29" descr="qr_ph.png"/>
          <p:cNvPicPr>
            <a:picLocks noChangeAspect="1"/>
          </p:cNvPicPr>
          <p:nvPr/>
        </p:nvPicPr>
        <p:blipFill>
          <a:blip r:embed="rId8"/>
          <a:stretch>
            <a:fillRect/>
          </a:stretch>
        </p:blipFill>
        <p:spPr>
          <a:xfrm>
            <a:off x="6318504" y="3794759"/>
            <a:ext cx="1828800" cy="1828800"/>
          </a:xfrm>
          <a:prstGeom prst="rect">
            <a:avLst/>
          </a:prstGeom>
        </p:spPr>
      </p:pic>
      <p:sp>
        <p:nvSpPr>
          <p:cNvPr id="31" name="TextBox 30"/>
          <p:cNvSpPr txBox="1"/>
          <p:nvPr/>
        </p:nvSpPr>
        <p:spPr>
          <a:xfrm>
            <a:off x="8375904" y="3840479"/>
            <a:ext cx="3246120" cy="365760"/>
          </a:xfrm>
          <a:prstGeom prst="rect">
            <a:avLst/>
          </a:prstGeom>
          <a:noFill/>
        </p:spPr>
        <p:txBody>
          <a:bodyPr wrap="square" anchor="t" lIns="0" rIns="0" tIns="0" bIns="0">
            <a:spAutoFit/>
          </a:bodyPr>
          <a:lstStyle/>
          <a:p>
            <a:pPr algn="l"/>
            <a:r>
              <a:rPr sz="1700" b="1" i="0">
                <a:solidFill>
                  <a:srgbClr val="0F4C47"/>
                </a:solidFill>
                <a:latin typeface="Aptos"/>
              </a:rPr>
              <a:t>Trang phụ huynh</a:t>
            </a:r>
          </a:p>
        </p:txBody>
      </p:sp>
      <p:sp>
        <p:nvSpPr>
          <p:cNvPr id="32" name="TextBox 31"/>
          <p:cNvSpPr txBox="1"/>
          <p:nvPr/>
        </p:nvSpPr>
        <p:spPr>
          <a:xfrm>
            <a:off x="8375904" y="4251959"/>
            <a:ext cx="3246120" cy="457200"/>
          </a:xfrm>
          <a:prstGeom prst="rect">
            <a:avLst/>
          </a:prstGeom>
          <a:noFill/>
        </p:spPr>
        <p:txBody>
          <a:bodyPr wrap="square" anchor="t" lIns="0" rIns="0" tIns="0" bIns="0">
            <a:spAutoFit/>
          </a:bodyPr>
          <a:lstStyle/>
          <a:p>
            <a:pPr algn="l"/>
            <a:r>
              <a:rPr sz="1300" b="0" i="0">
                <a:solidFill>
                  <a:srgbClr val="5F7472"/>
                </a:solidFill>
                <a:latin typeface="Aptos"/>
              </a:rPr>
              <a:t>Bản trải nghiệm, dữ liệu mẫu</a:t>
            </a:r>
          </a:p>
        </p:txBody>
      </p:sp>
      <p:sp>
        <p:nvSpPr>
          <p:cNvPr id="33" name="TextBox 32"/>
          <p:cNvSpPr txBox="1"/>
          <p:nvPr/>
        </p:nvSpPr>
        <p:spPr>
          <a:xfrm>
            <a:off x="8375904" y="4754879"/>
            <a:ext cx="3246120" cy="868680"/>
          </a:xfrm>
          <a:prstGeom prst="rect">
            <a:avLst/>
          </a:prstGeom>
          <a:noFill/>
        </p:spPr>
        <p:txBody>
          <a:bodyPr wrap="square" anchor="t" lIns="0" rIns="0" tIns="0" bIns="0">
            <a:spAutoFit/>
          </a:bodyPr>
          <a:lstStyle/>
          <a:p>
            <a:pPr algn="l"/>
            <a:r>
              <a:rPr sz="1100" b="1" i="0">
                <a:solidFill>
                  <a:srgbClr val="0F766E"/>
                </a:solidFill>
                <a:latin typeface="Aptos"/>
                <a:hlinkClick r:id="rId9"/>
              </a:rPr>
              <a:t>thptyenhoa.github.io/Theo-doi-hanh-kiem-11D3-nam-hoc-2026-2027/phu-huynh.html?demo=1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0F2F1"/>
          </a:solidFill>
          <a:ln>
            <a:noFill/>
          </a:ln>
          <a:effectLst/>
        </p:spPr>
        <p:txBody>
          <a:bodyPr rtlCol="0" anchor="ctr"/>
          <a:lstStyle/>
          <a:p>
            <a:pPr algn="ctr"/>
          </a:p>
        </p:txBody>
      </p:sp>
      <p:sp>
        <p:nvSpPr>
          <p:cNvPr id="3" name="TextBox 2"/>
          <p:cNvSpPr txBox="1"/>
          <p:nvPr/>
        </p:nvSpPr>
        <p:spPr>
          <a:xfrm>
            <a:off x="822960" y="1371600"/>
            <a:ext cx="6400800" cy="1097280"/>
          </a:xfrm>
          <a:prstGeom prst="rect">
            <a:avLst/>
          </a:prstGeom>
          <a:noFill/>
        </p:spPr>
        <p:txBody>
          <a:bodyPr wrap="square" anchor="t" lIns="0" rIns="0" tIns="0" bIns="0">
            <a:spAutoFit/>
          </a:bodyPr>
          <a:lstStyle/>
          <a:p>
            <a:pPr algn="l"/>
            <a:r>
              <a:rPr sz="6000" b="1" i="0">
                <a:solidFill>
                  <a:srgbClr val="0F4C47"/>
                </a:solidFill>
                <a:latin typeface="Aptos"/>
              </a:rPr>
              <a:t>CẢM ƠN</a:t>
            </a:r>
          </a:p>
        </p:txBody>
      </p:sp>
      <p:sp>
        <p:nvSpPr>
          <p:cNvPr id="4" name="TextBox 3"/>
          <p:cNvSpPr txBox="1"/>
          <p:nvPr/>
        </p:nvSpPr>
        <p:spPr>
          <a:xfrm>
            <a:off x="822960" y="2560320"/>
            <a:ext cx="6400800" cy="548640"/>
          </a:xfrm>
          <a:prstGeom prst="rect">
            <a:avLst/>
          </a:prstGeom>
          <a:noFill/>
        </p:spPr>
        <p:txBody>
          <a:bodyPr wrap="square" anchor="t" lIns="0" rIns="0" tIns="0" bIns="0">
            <a:spAutoFit/>
          </a:bodyPr>
          <a:lstStyle/>
          <a:p>
            <a:pPr algn="l"/>
            <a:r>
              <a:rPr sz="1800" b="0" i="0">
                <a:solidFill>
                  <a:srgbClr val="1F2D2C"/>
                </a:solidFill>
                <a:latin typeface="Aptos"/>
              </a:rPr>
              <a:t>Rất mong nhận được góp ý của các thầy cô.</a:t>
            </a:r>
          </a:p>
        </p:txBody>
      </p:sp>
      <p:cxnSp>
        <p:nvCxnSpPr>
          <p:cNvPr id="5" name="Connector 4"/>
          <p:cNvCxnSpPr/>
          <p:nvPr/>
        </p:nvCxnSpPr>
        <p:spPr>
          <a:xfrm>
            <a:off x="822960" y="3383280"/>
            <a:ext cx="6035040" cy="0"/>
          </a:xfrm>
          <a:prstGeom prst="line">
            <a:avLst/>
          </a:prstGeom>
          <a:ln w="19050">
            <a:solidFill>
              <a:srgbClr val="2A9D8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3566160"/>
            <a:ext cx="6400800" cy="1097280"/>
          </a:xfrm>
          <a:prstGeom prst="rect">
            <a:avLst/>
          </a:prstGeom>
          <a:noFill/>
        </p:spPr>
        <p:txBody>
          <a:bodyPr wrap="square" anchor="t" lIns="0" rIns="0" tIns="0" bIns="0">
            <a:spAutoFit/>
          </a:bodyPr>
          <a:lstStyle/>
          <a:p>
            <a:pPr algn="l">
              <a:spcAft>
                <a:spcPts val="400"/>
              </a:spcAft>
            </a:pPr>
            <a:r>
              <a:rPr sz="1600" b="1" i="0">
                <a:solidFill>
                  <a:srgbClr val="0F4C47"/>
                </a:solidFill>
                <a:latin typeface="Aptos"/>
              </a:rPr>
              <a:t>Nguyễn Thị Thu Thảo</a:t>
            </a:r>
          </a:p>
          <a:p>
            <a:pPr algn="l">
              <a:spcAft>
                <a:spcPts val="400"/>
              </a:spcAft>
            </a:pPr>
            <a:r>
              <a:rPr sz="1300" b="0" i="0">
                <a:solidFill>
                  <a:srgbClr val="1F2D2C"/>
                </a:solidFill>
                <a:latin typeface="Aptos"/>
              </a:rPr>
              <a:t>Giáo viên chủ nhiệm lớp 11D3 · Trường THPT Yên Hòa</a:t>
            </a:r>
          </a:p>
        </p:txBody>
      </p:sp>
      <p:pic>
        <p:nvPicPr>
          <p:cNvPr id="7" name="Picture 6" descr="qr_demo.png"/>
          <p:cNvPicPr>
            <a:picLocks noChangeAspect="1"/>
          </p:cNvPicPr>
          <p:nvPr/>
        </p:nvPicPr>
        <p:blipFill>
          <a:blip r:embed="rId2"/>
          <a:stretch>
            <a:fillRect/>
          </a:stretch>
        </p:blipFill>
        <p:spPr>
          <a:xfrm>
            <a:off x="822960" y="4572000"/>
            <a:ext cx="1371600" cy="1371600"/>
          </a:xfrm>
          <a:prstGeom prst="rect">
            <a:avLst/>
          </a:prstGeom>
        </p:spPr>
      </p:pic>
      <p:sp>
        <p:nvSpPr>
          <p:cNvPr id="8" name="TextBox 7"/>
          <p:cNvSpPr txBox="1"/>
          <p:nvPr/>
        </p:nvSpPr>
        <p:spPr>
          <a:xfrm>
            <a:off x="2377440" y="4572000"/>
            <a:ext cx="5029200" cy="1371600"/>
          </a:xfrm>
          <a:prstGeom prst="rect">
            <a:avLst/>
          </a:prstGeom>
          <a:noFill/>
        </p:spPr>
        <p:txBody>
          <a:bodyPr wrap="square" anchor="ctr" lIns="0" rIns="0" tIns="0" bIns="0">
            <a:spAutoFit/>
          </a:bodyPr>
          <a:lstStyle/>
          <a:p>
            <a:pPr algn="l"/>
            <a:r>
              <a:rPr sz="1300" b="0" i="0">
                <a:solidFill>
                  <a:srgbClr val="5F7472"/>
                </a:solidFill>
                <a:latin typeface="Aptos"/>
                <a:hlinkClick r:id="rId3"/>
              </a:rPr>
              <a:t>Dùng thử: </a:t>
            </a:r>
          </a:p>
          <a:p>
            <a:pPr algn="l"/>
            <a:r>
              <a:rPr sz="1200" b="1" i="0">
                <a:solidFill>
                  <a:srgbClr val="0F766E"/>
                </a:solidFill>
                <a:latin typeface="Aptos"/>
                <a:hlinkClick r:id="rId3"/>
              </a:rPr>
              <a:t>thptyenhoa.github.io/Theo-doi-hanh-kiem-11D3-nam-hoc-2026-2027/?demo=1</a:t>
            </a:r>
          </a:p>
        </p:txBody>
      </p:sp>
      <p:pic>
        <p:nvPicPr>
          <p:cNvPr id="9" name="Picture 8" descr="c_chu-nhiem_cam-on.png"/>
          <p:cNvPicPr>
            <a:picLocks noChangeAspect="1"/>
          </p:cNvPicPr>
          <p:nvPr/>
        </p:nvPicPr>
        <p:blipFill>
          <a:blip r:embed="rId4"/>
          <a:stretch>
            <a:fillRect/>
          </a:stretch>
        </p:blipFill>
        <p:spPr>
          <a:xfrm>
            <a:off x="7680960" y="822960"/>
            <a:ext cx="5303520" cy="53035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